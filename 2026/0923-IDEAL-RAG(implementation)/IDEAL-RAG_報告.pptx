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05580691e4a45" /><Relationship Type="http://schemas.openxmlformats.org/officeDocument/2006/relationships/extended-properties" Target="/docProps/app.xml" Id="R654ac1ec2b214759" /><Relationship Type="http://schemas.openxmlformats.org/officeDocument/2006/relationships/officeDocument" Target="/ppt/presentation.xml" Id="R50a0ed5fa3b24d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23c58538d4e43"/>
  </p:sldMasterIdLst>
  <p:notesMasterIdLst>
    <p:notesMasterId xmlns:r="http://schemas.openxmlformats.org/officeDocument/2006/relationships" r:id="Ra751525fe2264f4f"/>
  </p:notesMasterIdLst>
  <p:sldIdLst>
    <p:sldId xmlns:r="http://schemas.openxmlformats.org/officeDocument/2006/relationships" id="256" r:id="R0c38e5c1d2364d66"/>
    <p:sldId xmlns:r="http://schemas.openxmlformats.org/officeDocument/2006/relationships" id="257" r:id="Rf8dbeb9ebc8e44c9"/>
    <p:sldId xmlns:r="http://schemas.openxmlformats.org/officeDocument/2006/relationships" id="258" r:id="Rc2a932b4b69a4230"/>
    <p:sldId xmlns:r="http://schemas.openxmlformats.org/officeDocument/2006/relationships" id="259" r:id="R0c5393a57d274927"/>
    <p:sldId xmlns:r="http://schemas.openxmlformats.org/officeDocument/2006/relationships" id="260" r:id="R5b1874414170406e"/>
    <p:sldId xmlns:r="http://schemas.openxmlformats.org/officeDocument/2006/relationships" id="261" r:id="R452aed57b48a4ad0"/>
    <p:sldId xmlns:r="http://schemas.openxmlformats.org/officeDocument/2006/relationships" id="262" r:id="R5f9b80175fde4bee"/>
    <p:sldId xmlns:r="http://schemas.openxmlformats.org/officeDocument/2006/relationships" id="263" r:id="R7cfa5d7010b14b8e"/>
    <p:sldId xmlns:r="http://schemas.openxmlformats.org/officeDocument/2006/relationships" id="264" r:id="R89ad50b77a504eca"/>
    <p:sldId xmlns:r="http://schemas.openxmlformats.org/officeDocument/2006/relationships" id="265" r:id="R276a9afbfe5d4aed"/>
    <p:sldId xmlns:r="http://schemas.openxmlformats.org/officeDocument/2006/relationships" id="266" r:id="R1591ae3cd2dd48f4"/>
    <p:sldId xmlns:r="http://schemas.openxmlformats.org/officeDocument/2006/relationships" id="267" r:id="R08fdcd8350c84c3a"/>
    <p:sldId xmlns:r="http://schemas.openxmlformats.org/officeDocument/2006/relationships" id="268" r:id="Ra6aa15f0972d41d0"/>
    <p:sldId xmlns:r="http://schemas.openxmlformats.org/officeDocument/2006/relationships" id="269" r:id="R1a526b2c2c02434d"/>
    <p:sldId xmlns:r="http://schemas.openxmlformats.org/officeDocument/2006/relationships" id="270" r:id="R3a44717828f5467c"/>
    <p:sldId xmlns:r="http://schemas.openxmlformats.org/officeDocument/2006/relationships" id="271" r:id="Rcaff8b3530594cc6"/>
    <p:sldId xmlns:r="http://schemas.openxmlformats.org/officeDocument/2006/relationships" id="272" r:id="Rcdb550b4fe614d45"/>
    <p:sldId xmlns:r="http://schemas.openxmlformats.org/officeDocument/2006/relationships" id="273" r:id="Rc7b7c5ecade148ff"/>
    <p:sldId xmlns:r="http://schemas.openxmlformats.org/officeDocument/2006/relationships" id="274" r:id="R442f5cb01b9647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43eb288b8478c" /><Relationship Type="http://schemas.openxmlformats.org/officeDocument/2006/relationships/slideMaster" Target="/ppt/slideMasters/slideMaster1.xml" Id="Rc8223c58538d4e43" /><Relationship Type="http://schemas.openxmlformats.org/officeDocument/2006/relationships/notesMaster" Target="/ppt/notesMasters/notesMaster1.xml" Id="Ra751525fe2264f4f" /><Relationship Type="http://schemas.openxmlformats.org/officeDocument/2006/relationships/presProps" Target="/ppt/presProps.xml" Id="R10d5291ed34b4687" /><Relationship Type="http://schemas.openxmlformats.org/officeDocument/2006/relationships/tableStyles" Target="/ppt/tableStyles.xml" Id="R05844adfc7524777" /><Relationship Type="http://schemas.openxmlformats.org/officeDocument/2006/relationships/slide" Target="/ppt/slides/slide1.xml" Id="R0c38e5c1d2364d66" /><Relationship Type="http://schemas.openxmlformats.org/officeDocument/2006/relationships/slide" Target="/ppt/slides/slide2.xml" Id="Rf8dbeb9ebc8e44c9" /><Relationship Type="http://schemas.openxmlformats.org/officeDocument/2006/relationships/slide" Target="/ppt/slides/slide3.xml" Id="Rc2a932b4b69a4230" /><Relationship Type="http://schemas.openxmlformats.org/officeDocument/2006/relationships/slide" Target="/ppt/slides/slide4.xml" Id="R0c5393a57d274927" /><Relationship Type="http://schemas.openxmlformats.org/officeDocument/2006/relationships/slide" Target="/ppt/slides/slide5.xml" Id="R5b1874414170406e" /><Relationship Type="http://schemas.openxmlformats.org/officeDocument/2006/relationships/slide" Target="/ppt/slides/slide6.xml" Id="R452aed57b48a4ad0" /><Relationship Type="http://schemas.openxmlformats.org/officeDocument/2006/relationships/slide" Target="/ppt/slides/slide7.xml" Id="R5f9b80175fde4bee" /><Relationship Type="http://schemas.openxmlformats.org/officeDocument/2006/relationships/slide" Target="/ppt/slides/slide8.xml" Id="R7cfa5d7010b14b8e" /><Relationship Type="http://schemas.openxmlformats.org/officeDocument/2006/relationships/slide" Target="/ppt/slides/slide9.xml" Id="R89ad50b77a504eca" /><Relationship Type="http://schemas.openxmlformats.org/officeDocument/2006/relationships/slide" Target="/ppt/slides/slide10.xml" Id="R276a9afbfe5d4aed" /><Relationship Type="http://schemas.openxmlformats.org/officeDocument/2006/relationships/slide" Target="/ppt/slides/slide11.xml" Id="R1591ae3cd2dd48f4" /><Relationship Type="http://schemas.openxmlformats.org/officeDocument/2006/relationships/slide" Target="/ppt/slides/slide12.xml" Id="R08fdcd8350c84c3a" /><Relationship Type="http://schemas.openxmlformats.org/officeDocument/2006/relationships/slide" Target="/ppt/slides/slide13.xml" Id="Ra6aa15f0972d41d0" /><Relationship Type="http://schemas.openxmlformats.org/officeDocument/2006/relationships/slide" Target="/ppt/slides/slide14.xml" Id="R1a526b2c2c02434d" /><Relationship Type="http://schemas.openxmlformats.org/officeDocument/2006/relationships/slide" Target="/ppt/slides/slide15.xml" Id="R3a44717828f5467c" /><Relationship Type="http://schemas.openxmlformats.org/officeDocument/2006/relationships/slide" Target="/ppt/slides/slide16.xml" Id="Rcaff8b3530594cc6" /><Relationship Type="http://schemas.openxmlformats.org/officeDocument/2006/relationships/slide" Target="/ppt/slides/slide17.xml" Id="Rcdb550b4fe614d45" /><Relationship Type="http://schemas.openxmlformats.org/officeDocument/2006/relationships/slide" Target="/ppt/slides/slide18.xml" Id="Rc7b7c5ecade148ff" /><Relationship Type="http://schemas.openxmlformats.org/officeDocument/2006/relationships/slide" Target="/ppt/slides/slide19.xml" Id="R442f5cb01b9647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26e8f67c8d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acec3320f4057" /><Relationship Type="http://schemas.openxmlformats.org/officeDocument/2006/relationships/notesMaster" Target="/ppt/notesMasters/notesMaster1.xml" Id="R728cc2670cab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6f652c443946ce" /><Relationship Type="http://schemas.openxmlformats.org/officeDocument/2006/relationships/notesMaster" Target="/ppt/notesMasters/notesMaster1.xml" Id="R6c649de56d36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87e1b777149f0" /><Relationship Type="http://schemas.openxmlformats.org/officeDocument/2006/relationships/notesMaster" Target="/ppt/notesMasters/notesMaster1.xml" Id="Rd7611ff6bdb7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4399db41c4e0e" /><Relationship Type="http://schemas.openxmlformats.org/officeDocument/2006/relationships/notesMaster" Target="/ppt/notesMasters/notesMaster1.xml" Id="Rbd542554e41743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c8afeb1cfa420f" /><Relationship Type="http://schemas.openxmlformats.org/officeDocument/2006/relationships/notesMaster" Target="/ppt/notesMasters/notesMaster1.xml" Id="Rf07ca162976a4b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5348ab9974633" /><Relationship Type="http://schemas.openxmlformats.org/officeDocument/2006/relationships/notesMaster" Target="/ppt/notesMasters/notesMaster1.xml" Id="Rc497903fa9de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7bcc7ecf714693" /><Relationship Type="http://schemas.openxmlformats.org/officeDocument/2006/relationships/notesMaster" Target="/ppt/notesMasters/notesMaster1.xml" Id="R4100884ceac54a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9ba8166fd444de" /><Relationship Type="http://schemas.openxmlformats.org/officeDocument/2006/relationships/notesMaster" Target="/ppt/notesMasters/notesMaster1.xml" Id="R31b0c6cc058844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dccd9b838c41ed" /><Relationship Type="http://schemas.openxmlformats.org/officeDocument/2006/relationships/notesMaster" Target="/ppt/notesMasters/notesMaster1.xml" Id="Rd66a8a5ef61649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55f628059f49f0" /><Relationship Type="http://schemas.openxmlformats.org/officeDocument/2006/relationships/notesMaster" Target="/ppt/notesMasters/notesMaster1.xml" Id="Rbb2b3da1e00a4e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7803e2d33c4952" /><Relationship Type="http://schemas.openxmlformats.org/officeDocument/2006/relationships/notesMaster" Target="/ppt/notesMasters/notesMaster1.xml" Id="Rbe2b0b0703a74b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d6b6fece7040b1" /><Relationship Type="http://schemas.openxmlformats.org/officeDocument/2006/relationships/notesMaster" Target="/ppt/notesMasters/notesMaster1.xml" Id="R6b307b26696d4d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7dacd336d94183" /><Relationship Type="http://schemas.openxmlformats.org/officeDocument/2006/relationships/notesMaster" Target="/ppt/notesMasters/notesMaster1.xml" Id="R20450e89489e4b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4708808b9d45d3" /><Relationship Type="http://schemas.openxmlformats.org/officeDocument/2006/relationships/notesMaster" Target="/ppt/notesMasters/notesMaster1.xml" Id="R5e94fb2577344c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121bcf8ef147d3" /><Relationship Type="http://schemas.openxmlformats.org/officeDocument/2006/relationships/notesMaster" Target="/ppt/notesMasters/notesMaster1.xml" Id="R76c5e5a986344a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a1cd69e4ae4eb5" /><Relationship Type="http://schemas.openxmlformats.org/officeDocument/2006/relationships/notesMaster" Target="/ppt/notesMasters/notesMaster1.xml" Id="Rbedbef2a29f048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aa3d7799c44b51" /><Relationship Type="http://schemas.openxmlformats.org/officeDocument/2006/relationships/notesMaster" Target="/ppt/notesMasters/notesMaster1.xml" Id="R710966929ccd45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1ef3bf7b274407" /><Relationship Type="http://schemas.openxmlformats.org/officeDocument/2006/relationships/notesMaster" Target="/ppt/notesMasters/notesMaster1.xml" Id="R2e724712578d49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05244cadd04fef" /><Relationship Type="http://schemas.openxmlformats.org/officeDocument/2006/relationships/notesMaster" Target="/ppt/notesMasters/notesMaster1.xml" Id="R6e7c641b8571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開場約30秒。今天聚焦一個問題：當檢索文件寫錯時，生成端如何利用內部知識與外部資訊回答？我會先用 Hamlet 的實際輸出說明方法，再看論文證據與本機實驗。這是論文閱讀加上簡化 ICL 實作，並非完整 benchmark 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先讓聽眾看見問題。RAG 的檢索器負責找相關段落，並不保證段落真實。這裡的 Dickens 是我們刻意建立的污染內容。語言模型可能本來能回答 Shakespeare，卻在讀到文件後改答錯誤內容。本文固定檢索結果，研究生成端如何處理這種知識衝突。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§3.1、§4.1.2；本機 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 RAG 把問題與檢索文件交給模型。InstructRAG 先用已知答案題生成 rationale，透過 ICL 示範或 SFT 教模型處理雜訊。IDEAL 則增加不受當前文件影響的獨立回想，分開形成內外觀點，再連結整合。三者的模型都有參數知識，因此不能說只有 IDEAL 有記憶。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§3；InstructRAG 官方程式 https://github.com/weizhepei/InstructRAG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這頁是本機真正保存的 Hamlet／all 個案。兩方法收到完全相同的文件與順序。InstructRAG 的答案是 Charles Dickens，IDEAL-RAG 的答案是 William Shakespeare。這是單題行為差異，下一頁才拆開看 IDEAL 的各步輸出。中文是解說，人物名稱與文件引文保留實際紀錄。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來源：results_instruct_vs_ideal/results.json，id=hamlet，condition=all。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逐行說明，每行停一下。第一步只給問題，模型回想出 Shakespeare。第二步依背景建立內部觀點。第三步只按文件形成 Dickens 的外部觀點。第四步最後回答 Shakespeare。重點是讓兩邊各自支持什麼答案變得可檢查。但最後 evidence 只重述答案，沒有充分解釋排除文件的理由，因此只能說這題答對，不能宣稱它已完成可靠的真偽驗證。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來源：results_instruct_vs_ideal/results.json，hamlet/all 的 ideal.trace；原文 Prompts 3.1、3.4、3.5、3.7。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老師可能問示範從哪裡來。IDEAL 在 seed 題看得到標準答案，以同一模型生成內部、外部與連結的示範。回想步驟即使在 seed 階段仍只看問題。測試題則只拿其他題目的示範，不提供本題標準答案。這是 ICL，權重不更新。生成示範可能出錯，所以有答案引導不等於示範全部正確。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Algorithm 1，PDF第20頁，§3.2–3.3。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這頁是論文表4.2的數字，不是本機實驗。只比較無訓練設定、NQ Counter-All同一欄：InstructRAG25.10，IDEAL51.97，差26.87個百分點。不要把它誤稱為摘要中的22.8，後者對應有訓練列。也不要拿整體 Original 直接當 ADR 分母，污染集是篩選子集。原文 EM 定義採最後答案字串包含参考答案，與本機 strict EM不同。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表4.2，PDF第34頁／正文第25頁；§4.1.3。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採原文表5.1的NQ全污染列。完整51.97，保留回想但移除雙觀點48.71，同時移除兩者30.74。這支持回想與雙觀點流程有作用，但不能把完整減最後一列的21.23全部歸因於回想，因為同时更改了兩個模組，運算量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來源：IDEAL-RAG 表5.1，PDF第44頁／正文第35頁。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從這頁開始是我們的本機實測。模型為量化Qwen2.5-1.5B，CPU llama.cpp。用BM25取兩段文件。同四題做未污染、部分污染、全污染。兩方法各自重新產生兩題seed示範，測試不看答案。共12個測試情境，但只有4道獨立問題。這是用來理解行為的小型適配ICL，不是原論文模型、資料集和訓練的完整復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來源：data.json；results_instruct_vs_ideal/results.json meta；compare_icl.py。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柱子顯示本次strict EM。未污染兩者4/4，部分污染兩者3/4，全污染2/4對3/4。差別全部來自Hamlet。一題就是25個百分點，因此不能宣稱統計顯著或普遍優勢。這些圖是62次新模型呼叫所保存的實驗結果彙整，並非論文數據，也不是預設IDEAL勝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來源：results_instruct_vs_ideal/results.json，12 rows；以各方法 metrics.strict_em計算。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成本時排除seed建庫。Instruct測試12次，IDEAL40次。IDEAL每題回想一次共4次，其他12情境各3次共36次。輸入加輸出token5067對19188，約3.79倍。這些是運算工作量，並非付費API費用；快取與硬體會影響時間，因此不直接宣稱速度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 costs；seed建庫另為2次與8次。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虛構Lyra密碼題，不是實際機密。正確設定是B7，兩份文件都被改成C8。IDEAL回想沒有得出正確值，內部觀點UNKNOWN，外部觀點C8，最後C8，Instruct也答C8。模型無法可靠地恢復可用材料中缺失的真值。這界定了方法的能力邊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來源：results_instruct_vs_ideal/results.json，lyra/all；虛構教學資料。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nce全污染時Instruct答Paris但evidence寫Lyon；IDEAL外部觀點也有答案Paris、證據Lyon的不一致。Japan全污染Instruct把文件改述成Tokyo，雖然原文件寫Osaka。這些都是最後正確率抓不到的問題。原文表5.2也顯示外部獨有資訊可能受損，例如有訓練MultiHopQA external-only是68.36對44.41。不要把可見rationale當成可靠機制證明。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來源：本機 results.json france/all、japan/all；IDEAL-RAG表5.2，PDF第45頁。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不要說IDEAL解決了幻覺。它讓可回想的內部資訊先外顯，再明確比較來源，論文與小型案例支持部分污染條件有改善。代價是更多生成，限制是記憶可能錯誤、外部獨有資訊可能受損、rationale可能不忠實。下一步先擴大並預先固定資料集，再比較相同token或呼叫預算的baseline，另加人工證據忠實度審核。主報告到這頁結束，後面是備用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表4.2、5.1、5.2；本機results.json。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義符號：E為回想，G為觀點生成，L為連結；K、S、R是輸出。Θ0為固定backbone，B為示範。這裡帽子表示未知答案情境的生成輸出。全部測試輸入不含a。G內外兩次可以共用模型，不代表兩個訓練模型。R已包含最後答案。公式依Algorithm1與Prompt3.7重整；B列作條件，省略ICE等號以利閱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Algorithm1，PDF第20頁；式3.6–3.9，Prompt3.7。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每筆seed是q,a,D。星號是建庫情境的輸出，不代表數學最优或保證正確。第一式沒有a或D，後續才使用已知標準答案。生成的內部、外部、連結結果以及對應輸入組成三個示範庫。seed與測試題分離。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Algorithm1；式3.3–3.5、§3.3.1。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這頁修正我先前的概念。SFT是FT的一種，不能說FT學內容SFT學回答。ICL不更新權重，可在上下文使用新資訊；SFT用目標輸出更新參數，不保證永久記住。IDEAL的SFT路徑以linked rationale作訓練目標，更新後的連結生成不再放linking ICL示範。目前本機只有ICL。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來源：IDEAL-RAG §3.3.3；https://huggingface.co/docs/transformers/main/training；https://huggingface.co/docs/trl/v0.18.1/en/sft_trainer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是入口，RUN_LIVE=True呼叫compare_icl.run重新跑兩種方法。lab.py負責檢索、污染、各模型呼叫與評分，run回傳result，Notebook從result.rows分組算正確率並用bar和show顯示直條圖。只改圖形時重跑繪圖格即可。標準答案可用於建立污染資料與事後評分，但不送進測試題提示。程式成功解析JSON不代表證據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來源：本機實測_InstructRAG_vs_IDEAL-RAG.ipynb；compare_icl.py；lab.py。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追問時先回到對應證據。Algorithm1解釋資訊流，表4.2回答效能，表5.1回答模組作用，表5.2回答知識來源覆蓋與失敗條件。本機完整呼叫可在calls.json查每一步輸入和輸出。論文EM是答案包含判定，本機主圖採strict EM。ADR需同題群乾淨與污染分數作比較；CSS和PKS需要內部log probability或hidden state分析，本機沒有計算。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https://hdl.handle.net/11296/5nqq3g；https://github.com/weizhepei/InstructRAG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4363f899f41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1a57573dd447a" /><Relationship Type="http://schemas.openxmlformats.org/officeDocument/2006/relationships/slideLayout" Target="/ppt/slideLayouts/slideLayout1.xml" Id="R567130ef42fd45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130ef42fd45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50570a9894ce5" /><Relationship Type="http://schemas.openxmlformats.org/officeDocument/2006/relationships/notesSlide" Target="/ppt/notesSlides/notesSlide1.xml" Id="R0d4f5a9e7525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579a508d84192" /><Relationship Type="http://schemas.openxmlformats.org/officeDocument/2006/relationships/notesSlide" Target="/ppt/notesSlides/notesSlide2.xml" Id="R5d4b6387580a47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6ba40e4be4677" /><Relationship Type="http://schemas.openxmlformats.org/officeDocument/2006/relationships/notesSlide" Target="/ppt/notesSlides/notesSlide3.xml" Id="R03fc626814ad41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d31872fe4485f" /><Relationship Type="http://schemas.openxmlformats.org/officeDocument/2006/relationships/notesSlide" Target="/ppt/notesSlides/notesSlide4.xml" Id="Rfcedfc79c1c449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8dce07d8844be" /><Relationship Type="http://schemas.openxmlformats.org/officeDocument/2006/relationships/notesSlide" Target="/ppt/notesSlides/notesSlide5.xml" Id="Reb95cdfd2cc547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5720829444270" /><Relationship Type="http://schemas.openxmlformats.org/officeDocument/2006/relationships/notesSlide" Target="/ppt/notesSlides/notesSlide6.xml" Id="R2f4289e098f944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2714d57044dbb" /><Relationship Type="http://schemas.openxmlformats.org/officeDocument/2006/relationships/chart" Target="/ppt/slides/charts/chart1.xml" Id="R65a075bc8de1408a" /><Relationship Type="http://schemas.openxmlformats.org/officeDocument/2006/relationships/notesSlide" Target="/ppt/notesSlides/notesSlide7.xml" Id="Rda6b160284d840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ce41443b040c5" /><Relationship Type="http://schemas.openxmlformats.org/officeDocument/2006/relationships/chart" Target="/ppt/slides/charts/chart2.xml" Id="Rcc6400e91d694c49" /><Relationship Type="http://schemas.openxmlformats.org/officeDocument/2006/relationships/notesSlide" Target="/ppt/notesSlides/notesSlide8.xml" Id="Re142d39ba992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6f50422143cb" /><Relationship Type="http://schemas.openxmlformats.org/officeDocument/2006/relationships/notesSlide" Target="/ppt/notesSlides/notesSlide9.xml" Id="R34f2eaa73e4848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a8c25f9e040c5" /><Relationship Type="http://schemas.openxmlformats.org/officeDocument/2006/relationships/chart" Target="/ppt/slides/charts/chart3.xml" Id="R5caff2f233db4a0f" /><Relationship Type="http://schemas.openxmlformats.org/officeDocument/2006/relationships/notesSlide" Target="/ppt/notesSlides/notesSlide10.xml" Id="R1c1df86b493447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949f39d1741c9" /><Relationship Type="http://schemas.openxmlformats.org/officeDocument/2006/relationships/chart" Target="/ppt/slides/charts/chart4.xml" Id="R540ec5bf4a2142b3" /><Relationship Type="http://schemas.openxmlformats.org/officeDocument/2006/relationships/chart" Target="/ppt/slides/charts/chart5.xml" Id="R99552a4aa40d4863" /><Relationship Type="http://schemas.openxmlformats.org/officeDocument/2006/relationships/notesSlide" Target="/ppt/notesSlides/notesSlide11.xml" Id="Rdb5fd0c0a86746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c02149fa54264" /><Relationship Type="http://schemas.openxmlformats.org/officeDocument/2006/relationships/notesSlide" Target="/ppt/notesSlides/notesSlide12.xml" Id="R094ff9164c5849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3e78a43b14276" /><Relationship Type="http://schemas.openxmlformats.org/officeDocument/2006/relationships/notesSlide" Target="/ppt/notesSlides/notesSlide13.xml" Id="R21510d1363bb4e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dcd36d60a4a03" /><Relationship Type="http://schemas.openxmlformats.org/officeDocument/2006/relationships/notesSlide" Target="/ppt/notesSlides/notesSlide14.xml" Id="R91af67902a3b44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53dcb8a434f70" /><Relationship Type="http://schemas.openxmlformats.org/officeDocument/2006/relationships/notesSlide" Target="/ppt/notesSlides/notesSlide15.xml" Id="R10d93ff36bed4a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83660ea4a4add" /><Relationship Type="http://schemas.openxmlformats.org/officeDocument/2006/relationships/notesSlide" Target="/ppt/notesSlides/notesSlide16.xml" Id="Rd0eff0fe91a246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793b29684695" /><Relationship Type="http://schemas.openxmlformats.org/officeDocument/2006/relationships/notesSlide" Target="/ppt/notesSlides/notesSlide17.xml" Id="R72d07993d25d4a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2ccc42f6d49a8" /><Relationship Type="http://schemas.openxmlformats.org/officeDocument/2006/relationships/notesSlide" Target="/ppt/notesSlides/notesSlide18.xml" Id="R23d3f81a6ce84b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04e661b204887" /><Relationship Type="http://schemas.openxmlformats.org/officeDocument/2006/relationships/notesSlide" Target="/ppt/notesSlides/notesSlide19.xml" Id="R5233aafab4f141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InstructRAG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Data'!$A$2:$A$2</c:f>
              <c:strCache>
                <c:ptCount val="1"/>
                <c:pt idx="0">
                  <c:v>Natural Questions / Counter-All</c:v>
                </c:pt>
              </c:strCache>
            </c:strRef>
          </c:cat>
          <c:val>
            <c:numRef>
              <c:f>'Chart Data'!$B$2:$B$2</c:f>
              <c:numCache>
                <c:formatCode>0.00</c:formatCode>
                <c:ptCount val="1"/>
                <c:pt idx="0">
                  <c:v>25.1</c:v>
                </c:pt>
              </c:numCache>
            </c:numRef>
          </c:val>
        </c:ser>
        <c:ser>
          <c:idx val="1"/>
          <c:order val="1"/>
          <c:tx>
            <c:v>IDEAL-RAG</c:v>
          </c:tx>
          <c:spPr>
            <a:solidFill xmlns:a="http://schemas.openxmlformats.org/drawingml/2006/main">
              <a:srgbClr val="D87B20"/>
            </a:solidFill>
          </c:spPr>
          <c:cat>
            <c:strRef>
              <c:f>'Chart Data'!$C$2:$C$2</c:f>
              <c:strCache>
                <c:ptCount val="1"/>
                <c:pt idx="0">
                  <c:v>Natural Questions / Counter-All</c:v>
                </c:pt>
              </c:strCache>
            </c:strRef>
          </c:cat>
          <c:val>
            <c:numRef>
              <c:f>'Chart Data'!$D$2:$D$2</c:f>
              <c:numCache>
                <c:formatCode>0.00</c:formatCode>
                <c:ptCount val="1"/>
                <c:pt idx="0">
                  <c:v>51.97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A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icrosoft JhengHei"/>
                    <a:ea typeface="Microsoft JhengHei"/>
                    <a:cs typeface="Microsoft JhengHei"/>
                  </a:rPr>
                  <a:t>論文 EM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NQ / Counter-All</c:v>
          </c:tx>
          <c:spPr>
            <a:solidFill xmlns:a="http://schemas.openxmlformats.org/drawingml/2006/main">
              <a:srgbClr val="D87B20"/>
            </a:solidFill>
          </c:spPr>
          <c:cat>
            <c:strRef>
              <c:f>'Chart Data'!$A$2:$A$4</c:f>
              <c:strCache>
                <c:ptCount val="3"/>
                <c:pt idx="0">
                  <c:v>無回想與雙觀點</c:v>
                </c:pt>
                <c:pt idx="1">
                  <c:v>保留回想，無雙觀點</c:v>
                </c:pt>
                <c:pt idx="2">
                  <c:v>完整 IDEAL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30.74</c:v>
                </c:pt>
                <c:pt idx="1">
                  <c:v>48.71</c:v>
                </c:pt>
                <c:pt idx="2">
                  <c:v>51.97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A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icrosoft JhengHei"/>
                    <a:ea typeface="Microsoft JhengHei"/>
                    <a:cs typeface="Microsoft JhengHei"/>
                  </a:rPr>
                  <a:t>論文 EM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InstructRAG-ICL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Data'!$A$2:$A$4</c:f>
              <c:strCache>
                <c:ptCount val="3"/>
                <c:pt idx="0">
                  <c:v>未污染</c:v>
                </c:pt>
                <c:pt idx="1">
                  <c:v>部分污染</c:v>
                </c:pt>
                <c:pt idx="2">
                  <c:v>全部污染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v>IDEAL-RAG-ICL</c:v>
          </c:tx>
          <c:spPr>
            <a:solidFill xmlns:a="http://schemas.openxmlformats.org/drawingml/2006/main">
              <a:srgbClr val="D87B20"/>
            </a:solidFill>
          </c:spPr>
          <c:cat>
            <c:strRef>
              <c:f>'Chart Data'!$C$2:$C$4</c:f>
              <c:strCache>
                <c:ptCount val="3"/>
                <c:pt idx="0">
                  <c:v>未污染</c:v>
                </c:pt>
                <c:pt idx="1">
                  <c:v>部分污染</c:v>
                </c:pt>
                <c:pt idx="2">
                  <c:v>全部污染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100</c:v>
                </c:pt>
                <c:pt idx="1">
                  <c:v>75</c:v>
                </c:pt>
                <c:pt idx="2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A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icrosoft JhengHei"/>
                    <a:ea typeface="Microsoft JhengHei"/>
                    <a:cs typeface="Microsoft JhengHei"/>
                  </a:rPr>
                  <a:t>本機 strict EM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InstructRAG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Data'!$A$2:$A$2</c:f>
              <c:strCache>
                <c:ptCount val="1"/>
                <c:pt idx="0">
                  <c:v>測試推論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12</c:v>
                </c:pt>
              </c:numCache>
            </c:numRef>
          </c:val>
        </c:ser>
        <c:ser>
          <c:idx val="1"/>
          <c:order val="1"/>
          <c:tx>
            <c:v>IDEAL-RAG</c:v>
          </c:tx>
          <c:spPr>
            <a:solidFill xmlns:a="http://schemas.openxmlformats.org/drawingml/2006/main">
              <a:srgbClr val="D87B20"/>
            </a:solidFill>
          </c:spPr>
          <c:cat>
            <c:strRef>
              <c:f>'Chart Data'!$C$2:$C$2</c:f>
              <c:strCache>
                <c:ptCount val="1"/>
                <c:pt idx="0">
                  <c:v>測試推論</c:v>
                </c:pt>
              </c:strCache>
            </c:strRef>
          </c:cat>
          <c:val>
            <c:numRef>
              <c:f>'Chart Data'!$D$2:$D$2</c:f>
              <c:numCache>
                <c:formatCode>0</c:formatCode>
                <c:ptCount val="1"/>
                <c:pt idx="0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A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icrosoft JhengHei"/>
                    <a:ea typeface="Microsoft JhengHei"/>
                    <a:cs typeface="Microsoft JhengHei"/>
                  </a:rPr>
                  <a:t>模型呼叫次數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InstructRAG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Data'!$A$2:$A$2</c:f>
              <c:strCache>
                <c:ptCount val="1"/>
                <c:pt idx="0">
                  <c:v>測試推論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5067</c:v>
                </c:pt>
              </c:numCache>
            </c:numRef>
          </c:val>
        </c:ser>
        <c:ser>
          <c:idx val="1"/>
          <c:order val="1"/>
          <c:tx>
            <c:v>IDEAL-RAG</c:v>
          </c:tx>
          <c:spPr>
            <a:solidFill xmlns:a="http://schemas.openxmlformats.org/drawingml/2006/main">
              <a:srgbClr val="D87B20"/>
            </a:solidFill>
          </c:spPr>
          <c:cat>
            <c:strRef>
              <c:f>'Chart Data'!$C$2:$C$2</c:f>
              <c:strCache>
                <c:ptCount val="1"/>
                <c:pt idx="0">
                  <c:v>測試推論</c:v>
                </c:pt>
              </c:strCache>
            </c:strRef>
          </c:cat>
          <c:val>
            <c:numRef>
              <c:f>'Chart Data'!$D$2:$D$2</c:f>
              <c:numCache>
                <c:formatCode>0</c:formatCode>
                <c:ptCount val="1"/>
                <c:pt idx="0">
                  <c:v>19188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A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icrosoft JhengHei"/>
                    <a:ea typeface="Microsoft JhengHei"/>
                    <a:cs typeface="Microsoft JhengHei"/>
                  </a:rPr>
                  <a:t>輸入＋輸出 token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BB0EC-15A2-46DF-BE5D-4B61B54E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B7407-0C50-471D-A85A-CF762CB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B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CBD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F621B-A1B6-49EE-895D-B4CC84B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錯誤檢索資訊下的內外知識協調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98E8-E494-4487-ABCF-389DCB4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7D8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C7D8E2"/>
                </a:solidFill>
                <a:latin typeface="Microsoft JhengHei"/>
                <a:ea typeface="Microsoft JhengHei"/>
                <a:cs typeface="Microsoft JhengHei"/>
              </a:rPr>
              <a:t>以 Hamlet 實測案例理解方法與限制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764DF-078B-40F8-8996-14E0C2E2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7D8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7D8E2"/>
                </a:solidFill>
                <a:latin typeface="Microsoft JhengHei"/>
                <a:ea typeface="Microsoft JhengHei"/>
                <a:cs typeface="Microsoft JhengHei"/>
              </a:rPr>
              <a:t>論文閱讀與本機 ICL 實作</a:t>
            </a:r>
          </a:p>
        </p:txBody>
      </p:sp>
    </p:spTree>
    <p:extLst>
      <p:ext uri="{BB962C8B-B14F-4D97-AF65-F5344CB8AC3E}">
        <p14:creationId xmlns:p14="http://schemas.microsoft.com/office/powerpoint/2010/main" val="975871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33F68-0AC1-4B47-A040-122893B7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研究問題：相關文件也可能寫錯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B5A02-AA11-4FCC-8703-44AC686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3A267-318B-44D3-8CDE-FC0BBA29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誰寫了 Hamlet？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4182A-7E0D-4046-80FA-13F66A7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檢索文件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C989-FFA7-4624-B05F-2D5D0CE8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“Charles Dickens wrote the play Hamlet.”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40743-CB2D-45D0-B943-B1D0054F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與題目高度相關，但作者資訊錯誤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6C972-0220-4217-AF21-9E94C78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本例的正確答案是 William Shakespeare；Dickens 為實驗中的人工替換值。</a:t>
            </a:r>
          </a:p>
        </p:txBody>
      </p:sp>
    </p:spTree>
    <p:extLst>
      <p:ext uri="{BB962C8B-B14F-4D97-AF65-F5344CB8AC3E}">
        <p14:creationId xmlns:p14="http://schemas.microsoft.com/office/powerpoint/2010/main" val="62530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810DB-346B-4242-A9F8-6F59062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三種方法的核心差異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5189D-0C6E-49F7-806B-06D9F997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238625"/>
                <a:gridCol w="4591050"/>
              </a:tblGrid>
              <a:tr h="8215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主要操作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如何利用內部知識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Basic RAG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問題＋檢索文件生成答案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可以使用，但未明確拆出回想</a:t>
                      </a:r>
                    </a:p>
                  </a:txBody>
                  <a:tcPr marL="142875" marR="142875" marT="114300" marB="114300"/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InstructRAG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以自生成 rationale 示範或訓練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文件不足時也能使用自身知識</a:t>
                      </a:r>
                    </a:p>
                  </a:txBody>
                  <a:tcPr marL="142875" marR="142875" marT="114300" marB="114300"/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IDEAL-RAG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先回想、分開觀點、再連結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先將相關記憶外顯成背景文字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CF8CE-65D6-4641-B71A-DA6ACFD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本機比較採用兩種方法的簡化 ICL 路徑，沒有更新模型權重。</a:t>
            </a:r>
          </a:p>
        </p:txBody>
      </p:sp>
    </p:spTree>
    <p:extLst>
      <p:ext uri="{BB962C8B-B14F-4D97-AF65-F5344CB8AC3E}">
        <p14:creationId xmlns:p14="http://schemas.microsoft.com/office/powerpoint/2010/main" val="101821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2281E-3C59-4D16-AB35-A46047D8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Hamlet：兩種方法收到相同的錯誤文件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95EFE-58B5-4488-8969-32361A15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2F85F-837E-479C-BC4E-4070C2F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文件一：the author of the play Hamlet is Charles Dickens.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3BD04-7022-4010-BC95-44A1154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文件二：Charles Dickens wrote the play Hamlet.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6F559-CEE3-4230-9ECD-DA84C25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InstructRAG-ICL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9C521-5940-4A58-A9DA-23CF5C4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IDEAL-RAG-ICL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12A6A-5329-40D1-B951-4EF8A8F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Charles Dickens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79FEC-C411-46B6-993E-FB83139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William Shakespeare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EAE28-14BB-428B-B2BB-E6CD1E87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本機實測個案；Qwen2.5-1.5B，兩種方法均為 adapted ICL。</a:t>
            </a:r>
          </a:p>
        </p:txBody>
      </p:sp>
    </p:spTree>
    <p:extLst>
      <p:ext uri="{BB962C8B-B14F-4D97-AF65-F5344CB8AC3E}">
        <p14:creationId xmlns:p14="http://schemas.microsoft.com/office/powerpoint/2010/main" val="841662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B6F11-BB98-484B-A621-D3ACAF4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Hamlet：IDEAL 的四次生成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56974-0360-4AC7-9AEF-F5C4D56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9FC51-B62A-4867-B669-B4A2B933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1  獨立回想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92EE8-815E-4690-966B-5AB0ADF7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只看問題，產生背景：William Shakespeare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FD14B-B7AB-4A53-A594-A862409A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2  內部觀點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CCC74-EA75-43D2-A707-5B6D88B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依回想背景回答：William Shakespeare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6AD19-2608-40D6-84C4-E95BCCCD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3  外部觀點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3A406-2968-4F71-9C6B-97E1FB2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7187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依污染文件回答：Charles Dickens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D2387-8163-4DCA-B594-1C68D803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4  連結整合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2208F-0A2C-4F52-B2D1-215970A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比較兩個來源後，回答：William Shakespeare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F39A8-7ABD-4096-BACF-DC80D4C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這次最後答案正確，但整合說明仍不足以證明模型可靠辨識了錯誤文件。</a:t>
            </a:r>
          </a:p>
        </p:txBody>
      </p:sp>
    </p:spTree>
    <p:extLst>
      <p:ext uri="{BB962C8B-B14F-4D97-AF65-F5344CB8AC3E}">
        <p14:creationId xmlns:p14="http://schemas.microsoft.com/office/powerpoint/2010/main" val="2084955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3967A-6CE6-4AE2-9A26-32DFF8A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示範建立與測試推論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71367-9409-4B57-B3DC-C214249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1822D-B77E-45F6-9A22-C815BCD7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建立示範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D42A7-2CA2-488A-BF62-968285A8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測試新題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D0764-E177-4103-BDBE-4D8595D3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09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Seed 題的標準答案可見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建立內部、外部、連結示範庫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5A38E-91F6-4D75-873C-CE686F8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509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新題的標準答案不可見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參考其他題目的示範作答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AA1C4-DA4E-4416-82CE-F50CBF7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ICL：模型參數固定，示範放在提示中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9955F-80A9-416C-B03C-E8BED388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生成的示範仍可能含錯誤；回想背景並非經驗證的事實資料庫。</a:t>
            </a:r>
          </a:p>
        </p:txBody>
      </p:sp>
    </p:spTree>
    <p:extLst>
      <p:ext uri="{BB962C8B-B14F-4D97-AF65-F5344CB8AC3E}">
        <p14:creationId xmlns:p14="http://schemas.microsoft.com/office/powerpoint/2010/main" val="234540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5C6BD-A6F0-4AC2-A236-61B1F996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論文結果：NQ 全污染條件有改善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B77C2-D644-4968-977E-30D6FD7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81087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a075bc8de1408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D8348-F0D0-492C-9D44-813CF84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論文數據，無訓練設定；差距 +26.87 個百分點。其他資料集與條件未必全面改善。</a:t>
            </a:r>
          </a:p>
        </p:txBody>
      </p:sp>
    </p:spTree>
    <p:extLst>
      <p:ext uri="{BB962C8B-B14F-4D97-AF65-F5344CB8AC3E}">
        <p14:creationId xmlns:p14="http://schemas.microsoft.com/office/powerpoint/2010/main" val="1218708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03ED9-0C3A-433E-825C-B26873F8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消融：回想與雙觀點是否必要？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167BC-AA6F-458D-81B1-ACBB8BB7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81087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6400e91d694c4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0F9A3-99FE-424C-8782-299FD2A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論文 NQ／Counter-All，表5.1。完整對第一列同時改動兩個模組，不能歸因於單一模組。</a:t>
            </a:r>
          </a:p>
        </p:txBody>
      </p:sp>
    </p:spTree>
    <p:extLst>
      <p:ext uri="{BB962C8B-B14F-4D97-AF65-F5344CB8AC3E}">
        <p14:creationId xmlns:p14="http://schemas.microsoft.com/office/powerpoint/2010/main" val="715545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46424-E25C-43D5-9B22-998E59C1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本機實驗設計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9B922-DA77-4CFE-BC5F-0CDCD85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448675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模型與檢索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Qwen2.5-1.5B Q4_K_M，BM25 top-2</a:t>
                      </a:r>
                    </a:p>
                  </a:txBody>
                  <a:tcPr marL="142875" marR="142875" marT="114300" marB="11430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題測試，2 題 seed，3 種文件條件</a:t>
                      </a:r>
                    </a:p>
                  </a:txBody>
                  <a:tcPr marL="142875" marR="142875" marT="114300" marB="11430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比較控制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相同模型、問題、檢索文件與順序</a:t>
                      </a:r>
                    </a:p>
                  </a:txBody>
                  <a:tcPr marL="142875" marR="142875" marT="114300" marB="11430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生成與訓練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temperature=0，seed=42，無微調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95C58-97CB-4767-8575-9608485C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4 題 × 3 條件 = 12 個情境；兩方法計算量不同。</a:t>
            </a:r>
          </a:p>
        </p:txBody>
      </p:sp>
    </p:spTree>
    <p:extLst>
      <p:ext uri="{BB962C8B-B14F-4D97-AF65-F5344CB8AC3E}">
        <p14:creationId xmlns:p14="http://schemas.microsoft.com/office/powerpoint/2010/main" val="548621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841AA-E594-4B45-BD81-5EC0522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本機結果：全污染只差 Hamlet 一題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551A5-3EA6-4562-8520-4856FD3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81087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aff2f233db4a0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3AA48-E286-4CB0-B494-7F213520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每組只有4題，每題占25個百分點。兩方法均為 adapted ICL，不能外推普遍優勢。</a:t>
            </a:r>
          </a:p>
        </p:txBody>
      </p:sp>
    </p:spTree>
    <p:extLst>
      <p:ext uri="{BB962C8B-B14F-4D97-AF65-F5344CB8AC3E}">
        <p14:creationId xmlns:p14="http://schemas.microsoft.com/office/powerpoint/2010/main" val="850835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F5ED5-77DF-4F04-A90A-EBFAE28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改善伴隨更多推論計算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14274-33F5-4ADF-8B3F-4037CEE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5191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0ec5bf4a2142b3"/>
          </a:graphicData>
        </a:graphic>
      </p:graphicFrame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381750" y="1647825"/>
          <a:ext xmlns:a="http://schemas.openxmlformats.org/drawingml/2006/main" cx="5191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552a4aa40d486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EB3AB-E13B-46F2-BE58-B1B4595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不含 seed 建庫。IDEAL 的回想結果跨同題三種條件重用；目前不是等算力比較。</a:t>
            </a:r>
          </a:p>
        </p:txBody>
      </p:sp>
    </p:spTree>
    <p:extLst>
      <p:ext uri="{BB962C8B-B14F-4D97-AF65-F5344CB8AC3E}">
        <p14:creationId xmlns:p14="http://schemas.microsoft.com/office/powerpoint/2010/main" val="600308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BB982-74EA-4C6D-9D21-69BDFAE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失敗案例：模型不知道，文件也全錯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92C11-F9FF-4F24-B2D9-B3C811A4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BB352-2A1D-4CAF-87CC-541DD054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Lyra vault 的密碼是什麼？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FBDEB-D840-4A4E-AFB5-A0503CB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原始設定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FB5BA-4C06-48E8-AF7F-994D292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4317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B7；污染後兩份文件都寫 C8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0D7EE-9633-4E76-941D-B26771D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IDEAL 觀點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771A-8153-484F-A740-A5B6C033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內部 UNKNOWN，外部 C8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66205-EAF6-435A-AAB1-B322BB1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兩者最後答案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6262B-259A-4459-B89E-9D254DC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6247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C8，均錯誤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B1208-6AD9-4D13-A022-5647FA13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虛構教學案例。獨立回想不能可靠補回模型不知道、文件也未提供的真值。</a:t>
            </a:r>
          </a:p>
        </p:txBody>
      </p:sp>
    </p:spTree>
    <p:extLst>
      <p:ext uri="{BB962C8B-B14F-4D97-AF65-F5344CB8AC3E}">
        <p14:creationId xmlns:p14="http://schemas.microsoft.com/office/powerpoint/2010/main" val="20917513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0BB-DBE4-4208-BA62-B1E880E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答案正確與證據忠實是兩個檢查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DBA41-5697-41A3-BB3F-CBDA584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69BE7-72D5-496C-9463-848B0FD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France／全污染：最後答 Paris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0620B-E715-474B-9986-7A9221BB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但 evidence 仍寫 Lyon，或錯誤宣稱文件支持答案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9EE3C-79DF-4E6B-9C90-EAEE590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正確率檢查答案；來源忠實度檢查證據是否支持答案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86426-B2B2-48FA-B9EE-B691A32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外部觀點的來源限制依靠提示，模型仍可能違反。</a:t>
            </a:r>
          </a:p>
        </p:txBody>
      </p:sp>
    </p:spTree>
    <p:extLst>
      <p:ext uri="{BB962C8B-B14F-4D97-AF65-F5344CB8AC3E}">
        <p14:creationId xmlns:p14="http://schemas.microsoft.com/office/powerpoint/2010/main" val="4917205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93734-1E55-4B54-9B16-66ADF48C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結論與後續驗證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B8AD-81DD-4D72-97E3-2965DDD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3C198-CEE9-4A42-9001-41CB33EB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本文價值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F0976-7CF6-4A14-86E4-5F8069D1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764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先保留可回想資訊，再明確比較內外來源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8B425-A1A5-448B-B5B8-BA381B6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目前證據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76FD4-F271-4D38-AAC4-58FD72B4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2417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污染情境可能改善，效果有條件且需要更多計算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FAED4-1C61-4E7B-A59D-423AF312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54A37-B543-4708-9982-7DD44D5D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7195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擴大固定測試集，加入等算力與證據忠實度比較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EAEF5-83F8-4A88-9A9E-399B5460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本機四題實驗展示行為差異，尚不足以支持普遍效能結論。</a:t>
            </a:r>
          </a:p>
        </p:txBody>
      </p:sp>
    </p:spTree>
    <p:extLst>
      <p:ext uri="{BB962C8B-B14F-4D97-AF65-F5344CB8AC3E}">
        <p14:creationId xmlns:p14="http://schemas.microsoft.com/office/powerpoint/2010/main" val="736019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C6673-7E3F-4577-B04C-16E956F7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備用：IDEAL-RAG 的 ICL 演算法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B7E40-FCDA-4F0A-A16C-85368222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D302F-3CAF-4C40-8B6C-0ED0CA5B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0861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ABCF3-8B22-4C2B-947E-F0126196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1828800"/>
            <a:ext cx="34051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CAC79-650D-4C97-AD1F-039776A0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79" y="1657350"/>
            <a:ext cx="70504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C385-DC53-4D4D-89EC-6F9A86D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19" y="1828800"/>
            <a:ext cx="34051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EC70A-D5A8-4FDE-B028-FDCA56A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38" y="1657350"/>
            <a:ext cx="784574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(q; 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1C82E-C13D-44FA-A5EF-F815344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212" y="1828800"/>
            <a:ext cx="21593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92CF1-7CC4-4531-9A50-F30A577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1657350"/>
            <a:ext cx="239173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942D-6822-4E03-9B1E-63964A7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6546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344D5-6C06-4C12-80A7-907930F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12" y="2705100"/>
            <a:ext cx="34051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861B-6199-4DD2-B5B0-CA1389D8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1" y="2533650"/>
            <a:ext cx="136969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G(q,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F330C-1DAA-48ED-9E2A-9665C5A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026" y="2705100"/>
            <a:ext cx="34051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D08DC-AA40-4010-B8CE-3D7FF8EF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344" y="2533650"/>
            <a:ext cx="473107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; 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BEC43-24DF-494D-ACFD-75732298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251" y="2705100"/>
            <a:ext cx="21593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1E89D-77F9-4FC1-AF29-50F2B75E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983" y="2533650"/>
            <a:ext cx="44053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6BCF6-609A-4B51-AAF0-EE0E664B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314" y="2705100"/>
            <a:ext cx="34051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65666-044E-4EF2-A881-C7E2DBA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633" y="2533650"/>
            <a:ext cx="239173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ED134-BFE5-41EE-8441-EFFC1993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6546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97FFE-8BB3-4082-B140-63CD6F0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12" y="3581400"/>
            <a:ext cx="36537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F2683-1F51-44B7-824F-877E5521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91" y="3409950"/>
            <a:ext cx="174840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G(q, D; 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51B72-A048-480F-98F3-A12B6394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00" y="3581400"/>
            <a:ext cx="21593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71A27-93E7-4A8F-BE93-4E743B23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331" y="3409950"/>
            <a:ext cx="44053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5D19D-6BC8-4706-8EAC-6400F9D6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663" y="3581400"/>
            <a:ext cx="365379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81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B724AA-AC21-45B5-A0D8-CD6454B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842" y="3409950"/>
            <a:ext cx="239173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DC83C-8BE4-4F95-A149-4CB14049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8813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R̂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2F351-E66F-4A97-B2C2-2C012200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1" y="4457700"/>
            <a:ext cx="40347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551C6-2D81-480C-8B05-ECBD28BC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160" y="4286250"/>
            <a:ext cx="154990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L(q, D, 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DC9FF3-2B70-48C6-92D2-7792A4A3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868" y="4457700"/>
            <a:ext cx="31975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B0E46-6D25-4D58-BB7A-1BCC95F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423" y="4286250"/>
            <a:ext cx="3768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DE1384-8F2A-41BE-8BAF-94CAB8A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32" y="4457700"/>
            <a:ext cx="31975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733B8-9EF0-48B7-8532-84A4A94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586" y="4286250"/>
            <a:ext cx="3768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CE869-A304-497A-940D-D0C38B22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195" y="4457700"/>
            <a:ext cx="34232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11C581-7B53-4D28-954D-AEEBDA9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323" y="4286250"/>
            <a:ext cx="44053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; 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FFF03A-75C5-4FC8-8BFA-508AD82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55" y="4457700"/>
            <a:ext cx="2061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C26B0E-1FC7-419C-AEDC-91F82329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576" y="4286250"/>
            <a:ext cx="41090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826A0-FA98-434B-90D4-5DD8A5E6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84" y="4457700"/>
            <a:ext cx="40347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42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link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9DFF3-8476-4A06-A460-F8A7C1F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563" y="4286250"/>
            <a:ext cx="22736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5A0287-CC14-471D-A2F6-BB2D733B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B 為提示中的示範庫；三個模組、四次生成。測試題標準答案 a 不進入提示。</a:t>
            </a:r>
          </a:p>
        </p:txBody>
      </p:sp>
    </p:spTree>
    <p:extLst>
      <p:ext uri="{BB962C8B-B14F-4D97-AF65-F5344CB8AC3E}">
        <p14:creationId xmlns:p14="http://schemas.microsoft.com/office/powerpoint/2010/main" val="9540370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2F0F6E-4FFA-407D-BCB9-E6F1DF24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備用：Answer-seen 建立示範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234AB-09B0-4BB6-9557-E62BE139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01EAB-5BFF-4ED8-BE1C-9C3E3AE6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629823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(q, a, D) ∈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156E1-4B7F-48E4-B5B1-E03BC254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573" y="1695450"/>
            <a:ext cx="475202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3A6D9-0794-4622-9A92-0CE6486D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9660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E19D7-EE39-4F11-B4A2-002CCAF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58" y="2457450"/>
            <a:ext cx="32670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DC03B-9A02-4ECD-A7AF-DBC4DCF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66" y="2200275"/>
            <a:ext cx="202883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73157-B921-4DE3-AF25-31552A49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48" y="2286000"/>
            <a:ext cx="669703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CA057-2A4F-46BE-80AE-FA57ECF0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051" y="2457450"/>
            <a:ext cx="32670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9B7EF-3DB3-49CE-9707-3A934A46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59" y="2286000"/>
            <a:ext cx="744569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(q; 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8AC0A-172F-4F5F-8E4D-AFDF485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457450"/>
            <a:ext cx="20945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F74C2-0818-4950-9B43-80D16367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183" y="2286000"/>
            <a:ext cx="23126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BEB55-DE33-4E9F-8B8A-0D1067C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56032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3E0FF-4845-4E4F-A60E-1BA040B4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2" y="3219450"/>
            <a:ext cx="32670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40519-AEE3-44BF-AF12-BDB4A9C1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89" y="2962275"/>
            <a:ext cx="202883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272AD-3E46-4046-BBDE-A05AFBC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" y="3048000"/>
            <a:ext cx="1573721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G(q, a, 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84651-35D1-4FAA-866A-61A0100F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493" y="3219450"/>
            <a:ext cx="32670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94E0B-1C4B-4B4E-BA09-E75CBC8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62275"/>
            <a:ext cx="202883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B5F37-F1BC-45AA-859D-8179EF1E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683" y="3048000"/>
            <a:ext cx="45139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; 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0D19E-163E-46E7-BB07-25F80AD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872" y="3219450"/>
            <a:ext cx="20945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57F93-81E7-49C7-9825-19AFF19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127" y="3048000"/>
            <a:ext cx="23126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91ACB-DF33-4B6B-9F74-E9181FC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56032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F4664-8E0E-4EAB-9782-709467A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2" y="3981450"/>
            <a:ext cx="350044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9DD70-FE6E-4649-8419-84BB47A2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26" y="3724275"/>
            <a:ext cx="202883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DF876-041E-4EDB-86AA-989E57C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08" y="3810000"/>
            <a:ext cx="1930146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G(q, a, D; 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2262E-18AF-4BD9-A926-1E438269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254" y="3981450"/>
            <a:ext cx="20945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88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B32FA-7B48-45A6-91FF-3AA04369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509" y="3810000"/>
            <a:ext cx="23126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71D0A-FC60-4CF4-BC72-C8ACE0AA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8222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FCC82-2E1E-46E0-80E5-0BDDB571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76" y="4743450"/>
            <a:ext cx="39385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link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50430-1087-455E-BAAE-FAE2568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634" y="4486275"/>
            <a:ext cx="19669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AC4B3-F563-4EA3-B058-C3AA4B0F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26" y="4572000"/>
            <a:ext cx="17643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 ← L(q, a, D, 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03DC06-393F-4FA6-9034-DDC8D0C4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241" y="4743450"/>
            <a:ext cx="31280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EE85E-4D6A-4B00-8A1A-1F006AD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42" y="4486275"/>
            <a:ext cx="19669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8AB519-494D-46ED-96B7-B3294EEB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334" y="4572000"/>
            <a:ext cx="36804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36CF40-37DF-47CB-ABB4-592C9043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180" y="4743450"/>
            <a:ext cx="31280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04260E-705D-49C6-B2D1-EB48446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81" y="4486275"/>
            <a:ext cx="19669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B43C79-9DDA-446F-83B8-D5055A7D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272" y="4572000"/>
            <a:ext cx="36804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, 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E9E1D5-1878-421F-A87B-829F21A4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118" y="4743450"/>
            <a:ext cx="33470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C44885-31E9-4301-874A-489B64E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26" y="4486275"/>
            <a:ext cx="19669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E57937-5DC9-469F-B694-88861783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118" y="4572000"/>
            <a:ext cx="42976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; 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A5F373-5505-4E7A-9811-C70CD59B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686" y="4743450"/>
            <a:ext cx="202883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9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852F84-7C6C-4852-AC21-2973036E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368" y="4572000"/>
            <a:ext cx="223361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F0B80C-0B29-44A6-89C6-9752424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各結果與對應輸入構成 B_int、B_ext、B_link；已知答案引導不保證示範無誤。</a:t>
            </a:r>
          </a:p>
        </p:txBody>
      </p:sp>
    </p:spTree>
    <p:extLst>
      <p:ext uri="{BB962C8B-B14F-4D97-AF65-F5344CB8AC3E}">
        <p14:creationId xmlns:p14="http://schemas.microsoft.com/office/powerpoint/2010/main" val="11644414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75A9B-73A5-4CDE-BF8C-52BC6123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備用：ICL、SFT 與 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A9E7F-DAF1-48A0-8B56-2A53724D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8668C-29CE-45F6-948B-2F2DD5AB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907191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SFT ⊂ FT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238625"/>
                <a:gridCol w="45910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面向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SFT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適應方式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把示範放進上下文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以目標輸出監督訓練</a:t>
                      </a:r>
                    </a:p>
                  </a:txBody>
                  <a:tcPr marL="142875" marR="142875" marT="114300" marB="11430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固定，不做梯度更新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更新全部或部分可訓練參數</a:t>
                      </a:r>
                    </a:p>
                  </a:txBody>
                  <a:tcPr marL="142875" marR="142875" marT="114300" marB="11430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限制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示範占用上下文與token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需訓練，可能遺忘或泛化失敗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8F927-D114-48AD-885B-F7FBF5A5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FT 泛指微調；本機 Notebook 採 ICL，未實作 SFT。</a:t>
            </a:r>
          </a:p>
        </p:txBody>
      </p:sp>
    </p:spTree>
    <p:extLst>
      <p:ext uri="{BB962C8B-B14F-4D97-AF65-F5344CB8AC3E}">
        <p14:creationId xmlns:p14="http://schemas.microsoft.com/office/powerpoint/2010/main" val="8133047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E7793-71A9-435C-A857-14FECE92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備用：Notebook 與程式對照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37A9-A729-4CD7-B818-2626A010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09F0-4B91-4885-BA2B-03315876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7920D-88DA-4EAB-A6AB-800D6CCC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002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data.json：seed、文件庫、測試題與答案別名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AF512-491B-4488-9645-2E92FD61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模型流程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53764-3283-44FC-9A25-DC4E62A8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extract / standpoint / link：生成各階段輸出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AD1F5-BBC8-4241-A1C3-7EDDB302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實驗控制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331D-31ED-4B3E-B8BA-C9E985B2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957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compare_icl.run()：檢索、污染、推論、評分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C4E3A-394A-4CCC-9647-02A68E9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Jupyter 圖表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79191-C37A-48DC-9DBA-7BBB43AA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4345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result["rows"] 分組統計，ax.bar() 與 plt.show()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D5F47-F9EC-4D7C-AD14-985ADCF0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RUN_LIVE=True 執行新實驗；False 讀取保存的實測資料。</a:t>
            </a:r>
          </a:p>
        </p:txBody>
      </p:sp>
    </p:spTree>
    <p:extLst>
      <p:ext uri="{BB962C8B-B14F-4D97-AF65-F5344CB8AC3E}">
        <p14:creationId xmlns:p14="http://schemas.microsoft.com/office/powerpoint/2010/main" val="198952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A0997-1B21-41D4-A6A1-CBEFC9F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備用：資料來源與閱讀順序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7CC42-188F-4115-9704-B294B27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92EB7-B99D-4760-B7B5-25F788E5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IDEAL-RAG 原文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A7279-1FD1-4A11-8163-CB6A2ABF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10810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Algorithm 1／§3：方法與提示</a:t>
            </a:r>
          </a:p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 4.2：主結果　表 5.1：消融　表 5.2：來源覆蓋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5B1AE-4736-4D6F-89B9-8F7AE7BB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InstructRAG 官方程式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3E9C2-6C13-4151-B0BF-EA7828E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github.com/weizhepei/InstructRAG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26964-2CE1-4910-9406-34F6B16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本機紀錄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8F9E7-A478-42C1-9862-A2BDC2C8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results_instruct_vs_ideal/results.json 與 calls.json</a:t>
            </a:r>
          </a:p>
        </p:txBody>
      </p:sp>
    </p:spTree>
    <p:extLst>
      <p:ext uri="{BB962C8B-B14F-4D97-AF65-F5344CB8AC3E}">
        <p14:creationId xmlns:p14="http://schemas.microsoft.com/office/powerpoint/2010/main" val="650373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2026-09-21T00:39:11.4920000Z</dcterms:created>
  <dcterms:modified xsi:type="dcterms:W3CDTF">2026-09-21T00:39:11.4920000Z</dcterms:modified>
</coreProperties>
</file>