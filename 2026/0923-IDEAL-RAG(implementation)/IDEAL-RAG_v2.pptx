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892173235f4871" /><Relationship Type="http://schemas.openxmlformats.org/officeDocument/2006/relationships/extended-properties" Target="/docProps/app.xml" Id="R41d349b60b6b4d5e" /><Relationship Type="http://schemas.openxmlformats.org/officeDocument/2006/relationships/officeDocument" Target="/ppt/presentation.xml" Id="R94603f1912a343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6327acff004aae"/>
  </p:sldMasterIdLst>
  <p:notesMasterIdLst>
    <p:notesMasterId xmlns:r="http://schemas.openxmlformats.org/officeDocument/2006/relationships" r:id="R822da1e9a3554417"/>
  </p:notesMasterIdLst>
  <p:sldIdLst>
    <p:sldId xmlns:r="http://schemas.openxmlformats.org/officeDocument/2006/relationships" id="256" r:id="Rc5d02e7a87ae4a89"/>
    <p:sldId xmlns:r="http://schemas.openxmlformats.org/officeDocument/2006/relationships" id="257" r:id="Rd2638871774a4d18"/>
    <p:sldId xmlns:r="http://schemas.openxmlformats.org/officeDocument/2006/relationships" id="258" r:id="R2ade3ee6181a4084"/>
    <p:sldId xmlns:r="http://schemas.openxmlformats.org/officeDocument/2006/relationships" id="259" r:id="R8ea8a097eac54c1f"/>
    <p:sldId xmlns:r="http://schemas.openxmlformats.org/officeDocument/2006/relationships" id="260" r:id="Ra05da492106749c7"/>
    <p:sldId xmlns:r="http://schemas.openxmlformats.org/officeDocument/2006/relationships" id="261" r:id="R99e9752fd6954a4e"/>
    <p:sldId xmlns:r="http://schemas.openxmlformats.org/officeDocument/2006/relationships" id="262" r:id="R326aa9c1278b41f8"/>
    <p:sldId xmlns:r="http://schemas.openxmlformats.org/officeDocument/2006/relationships" id="263" r:id="R9dc023a31d904b43"/>
    <p:sldId xmlns:r="http://schemas.openxmlformats.org/officeDocument/2006/relationships" id="264" r:id="R652509e50a044c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062ea5f0fc4f8b" /><Relationship Type="http://schemas.openxmlformats.org/officeDocument/2006/relationships/slideMaster" Target="/ppt/slideMasters/slideMaster1.xml" Id="Rfc6327acff004aae" /><Relationship Type="http://schemas.openxmlformats.org/officeDocument/2006/relationships/notesMaster" Target="/ppt/notesMasters/notesMaster1.xml" Id="R822da1e9a3554417" /><Relationship Type="http://schemas.openxmlformats.org/officeDocument/2006/relationships/presProps" Target="/ppt/presProps.xml" Id="R54b931a0f88c4c95" /><Relationship Type="http://schemas.openxmlformats.org/officeDocument/2006/relationships/tableStyles" Target="/ppt/tableStyles.xml" Id="Re5546e2150974e63" /><Relationship Type="http://schemas.openxmlformats.org/officeDocument/2006/relationships/slide" Target="/ppt/slides/slide1.xml" Id="Rc5d02e7a87ae4a89" /><Relationship Type="http://schemas.openxmlformats.org/officeDocument/2006/relationships/slide" Target="/ppt/slides/slide2.xml" Id="Rd2638871774a4d18" /><Relationship Type="http://schemas.openxmlformats.org/officeDocument/2006/relationships/slide" Target="/ppt/slides/slide3.xml" Id="R2ade3ee6181a4084" /><Relationship Type="http://schemas.openxmlformats.org/officeDocument/2006/relationships/slide" Target="/ppt/slides/slide4.xml" Id="R8ea8a097eac54c1f" /><Relationship Type="http://schemas.openxmlformats.org/officeDocument/2006/relationships/slide" Target="/ppt/slides/slide5.xml" Id="Ra05da492106749c7" /><Relationship Type="http://schemas.openxmlformats.org/officeDocument/2006/relationships/slide" Target="/ppt/slides/slide6.xml" Id="R99e9752fd6954a4e" /><Relationship Type="http://schemas.openxmlformats.org/officeDocument/2006/relationships/slide" Target="/ppt/slides/slide7.xml" Id="R326aa9c1278b41f8" /><Relationship Type="http://schemas.openxmlformats.org/officeDocument/2006/relationships/slide" Target="/ppt/slides/slide8.xml" Id="R9dc023a31d904b43" /><Relationship Type="http://schemas.openxmlformats.org/officeDocument/2006/relationships/slide" Target="/ppt/slides/slide9.xml" Id="R652509e50a044c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1dc8c1cf7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533b1d46ee4fd1" /><Relationship Type="http://schemas.openxmlformats.org/officeDocument/2006/relationships/notesMaster" Target="/ppt/notesMasters/notesMaster1.xml" Id="R9363e2377f204c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18a4aadffe4d0e" /><Relationship Type="http://schemas.openxmlformats.org/officeDocument/2006/relationships/notesMaster" Target="/ppt/notesMasters/notesMaster1.xml" Id="R87997b3b1490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e943f44964654" /><Relationship Type="http://schemas.openxmlformats.org/officeDocument/2006/relationships/notesMaster" Target="/ppt/notesMasters/notesMaster1.xml" Id="Re1f394ddd47943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4eb56ff0da4818" /><Relationship Type="http://schemas.openxmlformats.org/officeDocument/2006/relationships/notesMaster" Target="/ppt/notesMasters/notesMaster1.xml" Id="R54eb14ed8270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d5e8678e94d2d" /><Relationship Type="http://schemas.openxmlformats.org/officeDocument/2006/relationships/notesMaster" Target="/ppt/notesMasters/notesMaster1.xml" Id="R0caaf275bc53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b7e847af3547e6" /><Relationship Type="http://schemas.openxmlformats.org/officeDocument/2006/relationships/notesMaster" Target="/ppt/notesMasters/notesMaster1.xml" Id="Rd68732eb897947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a43472cdd743dd" /><Relationship Type="http://schemas.openxmlformats.org/officeDocument/2006/relationships/notesMaster" Target="/ppt/notesMasters/notesMaster1.xml" Id="R5da6bd8db74e46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4d2e8d88ae4683" /><Relationship Type="http://schemas.openxmlformats.org/officeDocument/2006/relationships/notesMaster" Target="/ppt/notesMasters/notesMaster1.xml" Id="Rbee25aa95ed84c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f68c2edb234e6c" /><Relationship Type="http://schemas.openxmlformats.org/officeDocument/2006/relationships/notesMaster" Target="/ppt/notesMasters/notesMaster1.xml" Id="R5ac932506f394a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首頁議程依需求列出兩個大重點。IDEAL-RAG部分以我的理解、程式與實例說明。比賽目前沒有提供名稱、規則或進度，僅列在首頁議程，實際內容由報告者另行補充，不把猜測當作比賽資料。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來源：使用者最新版README與本次報告安排。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我對方法的理解：兩者都能利用模型知識與文件。InstructRAG用自生成rationale作示範引導去雜訊回答。IDEAL則將內部知識先獨立回想，再生成內外觀點並整合。圖中為簡化ICL測試資料流，省略每個模組的問題輸入及示範庫。差異不大是對共同基礎的評論，不代表效能差異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Algorithm1、§3.2–3.3；InstructRAG官方實作。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是Hamlet作者，文件均被改成Dickens。Instruct本次答Dickens。IDEAL在未看文件時回想Shakespeare，內部觀點維持Shakespeare，外部觀點依文件答Dickens，最後答Shakespeare。這是本機真實trace的摘要。連結說明並未充分交代排除文件的理由，不能說模型已可靠查證真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來源：results_instruct_vs_ideal/results.json，hamlet/all。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簡化Python解釋。recall只接收q；argue_internal接收回想背景；argue_external接收文件；link同時取得兩邊觀點與來源。B_i、B_e、B_l是三個示範庫，函式代表不同提示呼叫，可以共用同一模型。這是呈現用示意碼，實際實作對應lab.py的extract/standpoint/li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Algorithm1；本機lab.py::ideal。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已知答案的seed建庫，得到內部、外部、連結三種示範。新題只參考其他題目的示範，不提供本題答案。建庫時的回想也只看q，後續觀點與連結才可以使用seed答案。這是ICL，權重不更新。示範生成仍可能有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Algorithm1；README中的answer-seen公式。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同四題與同文件的本機小型結果，未污染100對100，部分75對75，全污染50對75。唯一差距是Hamlet。不能因為差25百分點就說穩定提升，因為只有四題。Instruct測試12呼叫，IDEAL40，回想跨同題条件重用。這些是adapted ICL，沒有訓練，並非原論文benchmark。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來源：results_instruct_vs_ideal/results.json，四題三條件。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應用構想，尚未實測。詢問恢復路由器原廠設定是否保留WiFi設定。TP-Link官方FAQ說會清除自訂設定，假設檢索內容誤寫保留。若模型先正確回想就能形成衝突，但實際效果要測試。來源、型號及版本核驗需另外加入，不是原方法自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官方依據：https://www.tp-link.com/us/support/faq/426/；應用構想及污染句為教學假設。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評論是兩種方法共同基礎相近，主要改動在資訊組織。更精確地說，IDEAL先獨立回想，再形成內部與外部觀點，最後整合。不要說只有IDEAL有記憶，不要把差異不大延伸成效能差異小。其價值仍由實驗與成本決定。接下來可以切换到比賽部分，內容依報告者另備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依使用者觀點整理，核對原文Algorithm1。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修正README補充段落。SFT是FT的一種，不是FT學內容而SFT學回答。ICL不更新權重，但能在上下文利用新資訊；SFT更新參數但不保證永久記住。此頁不需主動展開，老師問到訓練再說明。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來源：使用者提供之 IDEAL-RAG 論文，2025。 §3.3.3；https://huggingface.co/docs/transformers/main/training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680e23083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544ced839e4eea" /><Relationship Type="http://schemas.openxmlformats.org/officeDocument/2006/relationships/slideLayout" Target="/ppt/slideLayouts/slideLayout1.xml" Id="Refd25e0547054a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25e0547054a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ba222b84f40f8" /><Relationship Type="http://schemas.openxmlformats.org/officeDocument/2006/relationships/notesSlide" Target="/ppt/notesSlides/notesSlide1.xml" Id="R8d88e73e22d245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fb233888f431b" /><Relationship Type="http://schemas.openxmlformats.org/officeDocument/2006/relationships/notesSlide" Target="/ppt/notesSlides/notesSlide2.xml" Id="R8db56a3bb60741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1cadd53594284" /><Relationship Type="http://schemas.openxmlformats.org/officeDocument/2006/relationships/notesSlide" Target="/ppt/notesSlides/notesSlide3.xml" Id="R74e4d098890344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2683c6ede41d2" /><Relationship Type="http://schemas.openxmlformats.org/officeDocument/2006/relationships/notesSlide" Target="/ppt/notesSlides/notesSlide4.xml" Id="Ra63649e1f440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89ace75854462" /><Relationship Type="http://schemas.openxmlformats.org/officeDocument/2006/relationships/notesSlide" Target="/ppt/notesSlides/notesSlide5.xml" Id="R1ddbea3baafa4f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d5857ece74318" /><Relationship Type="http://schemas.openxmlformats.org/officeDocument/2006/relationships/chart" Target="/ppt/slides/charts/chart1.xml" Id="R43f305e85a9c4190" /><Relationship Type="http://schemas.openxmlformats.org/officeDocument/2006/relationships/notesSlide" Target="/ppt/notesSlides/notesSlide6.xml" Id="R199e94fa8cea48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727efccfe4ae1" /><Relationship Type="http://schemas.openxmlformats.org/officeDocument/2006/relationships/notesSlide" Target="/ppt/notesSlides/notesSlide7.xml" Id="R1c4647dd6b074d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2b0160f30456e" /><Relationship Type="http://schemas.openxmlformats.org/officeDocument/2006/relationships/notesSlide" Target="/ppt/notesSlides/notesSlide8.xml" Id="R4b68453b9298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e37b2aa734db4" /><Relationship Type="http://schemas.openxmlformats.org/officeDocument/2006/relationships/notesSlide" Target="/ppt/notesSlides/notesSlide9.xml" Id="Rc103dc46a5d7490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InstructRAG-ICL</c:v>
          </c:tx>
          <c:spPr>
            <a:solidFill xmlns:a="http://schemas.openxmlformats.org/drawingml/2006/main">
              <a:srgbClr val="2563A6"/>
            </a:solidFill>
          </c:spPr>
          <c:cat>
            <c:strRef>
              <c:f>'Chart Data'!$A$2:$A$4</c:f>
              <c:strCache>
                <c:ptCount val="3"/>
                <c:pt idx="0">
                  <c:v>未污染</c:v>
                </c:pt>
                <c:pt idx="1">
                  <c:v>部分污染</c:v>
                </c:pt>
                <c:pt idx="2">
                  <c:v>全部污染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v>IDEAL-RAG-ICL</c:v>
          </c:tx>
          <c:spPr>
            <a:solidFill xmlns:a="http://schemas.openxmlformats.org/drawingml/2006/main">
              <a:srgbClr val="D87B20"/>
            </a:solidFill>
          </c:spPr>
          <c:cat>
            <c:strRef>
              <c:f>'Chart Data'!$C$2:$C$4</c:f>
              <c:strCache>
                <c:ptCount val="3"/>
                <c:pt idx="0">
                  <c:v>未污染</c:v>
                </c:pt>
                <c:pt idx="1">
                  <c:v>部分污染</c:v>
                </c:pt>
                <c:pt idx="2">
                  <c:v>全部污染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100</c:v>
                </c:pt>
                <c:pt idx="1">
                  <c:v>75</c:v>
                </c:pt>
                <c:pt idx="2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BBA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Microsoft JhengHei"/>
                    <a:ea typeface="Microsoft JhengHei"/>
                    <a:cs typeface="Microsoft JhengHei"/>
                  </a:rPr>
                  <a:t>本機正確率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480C7-D012-4D20-A404-FB9AC8CE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本週報告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413DA-AEC4-4B26-AB35-59FB5DE4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52430-297F-4D72-8464-1492A8F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1. IDEAL-RAG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03F17-7DD4-4C94-890E-7E559614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2. 比賽內容</a:t>
            </a:r>
          </a:p>
        </p:txBody>
      </p:sp>
    </p:spTree>
    <p:extLst>
      <p:ext uri="{BB962C8B-B14F-4D97-AF65-F5344CB8AC3E}">
        <p14:creationId xmlns:p14="http://schemas.microsoft.com/office/powerpoint/2010/main" val="653193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EA22F-5751-4445-922B-5B50AABC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我的理解：共同基礎相近，資訊流程不同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C630E-F167-453B-B1F5-8B23155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0B6F7-C7E0-43FA-BA59-2EC50C70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InstructRAG-ICL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478B3-E6A3-4987-BAAC-8993F8A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336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問題＋文件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A0C50-6F2B-4494-85AA-11CE29BE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95525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DA11D-EA59-4837-9E59-79A448D0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28825"/>
            <a:ext cx="3352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示範引導回答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34F76-0B22-4D3F-A0B5-E6C1C44D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295525"/>
            <a:ext cx="666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CACBD-2FD6-4FE9-90E0-7C0623CE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314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08FB4-8BEB-4109-97F0-58771A6F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IDEAL-RAG-ICL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387D6-304B-4EBE-93D3-0ECDFB2D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571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問題 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FFAB1-70C7-480F-8732-E5DC10A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8622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AFE4D-1B77-4C57-B247-99B363E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7625"/>
            <a:ext cx="19335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獨立回想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19672-3DCB-4CF8-810E-4DDE69C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86225"/>
            <a:ext cx="3333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5D97C-E273-4AC7-8227-DF27139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57625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內部觀點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3B7FD-95E7-4870-AEDB-B90E2E0D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571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文件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075C3-F6CD-4850-8688-11B325B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143500"/>
            <a:ext cx="2809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44C5D-BE3A-45FD-AF76-6112693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14900"/>
            <a:ext cx="2152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外部觀點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565C2-854C-4E29-9F67-9C9802AE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1624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4A10A-B11E-4443-BCC7-9A83C24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2197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0435B-0F52-4157-B27D-5A281451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0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A3D12-A5C0-4502-9501-F55FE1A9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6863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60CC15-F83F-43D3-BCA8-DBD8F114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600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53B7E-2573-4938-BD36-8DDE5006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5767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B2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比較整合</a:t>
            </a:r>
          </a:p>
          <a:p xmlns:a="http://schemas.openxmlformats.org/drawingml/2006/main">
            <a:pPr algn="ctr">
              <a:def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最後答案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A4320-1C72-4C4E-AD37-AE9A261E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重點：先不看文件回想，再分開形成觀點。兩種方法都具有參數知識。</a:t>
            </a:r>
          </a:p>
        </p:txBody>
      </p:sp>
    </p:spTree>
    <p:extLst>
      <p:ext uri="{BB962C8B-B14F-4D97-AF65-F5344CB8AC3E}">
        <p14:creationId xmlns:p14="http://schemas.microsoft.com/office/powerpoint/2010/main" val="7058623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CE348-80C7-4C86-B4E0-273DD205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Hamlet：相同文件，兩種處理方式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BED86-3D53-4EB0-BE18-8A6C819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5B8FF-14F6-4522-A4D8-F857F107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問題：誰寫了 Hamlet？　文件：Charles Dickens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CAE20-A9A5-4074-B4A6-F7165F49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InstructRAG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6D22B-90E2-4E07-A36F-A3258823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764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文件＋示範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E613B-8876-4388-ACEB-4ADF01E1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923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solidFill>
              <a:srgbClr val="2563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7A10A-A6F2-458D-81B4-9B0CE42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76450"/>
            <a:ext cx="4076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D3A38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Charles Dickens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AF7EC-DE81-4AEF-A93A-9BB0E2DA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IDEAL-RAG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9C170-EFBE-4131-A402-9865EDE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956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回想與內部觀點</a:t>
            </a:r>
          </a:p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Shakespeare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89C97-399C-4CDB-9C44-B491F5A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7053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D3A38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外部觀點</a:t>
            </a:r>
          </a:p>
          <a:p xmlns:a="http://schemas.openxmlformats.org/drawingml/2006/main">
            <a:pPr algn="ctr">
              <a:def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Dickens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441EB-8469-4D58-AFCB-DFE2DCA7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338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21B87-1CF9-49D7-88EE-9F67E44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1435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DB82D-AE41-462E-9D2A-4F01338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0" cy="1409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FCB8C-CA6E-4E72-B940-E0B5DF6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267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8AA9D-1092-4A87-A3E1-BC467559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529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B53E66-B7FF-4CCC-933D-5EC406E0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71925"/>
            <a:ext cx="39909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連結後答案</a:t>
            </a:r>
          </a:p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William Shakespeare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E48D0-3F8C-4364-88A9-8002AC42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本機 adapted ICL 單題實測。答對不代表整合理由已充分或必定可靠。</a:t>
            </a:r>
          </a:p>
        </p:txBody>
      </p:sp>
    </p:spTree>
    <p:extLst>
      <p:ext uri="{BB962C8B-B14F-4D97-AF65-F5344CB8AC3E}">
        <p14:creationId xmlns:p14="http://schemas.microsoft.com/office/powerpoint/2010/main" val="962406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2D7AC-4DD9-4865-8944-83EB37A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程式只看這六行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C23FC-3D82-4AC4-BF6D-C7A239D0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CBD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90954-82CA-4242-B3CC-B988F1C0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8E894-72EE-47A6-BD0F-F81E83FC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DD5C4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6DD5C4"/>
                </a:solidFill>
                <a:latin typeface="Consolas"/>
                <a:ea typeface="Consolas"/>
                <a:cs typeface="Consolas"/>
              </a:rPr>
              <a:t>def ideal_rag(q, docs, B_i, B_e, B_l):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08BBB-C46E-4EE4-A3BC-DDF1397E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95174-6745-42C5-A2A4-024C7F6A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288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memory = recall(q)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DCDF9-BDA5-46B5-BAA8-17BF7DAA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C202F-97D0-4908-A9DE-17FB36F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internal = argue_internal(q, memory, B_i)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3FBE3-B499-4DF6-BCD1-B996EED2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C53FE-01FD-4BFD-979B-EF557524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external = argue_external(q, docs, B_e)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706BF-58DA-4313-98C6-2F07230C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6B49A-40DD-4928-A149-47EAFA03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link(q, docs, memory,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60665-9F12-4DEF-A800-C14DAA7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333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9BD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91A9BD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21AFD-1CF8-4CD1-9B75-88C39AFC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internal, external, B_l)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09C05-C992-4358-AC0F-05B596E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DD5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DD5C4"/>
                </a:solidFill>
                <a:latin typeface="Microsoft JhengHei"/>
                <a:ea typeface="Microsoft JhengHei"/>
                <a:cs typeface="Microsoft JhengHei"/>
              </a:rPr>
              <a:t>關鍵在 recall(q)：先保留不受當前文件影響的回想</a:t>
            </a:r>
          </a:p>
        </p:txBody>
      </p:sp>
    </p:spTree>
    <p:extLst>
      <p:ext uri="{BB962C8B-B14F-4D97-AF65-F5344CB8AC3E}">
        <p14:creationId xmlns:p14="http://schemas.microsoft.com/office/powerpoint/2010/main" val="496417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34D14-A618-4CE2-9BAC-5C0C95D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示範庫與新問題分開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FDA8F-D623-483D-9844-EE91B5C6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F1AB-AC9F-4F81-9A45-327409C4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建立示範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D1960-19FD-4444-8313-8AA40B0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733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Seed 題</a:t>
            </a:r>
          </a:p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已知答案可見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C06BE-6433-4F1E-9FD3-AAE46BF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619375"/>
            <a:ext cx="990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3E121-220D-46BD-BED8-3F648A3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2638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A6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563A6"/>
                </a:solidFill>
                <a:latin typeface="Microsoft JhengHei"/>
                <a:ea typeface="Microsoft JhengHei"/>
                <a:cs typeface="Microsoft JhengHei"/>
              </a:rPr>
              <a:t>生成示範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D2722-EF05-49C3-A74E-352255C7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19375"/>
            <a:ext cx="962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442C7-6538-4902-9FE1-4E99B52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8670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B2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三個示範庫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5BB04-CAA4-4E52-B65B-E6673E7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測試推論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2EF8A-9D17-46EF-818D-E221D563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733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新問題＋文件</a:t>
            </a:r>
          </a:p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本題答案不可見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85BD2-2662-4646-AE16-9F27D80F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867275"/>
            <a:ext cx="990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40BC5-C1A4-48E5-A385-0FAE0B1B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26384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參考其他題示範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EC280-38CC-4EB4-84BF-4C07F080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867275"/>
            <a:ext cx="962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5B88F-A486-49F1-AAA9-926B299B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38650"/>
            <a:ext cx="28670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B2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生成答案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59983-CB65-4A8A-AA56-E62E7B1F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ICL 不更新權重；已知答案引導不保證示範內容全部正確。</a:t>
            </a:r>
          </a:p>
        </p:txBody>
      </p:sp>
    </p:spTree>
    <p:extLst>
      <p:ext uri="{BB962C8B-B14F-4D97-AF65-F5344CB8AC3E}">
        <p14:creationId xmlns:p14="http://schemas.microsoft.com/office/powerpoint/2010/main" val="405116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C1533-97E6-43B4-93BC-255727F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實測：全污染多答對 Hamlet 一題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9D140-E431-495A-8A0C-2973DBF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810875" cy="3819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f305e85a9c419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B728A-2B4E-4433-8E3B-040C23C6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4 題示範實驗　　測試呼叫：12 次 vs 40 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481F9-39FC-4D0A-869F-067DC7C6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小型實測只能展示行為差異；比較未控制相同運算預算。</a:t>
            </a:r>
          </a:p>
        </p:txBody>
      </p:sp>
    </p:spTree>
    <p:extLst>
      <p:ext uri="{BB962C8B-B14F-4D97-AF65-F5344CB8AC3E}">
        <p14:creationId xmlns:p14="http://schemas.microsoft.com/office/powerpoint/2010/main" val="1543144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A3F55-DAA2-4BDF-BA52-40AFBD99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可能的生活應用：產品客服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8AE41-CD1C-4EEF-AFB6-B2CCDA5A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16EAC-09D5-438A-BFD0-751B245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「恢復原廠設定，會保留 Wi-Fi 設定嗎？」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85E87-18D2-41E3-AB23-EC830FDA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676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7D64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可回想的操作概念</a:t>
            </a:r>
          </a:p>
          <a:p xmlns:a="http://schemas.openxmlformats.org/drawingml/2006/main">
            <a:pPr algn="ctr">
              <a:def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47D64"/>
                </a:solidFill>
                <a:latin typeface="Microsoft JhengHei"/>
                <a:ea typeface="Microsoft JhengHei"/>
                <a:cs typeface="Microsoft JhengHei"/>
              </a:rPr>
              <a:t>清除設定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41BE6-4431-4BA1-9906-F950837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67025"/>
            <a:ext cx="3333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D3A38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假設的錯誤文件</a:t>
            </a:r>
          </a:p>
          <a:p xmlns:a="http://schemas.openxmlformats.org/drawingml/2006/main">
            <a:pPr algn="ctr">
              <a:def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AD3A38"/>
                </a:solidFill>
                <a:latin typeface="Microsoft JhengHei"/>
                <a:ea typeface="Microsoft JhengHei"/>
                <a:cs typeface="Microsoft JhengHei"/>
              </a:rPr>
              <a:t>保留設定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D3F6-DF89-473E-B987-9880DAF0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14700"/>
            <a:ext cx="3048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E055C-3FC1-4C01-B9CA-9608057B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14700"/>
            <a:ext cx="8286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26777"/>
          </a:solidFill>
          <a:ln xmlns:a="http://schemas.openxmlformats.org/drawingml/2006/main" w="0">
            <a:solidFill>
              <a:srgbClr val="52677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94090-F605-47AC-A6B8-FEE5D15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57525"/>
            <a:ext cx="2114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7B20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比較衝突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22F05-501E-41D5-9588-5F1EC513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可能協助發現錯誤說明；仍需核對官方來源與版本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FC9E1-79EF-406F-ADA1-118F6E9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此頁為待驗證應用，未執行模型實驗。</a:t>
            </a:r>
          </a:p>
        </p:txBody>
      </p:sp>
    </p:spTree>
    <p:extLst>
      <p:ext uri="{BB962C8B-B14F-4D97-AF65-F5344CB8AC3E}">
        <p14:creationId xmlns:p14="http://schemas.microsoft.com/office/powerpoint/2010/main" val="912258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578A7-AC6C-4647-95CB-F7C013C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我對這篇方法的理解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57C56-146E-4F00-A9ED-ABE7275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69E9B-B4A7-459A-8778-D4A4C7F0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共同基礎相近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0DCAC-F186-48C1-A79E-66ACA568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都使用模型知識與檢索文件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5C80F-0206-4823-B156-D13C48CC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D87B20"/>
                </a:solidFill>
                <a:latin typeface="Microsoft JhengHei"/>
                <a:ea typeface="Microsoft JhengHei"/>
                <a:cs typeface="Microsoft JhengHei"/>
              </a:rPr>
              <a:t>IDEAL 的主要改動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5EF55-4D1F-444C-A9B0-68CC7459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獨立回想與立論，再與外部觀點比較整合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E04B2-C9F7-4B44-95E5-8848C45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方法改動的大小，不等於效果差異的大小；收益與成本仍需實驗判斷。</a:t>
            </a:r>
          </a:p>
        </p:txBody>
      </p:sp>
    </p:spTree>
    <p:extLst>
      <p:ext uri="{BB962C8B-B14F-4D97-AF65-F5344CB8AC3E}">
        <p14:creationId xmlns:p14="http://schemas.microsoft.com/office/powerpoint/2010/main" val="18087500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4AFB-1ADF-4C14-A0CE-72E8A50C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2A43"/>
                </a:solidFill>
                <a:latin typeface="Microsoft JhengHei"/>
                <a:ea typeface="Microsoft JhengHei"/>
                <a:cs typeface="Microsoft JhengHei"/>
              </a:rPr>
              <a:t>備用：ICL、SFT 與 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CBAE2-FFEF-422C-BD8B-1FF92D63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912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1AE8D-E483-4FC5-84B1-4BDC7AF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944814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367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SFT ⊂ 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72800" cy="283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096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ICL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SFT</a:t>
                      </a:r>
                    </a:p>
                  </a:txBody>
                  <a:tcPr marL="142875" marR="142875" marT="114300" marB="114300">
                    <a:solidFill>
                      <a:srgbClr val="102A43"/>
                    </a:solidFill>
                  </a:tcPr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示範放進提示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以目標輸出監督訓練</a:t>
                      </a:r>
                    </a:p>
                  </a:txBody>
                  <a:tcPr marL="142875" marR="142875" marT="114300" marB="114300"/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權重固定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更新全部或部分可訓練參數</a:t>
                      </a:r>
                    </a:p>
                  </a:txBody>
                  <a:tcPr marL="142875" marR="142875" marT="114300" marB="114300"/>
                </a:tc>
              </a:tr>
              <a:tr h="7096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可利用當前上下文的新資訊</a:t>
                      </a:r>
                    </a:p>
                  </a:txBody>
                  <a:tcPr marL="142875" marR="142875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A4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不保證永久、完整記住訓練資料</a:t>
                      </a:r>
                    </a:p>
                  </a:txBody>
                  <a:tcPr marL="142875" marR="142875" marT="114300" marB="11430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792B8-F3FB-4A65-814C-40111D8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715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26777"/>
                </a:solidFill>
                <a:latin typeface="Microsoft JhengHei"/>
                <a:ea typeface="Microsoft JhengHei"/>
                <a:cs typeface="Microsoft JhengHei"/>
              </a:rPr>
              <a:t>本機採 ICL，沒有進行 SFT。</a:t>
            </a:r>
          </a:p>
        </p:txBody>
      </p:sp>
    </p:spTree>
    <p:extLst>
      <p:ext uri="{BB962C8B-B14F-4D97-AF65-F5344CB8AC3E}">
        <p14:creationId xmlns:p14="http://schemas.microsoft.com/office/powerpoint/2010/main" val="57436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2026-09-21T03:38:37.9370000Z</dcterms:created>
  <dcterms:modified xsi:type="dcterms:W3CDTF">2026-09-21T03:38:37.9370000Z</dcterms:modified>
</coreProperties>
</file>