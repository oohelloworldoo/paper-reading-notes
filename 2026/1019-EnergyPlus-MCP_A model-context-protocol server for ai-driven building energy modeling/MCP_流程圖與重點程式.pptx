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8.xml" ContentType="application/vnd.openxmlformats-officedocument.presentationml.notesSlide+xml"/>
  <Override PartName="/ppt/slides/slide19.xml" ContentType="application/vnd.openxmlformats-officedocument.presentationml.slide+xml"/>
  <Override PartName="/ppt/notesSlides/notesSlide19.xml" ContentType="application/vnd.openxmlformats-officedocument.presentationml.notesSlide+xml"/>
  <Override PartName="/ppt/slides/slide20.xml" ContentType="application/vnd.openxmlformats-officedocument.presentationml.slide+xml"/>
  <Override PartName="/ppt/notesSlides/notesSlide20.xml" ContentType="application/vnd.openxmlformats-officedocument.presentationml.notesSlide+xml"/>
  <Override PartName="/ppt/slides/slide21.xml" ContentType="application/vnd.openxmlformats-officedocument.presentationml.slide+xml"/>
  <Override PartName="/ppt/notesSlides/notesSlide2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e0d5b919ae3e4e0d" /><Relationship Type="http://schemas.openxmlformats.org/officeDocument/2006/relationships/extended-properties" Target="/docProps/app.xml" Id="Rb269fbb36d5b43f5" /><Relationship Type="http://schemas.openxmlformats.org/officeDocument/2006/relationships/officeDocument" Target="/ppt/presentation.xml" Id="Rb7df5fecdf864640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482e65c1d8824e23"/>
  </p:sldMasterIdLst>
  <p:notesMasterIdLst>
    <p:notesMasterId xmlns:r="http://schemas.openxmlformats.org/officeDocument/2006/relationships" r:id="R35439a88c1b2440c"/>
  </p:notesMasterIdLst>
  <p:sldIdLst>
    <p:sldId xmlns:r="http://schemas.openxmlformats.org/officeDocument/2006/relationships" id="256" r:id="Re6d6a459f1864352"/>
    <p:sldId xmlns:r="http://schemas.openxmlformats.org/officeDocument/2006/relationships" id="257" r:id="Rf6b5f39932da46ac"/>
    <p:sldId xmlns:r="http://schemas.openxmlformats.org/officeDocument/2006/relationships" id="258" r:id="R147c8ce23da34762"/>
    <p:sldId xmlns:r="http://schemas.openxmlformats.org/officeDocument/2006/relationships" id="259" r:id="Rae1c77cae8a14343"/>
    <p:sldId xmlns:r="http://schemas.openxmlformats.org/officeDocument/2006/relationships" id="260" r:id="R86d873172aeb4d93"/>
    <p:sldId xmlns:r="http://schemas.openxmlformats.org/officeDocument/2006/relationships" id="261" r:id="R56e89c03a982447d"/>
    <p:sldId xmlns:r="http://schemas.openxmlformats.org/officeDocument/2006/relationships" id="262" r:id="R99eac478a0944230"/>
    <p:sldId xmlns:r="http://schemas.openxmlformats.org/officeDocument/2006/relationships" id="263" r:id="R5958a3c981464c13"/>
    <p:sldId xmlns:r="http://schemas.openxmlformats.org/officeDocument/2006/relationships" id="264" r:id="R447f2912696840dc"/>
    <p:sldId xmlns:r="http://schemas.openxmlformats.org/officeDocument/2006/relationships" id="265" r:id="R844c666a23ce425d"/>
    <p:sldId xmlns:r="http://schemas.openxmlformats.org/officeDocument/2006/relationships" id="266" r:id="Ree431f959dbc442e"/>
    <p:sldId xmlns:r="http://schemas.openxmlformats.org/officeDocument/2006/relationships" id="267" r:id="R7ca1cf0c6a784d5a"/>
    <p:sldId xmlns:r="http://schemas.openxmlformats.org/officeDocument/2006/relationships" id="268" r:id="Rfe7b286002084148"/>
    <p:sldId xmlns:r="http://schemas.openxmlformats.org/officeDocument/2006/relationships" id="269" r:id="R86d2ba4b345c44e9"/>
    <p:sldId xmlns:r="http://schemas.openxmlformats.org/officeDocument/2006/relationships" id="270" r:id="R44676d823abe46e1"/>
    <p:sldId xmlns:r="http://schemas.openxmlformats.org/officeDocument/2006/relationships" id="271" r:id="Re9c6187183794f27"/>
    <p:sldId xmlns:r="http://schemas.openxmlformats.org/officeDocument/2006/relationships" id="272" r:id="R26f33d37e94646ce"/>
    <p:sldId xmlns:r="http://schemas.openxmlformats.org/officeDocument/2006/relationships" id="273" r:id="R9484691f70504434"/>
    <p:sldId xmlns:r="http://schemas.openxmlformats.org/officeDocument/2006/relationships" id="274" r:id="R094cf40f30404825"/>
    <p:sldId xmlns:r="http://schemas.openxmlformats.org/officeDocument/2006/relationships" id="275" r:id="Rc5dd10b1a8614297"/>
    <p:sldId xmlns:r="http://schemas.openxmlformats.org/officeDocument/2006/relationships" id="276" r:id="R0aa54466130d438e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1edb623ad1314fb7" /><Relationship Type="http://schemas.openxmlformats.org/officeDocument/2006/relationships/slideMaster" Target="/ppt/slideMasters/slideMaster1.xml" Id="R482e65c1d8824e23" /><Relationship Type="http://schemas.openxmlformats.org/officeDocument/2006/relationships/notesMaster" Target="/ppt/notesMasters/notesMaster1.xml" Id="R35439a88c1b2440c" /><Relationship Type="http://schemas.openxmlformats.org/officeDocument/2006/relationships/presProps" Target="/ppt/presProps.xml" Id="R87aa845d3d634f21" /><Relationship Type="http://schemas.openxmlformats.org/officeDocument/2006/relationships/tableStyles" Target="/ppt/tableStyles.xml" Id="R4a35fdfd1b774b03" /><Relationship Type="http://schemas.openxmlformats.org/officeDocument/2006/relationships/slide" Target="/ppt/slides/slide1.xml" Id="Re6d6a459f1864352" /><Relationship Type="http://schemas.openxmlformats.org/officeDocument/2006/relationships/slide" Target="/ppt/slides/slide2.xml" Id="Rf6b5f39932da46ac" /><Relationship Type="http://schemas.openxmlformats.org/officeDocument/2006/relationships/slide" Target="/ppt/slides/slide3.xml" Id="R147c8ce23da34762" /><Relationship Type="http://schemas.openxmlformats.org/officeDocument/2006/relationships/slide" Target="/ppt/slides/slide4.xml" Id="Rae1c77cae8a14343" /><Relationship Type="http://schemas.openxmlformats.org/officeDocument/2006/relationships/slide" Target="/ppt/slides/slide5.xml" Id="R86d873172aeb4d93" /><Relationship Type="http://schemas.openxmlformats.org/officeDocument/2006/relationships/slide" Target="/ppt/slides/slide6.xml" Id="R56e89c03a982447d" /><Relationship Type="http://schemas.openxmlformats.org/officeDocument/2006/relationships/slide" Target="/ppt/slides/slide7.xml" Id="R99eac478a0944230" /><Relationship Type="http://schemas.openxmlformats.org/officeDocument/2006/relationships/slide" Target="/ppt/slides/slide8.xml" Id="R5958a3c981464c13" /><Relationship Type="http://schemas.openxmlformats.org/officeDocument/2006/relationships/slide" Target="/ppt/slides/slide9.xml" Id="R447f2912696840dc" /><Relationship Type="http://schemas.openxmlformats.org/officeDocument/2006/relationships/slide" Target="/ppt/slides/slide10.xml" Id="R844c666a23ce425d" /><Relationship Type="http://schemas.openxmlformats.org/officeDocument/2006/relationships/slide" Target="/ppt/slides/slide11.xml" Id="Ree431f959dbc442e" /><Relationship Type="http://schemas.openxmlformats.org/officeDocument/2006/relationships/slide" Target="/ppt/slides/slide12.xml" Id="R7ca1cf0c6a784d5a" /><Relationship Type="http://schemas.openxmlformats.org/officeDocument/2006/relationships/slide" Target="/ppt/slides/slide13.xml" Id="Rfe7b286002084148" /><Relationship Type="http://schemas.openxmlformats.org/officeDocument/2006/relationships/slide" Target="/ppt/slides/slide14.xml" Id="R86d2ba4b345c44e9" /><Relationship Type="http://schemas.openxmlformats.org/officeDocument/2006/relationships/slide" Target="/ppt/slides/slide15.xml" Id="R44676d823abe46e1" /><Relationship Type="http://schemas.openxmlformats.org/officeDocument/2006/relationships/slide" Target="/ppt/slides/slide16.xml" Id="Re9c6187183794f27" /><Relationship Type="http://schemas.openxmlformats.org/officeDocument/2006/relationships/slide" Target="/ppt/slides/slide17.xml" Id="R26f33d37e94646ce" /><Relationship Type="http://schemas.openxmlformats.org/officeDocument/2006/relationships/slide" Target="/ppt/slides/slide18.xml" Id="R9484691f70504434" /><Relationship Type="http://schemas.openxmlformats.org/officeDocument/2006/relationships/slide" Target="/ppt/slides/slide19.xml" Id="R094cf40f30404825" /><Relationship Type="http://schemas.openxmlformats.org/officeDocument/2006/relationships/slide" Target="/ppt/slides/slide20.xml" Id="Rc5dd10b1a8614297" /><Relationship Type="http://schemas.openxmlformats.org/officeDocument/2006/relationships/slide" Target="/ppt/slides/slide21.xml" Id="R0aa54466130d438e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60ef83091aa944e7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23d15ccd4e58452d" /><Relationship Type="http://schemas.openxmlformats.org/officeDocument/2006/relationships/notesMaster" Target="/ppt/notesMasters/notesMaster1.xml" Id="R0127772088f6440e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4c3e4dda0ed143f6" /><Relationship Type="http://schemas.openxmlformats.org/officeDocument/2006/relationships/notesMaster" Target="/ppt/notesMasters/notesMaster1.xml" Id="R661865ecb066441c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835f69c9e2c7462a" /><Relationship Type="http://schemas.openxmlformats.org/officeDocument/2006/relationships/notesMaster" Target="/ppt/notesMasters/notesMaster1.xml" Id="Rf11770c650f44471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29c55ee32a7f45d1" /><Relationship Type="http://schemas.openxmlformats.org/officeDocument/2006/relationships/notesMaster" Target="/ppt/notesMasters/notesMaster1.xml" Id="R427a1e8f421c4fc6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987b2915fb1a4f14" /><Relationship Type="http://schemas.openxmlformats.org/officeDocument/2006/relationships/notesMaster" Target="/ppt/notesMasters/notesMaster1.xml" Id="Rc525696b13484196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6101be27901245de" /><Relationship Type="http://schemas.openxmlformats.org/officeDocument/2006/relationships/notesMaster" Target="/ppt/notesMasters/notesMaster1.xml" Id="R90ce9e70e5334751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b0eb4d33be704830" /><Relationship Type="http://schemas.openxmlformats.org/officeDocument/2006/relationships/notesMaster" Target="/ppt/notesMasters/notesMaster1.xml" Id="R50643f442d42473f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aee17e3bf1e64322" /><Relationship Type="http://schemas.openxmlformats.org/officeDocument/2006/relationships/notesMaster" Target="/ppt/notesMasters/notesMaster1.xml" Id="Rb18f2c9b0d6a41ba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64038220344744ba" /><Relationship Type="http://schemas.openxmlformats.org/officeDocument/2006/relationships/notesMaster" Target="/ppt/notesMasters/notesMaster1.xml" Id="Rf7fccdeb0e2648b0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140057ad5f16417a" /><Relationship Type="http://schemas.openxmlformats.org/officeDocument/2006/relationships/notesMaster" Target="/ppt/notesMasters/notesMaster1.xml" Id="R25c2d4cd1a4f4929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2db0cc87e6644c97" /><Relationship Type="http://schemas.openxmlformats.org/officeDocument/2006/relationships/notesMaster" Target="/ppt/notesMasters/notesMaster1.xml" Id="Rdfe5e0ed4a284735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c41a514ce723479e" /><Relationship Type="http://schemas.openxmlformats.org/officeDocument/2006/relationships/notesMaster" Target="/ppt/notesMasters/notesMaster1.xml" Id="Re4332a9b3538417f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c45350fce91f45c9" /><Relationship Type="http://schemas.openxmlformats.org/officeDocument/2006/relationships/notesMaster" Target="/ppt/notesMasters/notesMaster1.xml" Id="Rc487ce8b69944262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7c24b994d3b74f28" /><Relationship Type="http://schemas.openxmlformats.org/officeDocument/2006/relationships/notesMaster" Target="/ppt/notesMasters/notesMaster1.xml" Id="R1a569a17023b4756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dbeef48c96c040fd" /><Relationship Type="http://schemas.openxmlformats.org/officeDocument/2006/relationships/notesMaster" Target="/ppt/notesMasters/notesMaster1.xml" Id="R23b2c13410bb423d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17014bd2cdf84185" /><Relationship Type="http://schemas.openxmlformats.org/officeDocument/2006/relationships/notesMaster" Target="/ppt/notesMasters/notesMaster1.xml" Id="Ref3fea5376134d0f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5b8d242cee8a4a89" /><Relationship Type="http://schemas.openxmlformats.org/officeDocument/2006/relationships/notesMaster" Target="/ppt/notesMasters/notesMaster1.xml" Id="R383e1ff5bc10483c" /></Relationships>
</file>

<file path=ppt/notesSlides/_rels/notesSlide18.xml.rels>&#65279;<?xml version="1.0" encoding="utf-8"?><Relationships xmlns="http://schemas.openxmlformats.org/package/2006/relationships"><Relationship Type="http://schemas.openxmlformats.org/officeDocument/2006/relationships/slide" Target="/ppt/slides/slide18.xml" Id="Rec9fd73270f04d00" /><Relationship Type="http://schemas.openxmlformats.org/officeDocument/2006/relationships/notesMaster" Target="/ppt/notesMasters/notesMaster1.xml" Id="Rfa051e0c88bf47c7" /></Relationships>
</file>

<file path=ppt/notesSlides/_rels/notesSlide19.xml.rels>&#65279;<?xml version="1.0" encoding="utf-8"?><Relationships xmlns="http://schemas.openxmlformats.org/package/2006/relationships"><Relationship Type="http://schemas.openxmlformats.org/officeDocument/2006/relationships/slide" Target="/ppt/slides/slide19.xml" Id="R272598dc7f514065" /><Relationship Type="http://schemas.openxmlformats.org/officeDocument/2006/relationships/notesMaster" Target="/ppt/notesMasters/notesMaster1.xml" Id="R02c2dd7cb1774a43" /></Relationships>
</file>

<file path=ppt/notesSlides/_rels/notesSlide20.xml.rels>&#65279;<?xml version="1.0" encoding="utf-8"?><Relationships xmlns="http://schemas.openxmlformats.org/package/2006/relationships"><Relationship Type="http://schemas.openxmlformats.org/officeDocument/2006/relationships/slide" Target="/ppt/slides/slide20.xml" Id="R74142c2982794519" /><Relationship Type="http://schemas.openxmlformats.org/officeDocument/2006/relationships/notesMaster" Target="/ppt/notesMasters/notesMaster1.xml" Id="Rb68ab86117ab49e3" /></Relationships>
</file>

<file path=ppt/notesSlides/_rels/notesSlide21.xml.rels>&#65279;<?xml version="1.0" encoding="utf-8"?><Relationships xmlns="http://schemas.openxmlformats.org/package/2006/relationships"><Relationship Type="http://schemas.openxmlformats.org/officeDocument/2006/relationships/slide" Target="/ppt/slides/slide21.xml" Id="R951f3d7b49624458" /><Relationship Type="http://schemas.openxmlformats.org/officeDocument/2006/relationships/notesMaster" Target="/ppt/notesMasters/notesMaster1.xml" Id="Rf22096556ddb4f22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開場：這次我用 EnergyPlus-MCP 作為案例，理解 MCP 如何把工具公開給應用程式。報告聚焦工具發現、參數、呼叫、server 執行與結果驗證。建築領域只保留理解案例所需的背景。</a:t>
            </a:r>
          </a:p>
          <a:p xmlns:a="http://schemas.openxmlformats.org/drawingml/2006/main">
            <a:r>
              <a:t>這次使用 Python client 指定工具，沒有加入 LLM，因此驗證的是工具鏈。後面的結果可以由 Notebook 和保存的輸出追查。</a:t>
            </a:r>
          </a:p>
          <a:p xmlns:a="http://schemas.openxmlformats.org/drawingml/2006/main">
            <a:r>
              <a:t>建議先用兩張流程圖建立分工，再講四段關鍵程式。最後兩頁為備用資料。</a:t>
            </a:r>
          </a:p>
          <a:p xmlns:a="http://schemas.openxmlformats.org/drawingml/2006/main">
            <a:r>
              <a:t>來源：https://doi.org/10.1016/j.softx.2025.102367</a:t>
            </a:r>
          </a:p>
          <a:p xmlns:a="http://schemas.openxmlformats.org/drawingml/2006/main">
            <a:r>
              <a:t>https://github.com/LBNL-ETA/EnergyPlus-MCP/tree/5a7d3bb1d2e537ba329d3412c8b79d22cedd7c70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EnergyPlus 已能計算建築能耗。操作模型仍需要載入、檢查、修改、模擬與結果處理。本文把這些操作公開為 MCP 工具，讓相容應用整合。</a:t>
            </a:r>
          </a:p>
          <a:p xmlns:a="http://schemas.openxmlformats.org/drawingml/2006/main">
            <a:r>
              <a:t>論文屬於軟體實作與應用展示，不應講成提出新的能耗預測演算法。本次只選 modify_lights 做可檢查的小案例。</a:t>
            </a:r>
          </a:p>
          <a:p xmlns:a="http://schemas.openxmlformats.org/drawingml/2006/main">
            <a:r>
              <a:t>若老師問創新性：可從整合介面與工具覆蓋範圍討論，但不能由單一案例宣稱提升了預測準確率或 LLM 可靠度。</a:t>
            </a:r>
          </a:p>
          <a:p xmlns:a="http://schemas.openxmlformats.org/drawingml/2006/main">
            <a:r>
              <a:t>來源：https://doi.org/10.1016/j.softx.2025.102367，Introduction、Software description。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MCP 全名 Model Context Protocol，中文常譯模型上下文協定。Host 是整合互動、模型與連線的應用，client 是維持一條 MCP 連線的元件，server 則公開工具並執行。Host 可以包含多個 client，分別連不同 server。</a:t>
            </a:r>
          </a:p>
          <a:p xmlns:a="http://schemas.openxmlformats.org/drawingml/2006/main">
            <a:r>
              <a:t>本次 Notebook／Python 程式扮演教學應用，使用 SDK ClientSession 連作者的 FastMCP server。工具發現與呼叫不要求一定有 LLM。</a:t>
            </a:r>
          </a:p>
          <a:p xmlns:a="http://schemas.openxmlformats.org/drawingml/2006/main">
            <a:r>
              <a:t>EnergyPlus 必要背景：BEM 是 Building Energy Modeling；IDF 是模型輸入設定檔；Lighting_Level 是本模型要修改的照明功率欄位。</a:t>
            </a:r>
          </a:p>
          <a:p xmlns:a="http://schemas.openxmlformats.org/drawingml/2006/main">
            <a:r>
              <a:t>來源：https://github.com/LBNL-ETA/EnergyPlus-MCP/tree/5a7d3bb1d2e537ba329d3412c8b79d22cedd7c70，server.py；Notebook 的角色說明與流程圖。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綠色節點代表本次 Notebook 真的重跑的流程。只有中間兩支綠色粗箭頭是 MCP stdio 通訊，其他箭頭是本地程式操作。Host 是 Notebook 加上 Python client 程式，ClientSession 是其中的連線元件。Server 是另一個 Python 程序。</a:t>
            </a:r>
          </a:p>
          <a:p xmlns:a="http://schemas.openxmlformats.org/drawingml/2006/main">
            <a:r>
              <a:t>Host 先依固定流程準備要求，ClientSession 初始化、列工具、呼叫 inspect_lights 與 modify_lights。Server 的 FastMCP 分派到 Manager，eppy 修改與儲存 IDF。Host 收到回覆後再次呼叫檢查工具，並獨立讀回檔案。圖合併呈現兩次 session，未畫出每一則封包。</a:t>
            </a:r>
          </a:p>
          <a:p xmlns:a="http://schemas.openxmlformats.org/drawingml/2006/main">
            <a:r>
              <a:t>LLM 尚未接入。若加入，Host 可把工具描述與使用者要求交給 LLM，取得工具與參數建議；Host 管理是否執行，再由 Client 發送。模型可能是外部服務，圖上表示的是邏輯接入位置，不代表一定同程序。</a:t>
            </a:r>
          </a:p>
          <a:p xmlns:a="http://schemas.openxmlformats.org/drawingml/2006/main">
            <a:r>
              <a:t>EnergyPlus 引擎在本次改檔流程沒有啟動。來源：notebook-run/transcript.json、discovered-tools.json；教學 client 與作者程式。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橘色代表先前完整案例已實際執行，並非尚未執行。這次 Notebook 不重新跑模擬，僅讀取既有紀錄與 .end 檔。</a:t>
            </a:r>
          </a:p>
          <a:p xmlns:a="http://schemas.openxmlformats.org/drawingml/2006/main">
            <a:r>
              <a:t>Host 用 Python 排定基準模型與修改模型兩次模擬，Client 透過 MCP 呼叫 run_energyplus_simulation。Server 內部啟動 EnergyPlus，提供 IDF 與氣象檔。引擎產生輸出，Server 回傳狀態與結果路徑。後續解析 HTML 報告是本機 summarize.py，不要說成引擎直接透過 MCP 回答。</a:t>
            </a:r>
          </a:p>
          <a:p xmlns:a="http://schemas.openxmlformats.org/drawingml/2006/main">
            <a:r>
              <a:t>粗綠箭頭只有 Client 和 Server 之間。Server 到引擎是程序啟動，模型與報告是檔案 I/O。</a:t>
            </a:r>
          </a:p>
          <a:p xmlns:a="http://schemas.openxmlformats.org/drawingml/2006/main">
            <a:r>
              <a:t>之前兩次模擬皆完成，.end 為 0 Warning / 0 Severe Errors。來源：mcp-transcript.json；baseline-results/baseline.end；modified-results/lights_70pct.end；summary.json。LLM 在先前模擬中也沒有使用。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接下來只需掌握四段：用 ClientSession 建連線並初始化、list_tools 和 call_tool、用原值乘以 0.7 組成參數，以及 Server 內部 setattr 和 save。路徑設定、日誌、JSON 儲存與完整差異比較移到教學輔助檔。</a:t>
            </a:r>
          </a:p>
          <a:p xmlns:a="http://schemas.openxmlformats.org/drawingml/2006/main">
            <a:r>
              <a:t>Notebook 正文的 MCP 程式是實際可執行 client 的關鍵節錄，標明省略了記錄與錯誤處理。Server 程式則是來源對照的核心邏輯，完整作者原碼可在附錄查閱。</a:t>
            </a:r>
          </a:p>
          <a:p xmlns:a="http://schemas.openxmlformats.org/drawingml/2006/main">
            <a:r>
              <a:t>不能刪掉驗證，只是不必在 meeting 逐行解釋所有驗證迴圈。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先啟動 server，本次使用 stdio，由 client 與 server 子程序的標準輸入輸出交換訊息。日誌應送 stderr。</a:t>
            </a:r>
          </a:p>
          <a:p xmlns:a="http://schemas.openxmlformats.org/drawingml/2006/main">
            <a:r>
              <a:t>initialize 交換版本和能力，之後有 notifications/initialized 通知。SDK 的 initialize 方法處理這個過程。接著 tools/list 取得工具描述，tools/call 指定工具與參數。</a:t>
            </a:r>
          </a:p>
          <a:p xmlns:a="http://schemas.openxmlformats.org/drawingml/2006/main">
            <a:r>
              <a:t>參數計算在 client 本地完成，不是每一個流程步驟都要跨越 MCP。修改完成還要再次讀回並獨立核對檔案。</a:t>
            </a:r>
          </a:p>
          <a:p xmlns:a="http://schemas.openxmlformats.org/drawingml/2006/main">
            <a:r>
              <a:t>Notebook 的探索與修改分為兩個獨立 session，每個都有完整初始化。</a:t>
            </a:r>
          </a:p>
          <a:p xmlns:a="http://schemas.openxmlformats.org/drawingml/2006/main">
            <a:r>
              <a:t>來源：https://modelcontextprotocol.io/specification/2025-11-25/basic/lifecycle</a:t>
            </a:r>
          </a:p>
          <a:p xmlns:a="http://schemas.openxmlformats.org/drawingml/2006/main">
            <a:r>
              <a:t>https://modelcontextprotocol.io/specification/2025-11-25/server/tools</a:t>
            </a:r>
          </a:p>
          <a:p xmlns:a="http://schemas.openxmlformats.org/drawingml/2006/main">
            <a:r>
              <a:t>Notebook 重點程式與執行證據。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實際執行 session.list_tools 後，本機此版本取得 35 個工具。工具資訊包括 name、description、inputSchema。它沒有把 Python 原始碼下載給 client，也沒有替 client 做決策。</a:t>
            </a:r>
          </a:p>
          <a:p xmlns:a="http://schemas.openxmlformats.org/drawingml/2006/main">
            <a:r>
              <a:t>這頁的程式是 SDK 使用方式，執行證據保存在 notebook-run/discovered-tools.json。35 是這個版本的數量，不是 MCP 規範固定數量。</a:t>
            </a:r>
          </a:p>
          <a:p xmlns:a="http://schemas.openxmlformats.org/drawingml/2006/main">
            <a:r>
              <a:t>來源：https://modelcontextprotocol.io/specification/2025-11-25/server/tools</a:t>
            </a:r>
          </a:p>
          <a:p xmlns:a="http://schemas.openxmlformats.org/drawingml/2006/main">
            <a:r>
              <a:t>本機 notebook-run/discovered-tools.json、tool-schema.json。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實際 inputSchema 的 required 是 idf_path 和 modifications。output_path 可省略或傳 null，但本實驗明確指定另存路徑。</a:t>
            </a:r>
          </a:p>
          <a:p xmlns:a="http://schemas.openxmlformats.org/drawingml/2006/main">
            <a:r>
              <a:t>modifications 是陣列，每個元素只宣告 object 並允許 additionalProperties。這代表 target、field_updates 主要靠 description 與內部 validator 說明及檢查。資料通過外層 schema 不代表物件存在，也不等於完成需求。</a:t>
            </a:r>
          </a:p>
          <a:p xmlns:a="http://schemas.openxmlformats.org/drawingml/2006/main">
            <a:r>
              <a:t>改進方向是用更嚴格的巢狀模型描述，但即使 schema 很嚴格仍需語意與產物驗證。</a:t>
            </a:r>
          </a:p>
          <a:p xmlns:a="http://schemas.openxmlformats.org/drawingml/2006/main">
            <a:r>
              <a:t>來源：notebook-run/tool-schema.json；作者 server.py 358–364，utils/lights_utils.py 352 起。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modify_lights 沒有 percentage 參數。以第一個物件為例，舊值 1584，client 計算乘以 0.7 得到 1108.8。</a:t>
            </a:r>
          </a:p>
          <a:p xmlns:a="http://schemas.openxmlformats.org/drawingml/2006/main">
            <a:r>
              <a:t>target 的 name: 前綴是此工具自訂語法，不是 MCP 關鍵字。field_updates 指定欄位名稱與新的絕對值。</a:t>
            </a:r>
          </a:p>
          <a:p xmlns:a="http://schemas.openxmlformats.org/drawingml/2006/main">
            <a:r>
              <a:t>五個照明物件原值不同，必須分別計算。不能用 target all 加上單一數值假裝每個物件都降 30%。本模型計算方式是 LightingLevel；其他模型若以面積或人數計算，應檢查有效欄位。</a:t>
            </a:r>
          </a:p>
          <a:p xmlns:a="http://schemas.openxmlformats.org/drawingml/2006/main">
            <a:r>
              <a:t>來源：Notebook 重點程式與執行證據；作者 modify_lights docstring。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這是實際 client 使用的 SDK 呼叫方式。arguments 包含輸入路徑、五筆 modifications 與輸出路徑。SDK 負責 JSON-RPC 訊息 id、序列化及回覆對應。</a:t>
            </a:r>
          </a:p>
          <a:p xmlns:a="http://schemas.openxmlformats.org/drawingml/2006/main">
            <a:r>
              <a:t>若用協定層說明，method 為 tools/call，params 中的 name 是 modify_lights、arguments 是工具參數。此頁呈現程式，不宣稱是封包擷取。</a:t>
            </a:r>
          </a:p>
          <a:p xmlns:a="http://schemas.openxmlformats.org/drawingml/2006/main">
            <a:r>
              <a:t>直接呼叫同程序的 Python 函式不會驗證 MCP；本次確實跨越 client/server 程序邊界。</a:t>
            </a:r>
          </a:p>
          <a:p xmlns:a="http://schemas.openxmlformats.org/drawingml/2006/main">
            <a:r>
              <a:t>來源：Notebook 重點程式與執行證據。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@mcp.tool 是註冊工具的 decorator。FastMCP 使用函式名稱、型別與說明建立工具描述。收到 tools/call 後，找到對應函式，解析參數並執行。</a:t>
            </a:r>
          </a:p>
          <a:p xmlns:a="http://schemas.openxmlformats.org/drawingml/2006/main">
            <a:r>
              <a:t>頁面是作者原始碼的重點節錄，省略 docstring、型別宣告與錯誤處理。完整程式在 Notebook 有行號。server.modify_lights 本身主要轉交 ep_manager，不在這裡逐物件改檔。</a:t>
            </a:r>
          </a:p>
          <a:p xmlns:a="http://schemas.openxmlformats.org/drawingml/2006/main">
            <a:r>
              <a:t>client 送的是工具名稱與資料，不是任意 Python 程式。</a:t>
            </a:r>
          </a:p>
          <a:p xmlns:a="http://schemas.openxmlformats.org/drawingml/2006/main">
            <a:r>
              <a:t>來源：https://github.com/LBNL-ETA/EnergyPlus-MCP/tree/5a7d3bb1d2e537ba329d3412c8b79d22cedd7c70/energyplus-mcp-server/energyplus_mcp_server/server.py，358–441。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EnergyPlusManager 先解析路徑、驗證修改規格、選輸出路徑，交給 LightsManager。LightsManager 用 eppy.IDF 讀取模型、找 Lights 物件、依 target 選擇對象，檢查允許欄位和數值。</a:t>
            </a:r>
          </a:p>
          <a:p xmlns:a="http://schemas.openxmlformats.org/drawingml/2006/main">
            <a:r>
              <a:t>setattr 改記憶體中的物件。idf.save 才把結果寫到磁碟。理解這個差別可以解釋為何只看到函式執行還不夠，要讀回產物。</a:t>
            </a:r>
          </a:p>
          <a:p xmlns:a="http://schemas.openxmlformats.org/drawingml/2006/main">
            <a:r>
              <a:t>modify_lights 這段只需 eppy 讀寫 IDF，沒有啟動 EnergyPlus 模擬引擎。這裡幾個步驟都是 server 內部 Python 呼叫，沒有每層再發 MCP。</a:t>
            </a:r>
          </a:p>
          <a:p xmlns:a="http://schemas.openxmlformats.org/drawingml/2006/main">
            <a:r>
              <a:t>來源：energyplus_tools.py 923–954；lights_utils.py 179–231、335–347。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下面三行是作者程式不同位置的重點節錄，並非連續的完整函式。getattr 與 setattr 位於 _apply_lights_modifications，idf.save 位於外層 modify_lights_objects 的迴圈完成之後。</a:t>
            </a:r>
          </a:p>
          <a:p xmlns:a="http://schemas.openxmlformats.org/drawingml/2006/main">
            <a:r>
              <a:t>lights_obj 是已選中的物件，field_name 是 Lighting_Level，new_value 是 client 算好的新值。setattr 改記憶體，save 才寫出新檔案。查找、驗證、迴圈與變更日誌省略，但實際 client 仍執行完整作者函式。</a:t>
            </a:r>
          </a:p>
          <a:p xmlns:a="http://schemas.openxmlformats.org/drawingml/2006/main">
            <a:r>
              <a:t>來源：utils/lights_utils.py 226–231、335–347。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本工具回傳含 JSON 的文字，再由 SDK 包裝為 CallToolResult。MCP isError 與文字中的業務 success 是不同欄位。</a:t>
            </a:r>
          </a:p>
          <a:p xmlns:a="http://schemas.openxmlformats.org/drawingml/2006/main">
            <a:r>
              <a:t>client 先確認呼叫沒有錯誤，接著解析業務結果，確認 success、errors 和 total_modifications_applied。最後獨立讀回新檔。</a:t>
            </a:r>
          </a:p>
          <a:p xmlns:a="http://schemas.openxmlformats.org/drawingml/2006/main">
            <a:r>
              <a:t>原始碼可能容許格式合法但找不到目標的要求，所以不能只看 success。本次要求數量與產物差異都要符合預期。</a:t>
            </a:r>
          </a:p>
          <a:p xmlns:a="http://schemas.openxmlformats.org/drawingml/2006/main">
            <a:r>
              <a:t>來源：Notebook 重點程式與執行證據；transcript.json；作者 lights_utils.py。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這些數字來自本機修改結果與獨立 IDF 解析核對。表中的名稱縮寫為所屬 SPACE，完整 Lights 名稱保存在 Notebook 和變更紀錄。</a:t>
            </a:r>
          </a:p>
          <a:p xmlns:a="http://schemas.openxmlformats.org/drawingml/2006/main">
            <a:r>
              <a:t>原始總功率 7500 W，新值 5250 W。這只是照明設定總功率，不是整棟建築能耗。我們確認五個 Lighting_Level 變動，其他模型欄位未變，原檔 SHA-256 不變。</a:t>
            </a:r>
          </a:p>
          <a:p xmlns:a="http://schemas.openxmlformats.org/drawingml/2006/main">
            <a:r>
              <a:t>本次沒有在 Notebook 重跑能耗模擬。若要看先前模擬，附錄清楚標示為歷史結果。</a:t>
            </a:r>
          </a:p>
          <a:p xmlns:a="http://schemas.openxmlformats.org/drawingml/2006/main">
            <a:r>
              <a:t>來源：Notebook 重點程式與執行證據。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這頁可切換 Notebook 示範，不一定現場重跑全部。Notebook 已存好執行結果。先看工具 schema，證明工具是從 server 得到；再看 transcript 中的名稱、arguments 和回覆；最後看獨立 IDF 比較。</a:t>
            </a:r>
          </a:p>
          <a:p xmlns:a="http://schemas.openxmlformats.org/drawingml/2006/main">
            <a:r>
              <a:t>若現場要跑，先確認 VS Code kernel 是既有 energyplus-venv。Run All 會重做唯讀探索與修改，輸出到 notebook-run，不會重跑完整模擬。</a:t>
            </a:r>
          </a:p>
          <a:p xmlns:a="http://schemas.openxmlformats.org/drawingml/2006/main">
            <a:r>
              <a:t>如果沒有時間，直接展示保存輸出並說明生成方式。不要把協定示意 JSON 當成封包擷取紀錄。</a:t>
            </a:r>
          </a:p>
          <a:p xmlns:a="http://schemas.openxmlformats.org/drawingml/2006/main">
            <a:r>
              <a:t>來源：outputs/lighting-demo/modify_lights_逐步教學.ipynb。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清楚說明限制不是削弱工作，而是避免把介面成功誤當成 AI 能力成功。Python client 已指定工具與流程，因此沒有測試自然語言理解、工具選擇或自主規劃。</a:t>
            </a:r>
          </a:p>
          <a:p xmlns:a="http://schemas.openxmlformats.org/drawingml/2006/main">
            <a:r>
              <a:t>若加入 LLM，可以固定 server、模型和任務集合，測試工具選擇正確率、參數正確率、任務完成率、恢復錯誤能力和成本。</a:t>
            </a:r>
          </a:p>
          <a:p xmlns:a="http://schemas.openxmlformats.org/drawingml/2006/main">
            <a:r>
              <a:t>節能最優化也需要目標、約束、搜尋與比較，單次降低照明案例不能證明最佳解。</a:t>
            </a:r>
          </a:p>
          <a:p xmlns:a="http://schemas.openxmlformats.org/drawingml/2006/main">
            <a:r>
              <a:t>來源：本次實驗設計與 Notebook 重點程式與執行證據；論文案例見 https://doi.org/10.1016/j.softx.2025.102367。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結尾可用自己的話說：我理解了如何從工具描述形成呼叫，再追蹤到檔案變更，而且知道如何驗證。</a:t>
            </a:r>
          </a:p>
          <a:p xmlns:a="http://schemas.openxmlformats.org/drawingml/2006/main">
            <a:r>
              <a:t>老師可能問直接 Python 就能做為何需要 MCP。回答：直接 Python 可完成同樣任務，MCP 的價值在共同工具描述與通訊介面，方便相容 client 整合；本次尚未量化整合成本或可靠度收益。</a:t>
            </a:r>
          </a:p>
          <a:p xmlns:a="http://schemas.openxmlformats.org/drawingml/2006/main">
            <a:r>
              <a:t>下一步不必先深入所有建築物理，可先比較嚴格 schema、錯誤輸入與 readback verification 對任務成功的影響。不存在名稱的錯誤案例尚未在本次測試，請勿當成已驗證結果。</a:t>
            </a:r>
          </a:p>
          <a:p xmlns:a="http://schemas.openxmlformats.org/drawingml/2006/main">
            <a:r>
              <a:t>來源：Notebook 重點程式與執行證據；https://modelcontextprotocol.io/specification/2025-11-25/server/tools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論文圖 1 的五個區塊是該系統的責任劃分，不是 MCP 規範要求的固定五層，也不代表五個程序。</a:t>
            </a:r>
          </a:p>
          <a:p xmlns:a="http://schemas.openxmlformats.org/drawingml/2006/main">
            <a:r>
              <a:t>論文 Clients 區塊把 IDE、AI 助手與新 BEM 應用放在一起。嚴格說完整應用是 host，其中連線元件是 client。</a:t>
            </a:r>
          </a:p>
          <a:p xmlns:a="http://schemas.openxmlformats.org/drawingml/2006/main">
            <a:r>
              <a:t>整合層包含 eppy 讀寫、檔案、氣象和 EnergyPlus 引擎。這次只走讀寫 IDF 的部分，模擬時才啟動引擎。</a:t>
            </a:r>
          </a:p>
          <a:p xmlns:a="http://schemas.openxmlformats.org/drawingml/2006/main">
            <a:r>
              <a:t>來源：https://doi.org/10.1016/j.softx.2025.102367 Fig.1；https://github.com/LBNL-ETA/EnergyPlus-MCP/tree/5a7d3bb1d2e537ba329d3412c8b79d22cedd7c70。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環境版本：Python 3.12.13、MCP SDK 1.27.0、EnergyPlus 25.1.0。協商協定 2025-11-25。作者程式碼固定在 commit 5a7d3bb1d2e537ba329d3412c8b79d22cedd7c70。</a:t>
            </a:r>
          </a:p>
          <a:p xmlns:a="http://schemas.openxmlformats.org/drawingml/2006/main">
            <a:r>
              <a:t>本機 server_local.py 指定安裝路徑，並避免模擬日誌污染 stdio；作者 repo 本身未修改。Notebook 可重跑工具探索、修改及驗證。它依賴此工作區環境，並非單一可攜檔案。</a:t>
            </a:r>
          </a:p>
          <a:p xmlns:a="http://schemas.openxmlformats.org/drawingml/2006/main">
            <a:r>
              <a:t>來源：https://doi.org/10.1016/j.softx.2025.102367</a:t>
            </a:r>
          </a:p>
          <a:p xmlns:a="http://schemas.openxmlformats.org/drawingml/2006/main">
            <a:r>
              <a:t>https://github.com/LBNL-ETA/EnergyPlus-MCP/tree/5a7d3bb1d2e537ba329d3412c8b79d22cedd7c70</a:t>
            </a:r>
          </a:p>
          <a:p xmlns:a="http://schemas.openxmlformats.org/drawingml/2006/main">
            <a:r>
              <a:t>https://modelcontextprotocol.io/specification/2025-11-25/server/tools</a:t>
            </a:r>
          </a:p>
          <a:p xmlns:a="http://schemas.openxmlformats.org/drawingml/2006/main">
            <a:r>
              <a:t>https://modelcontextprotocol.io/specification/2025-11-25/basic/lifecycle</a:t>
            </a:r>
          </a:p>
          <a:p xmlns:a="http://schemas.openxmlformats.org/drawingml/2006/main">
            <a:r>
              <a:t>本機：outputs/lighting-demo/modify_lights_逐步教學.ipynb；notebook-run 下有 discovery-initialization.json、discovered-tools.json、tool-schema.json、transcript.json、notebook_lights.idf。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bdc9b6b3e5b4da0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d9f5feab5fc4283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9195d7777fa4a6a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036df0c2b8244d9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5c0d2ab7edb4478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33cd8e30dd44514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97479782-0497-4394-AA06-BE4C0EE69853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590800"/>
            <a:ext cx="97536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D455A473-7B26-4674-B986-612202AD9868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828800" y="3771900"/>
            <a:ext cx="8534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45734036-F684-4FEE-A500-6CC8B3CB0272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857500"/>
            <a:ext cx="97536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E78D9EBE-08AD-4251-A9B7-7FC9E8B2A639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A13845C0-FD75-4A61-B188-C339858717EB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108204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70278D40-531C-4A1C-A83F-23568AC202C0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7B3AF4C7-AA9D-470D-B809-6B0A15ADE17E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  <p:sp>
        <p:nvSpPr>
          <p:cNvPr id="3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7DB65335-FF0A-4FCC-95FE-C7ACC0452D59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4770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B0708E56-B2CA-42E6-99A6-F0AF7CB9141B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0EE0B9FD-29C3-416D-8DD9-43BB6FCFF657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d9e517a3b3d24e45" /><Relationship Type="http://schemas.openxmlformats.org/officeDocument/2006/relationships/slideLayout" Target="/ppt/slideLayouts/slideLayout1.xml" Id="R22f3d4e2aad34c93" /><Relationship Type="http://schemas.openxmlformats.org/officeDocument/2006/relationships/slideLayout" Target="/ppt/slideLayouts/slideLayout2.xml" Id="R513e81b401014547" /><Relationship Type="http://schemas.openxmlformats.org/officeDocument/2006/relationships/slideLayout" Target="/ppt/slideLayouts/slideLayout3.xml" Id="R92996763e6834286" /><Relationship Type="http://schemas.openxmlformats.org/officeDocument/2006/relationships/slideLayout" Target="/ppt/slideLayouts/slideLayout4.xml" Id="R34247e6aecf5481d" /><Relationship Type="http://schemas.openxmlformats.org/officeDocument/2006/relationships/slideLayout" Target="/ppt/slideLayouts/slideLayout5.xml" Id="R159cc7a2c382424b" /><Relationship Type="http://schemas.openxmlformats.org/officeDocument/2006/relationships/slideLayout" Target="/ppt/slideLayouts/slideLayout6.xml" Id="R34927536b5ab4035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22f3d4e2aad34c93"/>
    <p:sldLayoutId xmlns:r="http://schemas.openxmlformats.org/officeDocument/2006/relationships" id="2147483650" r:id="R513e81b401014547"/>
    <p:sldLayoutId xmlns:r="http://schemas.openxmlformats.org/officeDocument/2006/relationships" id="2147483651" r:id="R92996763e6834286"/>
    <p:sldLayoutId xmlns:r="http://schemas.openxmlformats.org/officeDocument/2006/relationships" id="2147483652" r:id="R34247e6aecf5481d"/>
    <p:sldLayoutId xmlns:r="http://schemas.openxmlformats.org/officeDocument/2006/relationships" id="2147483653" r:id="R159cc7a2c382424b"/>
    <p:sldLayoutId xmlns:r="http://schemas.openxmlformats.org/officeDocument/2006/relationships" id="2147483654" r:id="R34927536b5ab4035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2cd4f07a906948ca" /><Relationship Type="http://schemas.openxmlformats.org/officeDocument/2006/relationships/notesSlide" Target="/ppt/notesSlides/notesSlide1.xml" Id="Rc607b0113878422b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3d0ed12e68e24c3f" /><Relationship Type="http://schemas.openxmlformats.org/officeDocument/2006/relationships/notesSlide" Target="/ppt/notesSlides/notesSlide2.xml" Id="R53d868bede094614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2e5656bbf1fb4d71" /><Relationship Type="http://schemas.openxmlformats.org/officeDocument/2006/relationships/notesSlide" Target="/ppt/notesSlides/notesSlide3.xml" Id="Rd8bffbac71014a07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bfba8396b6e94d4c" /><Relationship Type="http://schemas.openxmlformats.org/officeDocument/2006/relationships/notesSlide" Target="/ppt/notesSlides/notesSlide4.xml" Id="Rcd4c3dcc36334c4f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d89d3b138c894a99" /><Relationship Type="http://schemas.openxmlformats.org/officeDocument/2006/relationships/notesSlide" Target="/ppt/notesSlides/notesSlide5.xml" Id="R30ca936c3b4e4eea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cb1a8f26154a4154" /><Relationship Type="http://schemas.openxmlformats.org/officeDocument/2006/relationships/notesSlide" Target="/ppt/notesSlides/notesSlide6.xml" Id="Rfb61f6327686424f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4e4bc7f4e05740b5" /><Relationship Type="http://schemas.openxmlformats.org/officeDocument/2006/relationships/notesSlide" Target="/ppt/notesSlides/notesSlide7.xml" Id="R1f8f33441c3540bb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cea6c9348132477c" /><Relationship Type="http://schemas.openxmlformats.org/officeDocument/2006/relationships/notesSlide" Target="/ppt/notesSlides/notesSlide8.xml" Id="R29940ad5116a4e9e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19d0a1fe1ed54e03" /><Relationship Type="http://schemas.openxmlformats.org/officeDocument/2006/relationships/notesSlide" Target="/ppt/notesSlides/notesSlide9.xml" Id="Radf18437f10c4fe7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c2b19356afe14ca9" /><Relationship Type="http://schemas.openxmlformats.org/officeDocument/2006/relationships/notesSlide" Target="/ppt/notesSlides/notesSlide10.xml" Id="Rf0d0ad4f0ca249e2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ac9211d178b8437f" /><Relationship Type="http://schemas.openxmlformats.org/officeDocument/2006/relationships/notesSlide" Target="/ppt/notesSlides/notesSlide11.xml" Id="R9ce1b009535344e3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2fa1a17c1e484fcd" /><Relationship Type="http://schemas.openxmlformats.org/officeDocument/2006/relationships/notesSlide" Target="/ppt/notesSlides/notesSlide12.xml" Id="R6d274ad4c78a4c97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e5dc10a6d24a4ef5" /><Relationship Type="http://schemas.openxmlformats.org/officeDocument/2006/relationships/notesSlide" Target="/ppt/notesSlides/notesSlide13.xml" Id="Rf43fa55424004034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401f16a66aa74feb" /><Relationship Type="http://schemas.openxmlformats.org/officeDocument/2006/relationships/notesSlide" Target="/ppt/notesSlides/notesSlide14.xml" Id="R8628f11862c94761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17cb0155f7b04ddc" /><Relationship Type="http://schemas.openxmlformats.org/officeDocument/2006/relationships/notesSlide" Target="/ppt/notesSlides/notesSlide15.xml" Id="R5c3e068582d14e85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49b8d276ddad4c75" /><Relationship Type="http://schemas.openxmlformats.org/officeDocument/2006/relationships/notesSlide" Target="/ppt/notesSlides/notesSlide16.xml" Id="R2cec6d72c68a4114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e90c22aa510d47d9" /><Relationship Type="http://schemas.openxmlformats.org/officeDocument/2006/relationships/notesSlide" Target="/ppt/notesSlides/notesSlide17.xml" Id="Rbbff7d8748c24141" /></Relationships>
</file>

<file path=ppt/slides/_rels/slide18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e0632aeec4a542ec" /><Relationship Type="http://schemas.openxmlformats.org/officeDocument/2006/relationships/notesSlide" Target="/ppt/notesSlides/notesSlide18.xml" Id="R4e20fa5b16a4400a" /></Relationships>
</file>

<file path=ppt/slides/_rels/slide19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e6f9bb6ba7f04c18" /><Relationship Type="http://schemas.openxmlformats.org/officeDocument/2006/relationships/notesSlide" Target="/ppt/notesSlides/notesSlide19.xml" Id="Ra95e29952dbb4b0d" /></Relationships>
</file>

<file path=ppt/slides/_rels/slide20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05906c4648ef4826" /><Relationship Type="http://schemas.openxmlformats.org/officeDocument/2006/relationships/notesSlide" Target="/ppt/notesSlides/notesSlide20.xml" Id="Recf7a3dcd2a94481" /></Relationships>
</file>

<file path=ppt/slides/_rels/slide2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357604d2fc7843ca" /><Relationship Type="http://schemas.openxmlformats.org/officeDocument/2006/relationships/notesSlide" Target="/ppt/notesSlides/notesSlide21.xml" Id="R35bec7707b0d4b92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B3B9F65-72CA-49CA-ABB4-2C013BE38B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5750"/>
            <a:ext cx="10763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425" b="1">
                <a:solidFill>
                  <a:srgbClr val="007C83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1425" b="1">
                <a:solidFill>
                  <a:srgbClr val="007C83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1425" b="1">
                <a:solidFill>
                  <a:srgbClr val="007C83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1425" b="1">
                <a:solidFill>
                  <a:srgbClr val="007C83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1425" b="1">
                <a:solidFill>
                  <a:srgbClr val="007C83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1425" b="1">
                <a:solidFill>
                  <a:srgbClr val="007C83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1425" b="1">
                <a:solidFill>
                  <a:srgbClr val="007C83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1425" b="1">
                <a:solidFill>
                  <a:srgbClr val="007C83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1425" b="1">
                <a:solidFill>
                  <a:srgbClr val="007C83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1425" b="1">
                <a:solidFill>
                  <a:srgbClr val="007C83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1425" b="1">
                <a:solidFill>
                  <a:srgbClr val="007C83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425" b="1">
                <a:solidFill>
                  <a:srgbClr val="007C83"/>
                </a:solidFill>
                <a:latin typeface="Microsoft JhengHei"/>
                <a:ea typeface="Microsoft JhengHei"/>
                <a:cs typeface="Microsoft JhengHei"/>
              </a:rPr>
              <a:t>LAB MEETING  /  論文導讀與程式驗證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AED0A58-BC09-4B89-BA43-F1829A0A47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09625"/>
            <a:ext cx="109728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225" b="1">
                <a:solidFill>
                  <a:srgbClr val="132C44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3225" b="1">
                <a:solidFill>
                  <a:srgbClr val="132C44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3225" b="1">
                <a:solidFill>
                  <a:srgbClr val="132C44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3225" b="1">
                <a:solidFill>
                  <a:srgbClr val="132C44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3225" b="1">
                <a:solidFill>
                  <a:srgbClr val="132C44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3225" b="1">
                <a:solidFill>
                  <a:srgbClr val="132C44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3225" b="1">
                <a:solidFill>
                  <a:srgbClr val="132C44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3225" b="1">
                <a:solidFill>
                  <a:srgbClr val="132C44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3225" b="1">
                <a:solidFill>
                  <a:srgbClr val="132C44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3225" b="1">
                <a:solidFill>
                  <a:srgbClr val="132C44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3225" b="1">
                <a:solidFill>
                  <a:srgbClr val="132C44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3225" b="1">
                <a:solidFill>
                  <a:srgbClr val="132C44"/>
                </a:solidFill>
                <a:latin typeface="Microsoft JhengHei"/>
                <a:ea typeface="Microsoft JhengHei"/>
                <a:cs typeface="Microsoft JhengHei"/>
              </a:rPr>
              <a:t>MCP 如何運作？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56A0C73-BFFD-40AD-800C-73DA6D9E2F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191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0">
                <a:solidFill>
                  <a:srgbClr val="4D6475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1200" b="0">
                <a:solidFill>
                  <a:srgbClr val="4D6475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1200" b="0">
                <a:solidFill>
                  <a:srgbClr val="4D6475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1200" b="0">
                <a:solidFill>
                  <a:srgbClr val="4D6475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1200" b="0">
                <a:solidFill>
                  <a:srgbClr val="4D6475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1200" b="0">
                <a:solidFill>
                  <a:srgbClr val="4D6475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1200" b="0">
                <a:solidFill>
                  <a:srgbClr val="4D6475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1200" b="0">
                <a:solidFill>
                  <a:srgbClr val="4D6475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1200" b="0">
                <a:solidFill>
                  <a:srgbClr val="4D6475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1200" b="0">
                <a:solidFill>
                  <a:srgbClr val="4D6475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4D647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00" b="0">
                <a:solidFill>
                  <a:srgbClr val="4D6475"/>
                </a:solidFill>
                <a:latin typeface="Microsoft JhengHei"/>
                <a:ea typeface="Microsoft JhengHei"/>
                <a:cs typeface="Microsoft JhengHei"/>
              </a:rPr>
              <a:t>EnergyPlus-MCP  ·  MCP 工具流程實作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43DD688-6995-43BF-91BA-1CC362DDFA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19850"/>
            <a:ext cx="6286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0">
                <a:solidFill>
                  <a:srgbClr val="4D6475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1200" b="0">
                <a:solidFill>
                  <a:srgbClr val="4D6475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1200" b="0">
                <a:solidFill>
                  <a:srgbClr val="4D6475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1200" b="0">
                <a:solidFill>
                  <a:srgbClr val="4D6475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1200" b="0">
                <a:solidFill>
                  <a:srgbClr val="4D6475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1200" b="0">
                <a:solidFill>
                  <a:srgbClr val="4D6475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1200" b="0">
                <a:solidFill>
                  <a:srgbClr val="4D6475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1200" b="0">
                <a:solidFill>
                  <a:srgbClr val="4D6475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1200" b="0">
                <a:solidFill>
                  <a:srgbClr val="4D6475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1200" b="0">
                <a:solidFill>
                  <a:srgbClr val="4D6475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4D647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00" b="0">
                <a:solidFill>
                  <a:srgbClr val="4D6475"/>
                </a:solidFill>
                <a:latin typeface="Microsoft JhengHei"/>
                <a:ea typeface="Microsoft JhengHei"/>
                <a:cs typeface="Microsoft JhengHei"/>
              </a:rPr>
              <a:t>01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FC7CA02-276B-4CA6-8002-819D69B0DA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95500"/>
            <a:ext cx="109728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225" b="1">
                <a:solidFill>
                  <a:srgbClr val="132C44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3225" b="1">
                <a:solidFill>
                  <a:srgbClr val="132C44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3225" b="1">
                <a:solidFill>
                  <a:srgbClr val="132C44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3225" b="1">
                <a:solidFill>
                  <a:srgbClr val="132C44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3225" b="1">
                <a:solidFill>
                  <a:srgbClr val="132C44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3225" b="1">
                <a:solidFill>
                  <a:srgbClr val="132C44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3225" b="1">
                <a:solidFill>
                  <a:srgbClr val="132C44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3225" b="1">
                <a:solidFill>
                  <a:srgbClr val="132C44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3225" b="1">
                <a:solidFill>
                  <a:srgbClr val="132C44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3225" b="1">
                <a:solidFill>
                  <a:srgbClr val="132C44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3225" b="1">
                <a:solidFill>
                  <a:srgbClr val="132C44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3225" b="1">
                <a:solidFill>
                  <a:srgbClr val="132C44"/>
                </a:solidFill>
                <a:latin typeface="Microsoft JhengHei"/>
                <a:ea typeface="Microsoft JhengHei"/>
                <a:cs typeface="Microsoft JhengHei"/>
              </a:rPr>
              <a:t>EnergyPlus-MCP 的工具呼叫與結果驗證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E28E382-51F3-4D4A-B04D-58E17C29F5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76625"/>
            <a:ext cx="1097280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250" b="0">
                <a:solidFill>
                  <a:srgbClr val="132C44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2250" b="0">
                <a:solidFill>
                  <a:srgbClr val="132C44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2250" b="0">
                <a:solidFill>
                  <a:srgbClr val="132C44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2250" b="0">
                <a:solidFill>
                  <a:srgbClr val="132C44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2250" b="0">
                <a:solidFill>
                  <a:srgbClr val="132C44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2250" b="0">
                <a:solidFill>
                  <a:srgbClr val="132C44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2250" b="0">
                <a:solidFill>
                  <a:srgbClr val="132C44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2250" b="0">
                <a:solidFill>
                  <a:srgbClr val="132C44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2250" b="0">
                <a:solidFill>
                  <a:srgbClr val="132C44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2250" b="0">
                <a:solidFill>
                  <a:srgbClr val="132C44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2250" b="0">
                <a:solidFill>
                  <a:srgbClr val="132C44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250" b="0">
                <a:solidFill>
                  <a:srgbClr val="132C44"/>
                </a:solidFill>
                <a:latin typeface="Microsoft JhengHei"/>
                <a:ea typeface="Microsoft JhengHei"/>
                <a:cs typeface="Microsoft JhengHei"/>
              </a:rPr>
              <a:t>同一個案例：將五個照明設定各降低 30%，另存新模型。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8AC97AD-63D8-49C1-BC13-3142214538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667250"/>
            <a:ext cx="109728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325" b="1">
                <a:solidFill>
                  <a:srgbClr val="007C83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2325" b="1">
                <a:solidFill>
                  <a:srgbClr val="007C83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2325" b="1">
                <a:solidFill>
                  <a:srgbClr val="007C83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2325" b="1">
                <a:solidFill>
                  <a:srgbClr val="007C83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2325" b="1">
                <a:solidFill>
                  <a:srgbClr val="007C83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2325" b="1">
                <a:solidFill>
                  <a:srgbClr val="007C83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2325" b="1">
                <a:solidFill>
                  <a:srgbClr val="007C83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2325" b="1">
                <a:solidFill>
                  <a:srgbClr val="007C83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2325" b="1">
                <a:solidFill>
                  <a:srgbClr val="007C83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2325" b="1">
                <a:solidFill>
                  <a:srgbClr val="007C83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2325" b="1">
                <a:solidFill>
                  <a:srgbClr val="007C83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325" b="1">
                <a:solidFill>
                  <a:srgbClr val="007C83"/>
                </a:solidFill>
                <a:latin typeface="Microsoft JhengHei"/>
                <a:ea typeface="Microsoft JhengHei"/>
                <a:cs typeface="Microsoft JhengHei"/>
              </a:rPr>
              <a:t>工具發現   /   參數格式   /   工具呼叫</a:t>
            </a:r>
          </a:p>
          <a:p xmlns:a="http://schemas.openxmlformats.org/drawingml/2006/main">
            <a:pPr>
              <a:defRPr sz="2325" b="1">
                <a:solidFill>
                  <a:srgbClr val="007C83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325" b="1">
                <a:solidFill>
                  <a:srgbClr val="007C83"/>
                </a:solidFill>
                <a:latin typeface="Microsoft JhengHei"/>
                <a:ea typeface="Microsoft JhengHei"/>
                <a:cs typeface="Microsoft JhengHei"/>
              </a:rPr>
              <a:t>Server 執行   /   產物驗證</a:t>
            </a:r>
          </a:p>
        </p:txBody>
      </p:sp>
    </p:spTree>
    <p:extLst>
      <p:ext uri="{BB962C8B-B14F-4D97-AF65-F5344CB8AC3E}">
        <p14:creationId xmlns:p14="http://schemas.microsoft.com/office/powerpoint/2010/main" val="2088807284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81C83E0-9A91-48A1-B597-C5CF648CBD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5750"/>
            <a:ext cx="10763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425" b="1">
                <a:solidFill>
                  <a:srgbClr val="007C83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1425" b="1">
                <a:solidFill>
                  <a:srgbClr val="007C83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1425" b="1">
                <a:solidFill>
                  <a:srgbClr val="007C83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1425" b="1">
                <a:solidFill>
                  <a:srgbClr val="007C83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1425" b="1">
                <a:solidFill>
                  <a:srgbClr val="007C83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1425" b="1">
                <a:solidFill>
                  <a:srgbClr val="007C83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1425" b="1">
                <a:solidFill>
                  <a:srgbClr val="007C83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1425" b="1">
                <a:solidFill>
                  <a:srgbClr val="007C83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1425" b="1">
                <a:solidFill>
                  <a:srgbClr val="007C83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1425" b="1">
                <a:solidFill>
                  <a:srgbClr val="007C83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1425" b="1">
                <a:solidFill>
                  <a:srgbClr val="007C83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425" b="1">
                <a:solidFill>
                  <a:srgbClr val="007C83"/>
                </a:solidFill>
                <a:latin typeface="Microsoft JhengHei"/>
                <a:ea typeface="Microsoft JhengHei"/>
                <a:cs typeface="Microsoft JhengHei"/>
              </a:rPr>
              <a:t>01  /  研究定位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41AF1E6-D480-457F-9EAD-C5089F34CA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09625"/>
            <a:ext cx="109728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225" b="1">
                <a:solidFill>
                  <a:srgbClr val="132C44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3225" b="1">
                <a:solidFill>
                  <a:srgbClr val="132C44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3225" b="1">
                <a:solidFill>
                  <a:srgbClr val="132C44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3225" b="1">
                <a:solidFill>
                  <a:srgbClr val="132C44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3225" b="1">
                <a:solidFill>
                  <a:srgbClr val="132C44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3225" b="1">
                <a:solidFill>
                  <a:srgbClr val="132C44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3225" b="1">
                <a:solidFill>
                  <a:srgbClr val="132C44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3225" b="1">
                <a:solidFill>
                  <a:srgbClr val="132C44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3225" b="1">
                <a:solidFill>
                  <a:srgbClr val="132C44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3225" b="1">
                <a:solidFill>
                  <a:srgbClr val="132C44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3225" b="1">
                <a:solidFill>
                  <a:srgbClr val="132C44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3225" b="1">
                <a:solidFill>
                  <a:srgbClr val="132C44"/>
                </a:solidFill>
                <a:latin typeface="Microsoft JhengHei"/>
                <a:ea typeface="Microsoft JhengHei"/>
                <a:cs typeface="Microsoft JhengHei"/>
              </a:rPr>
              <a:t>論文貢獻在於串接專業工具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44895A4-49EC-41BE-9CE8-ECF6D38AC3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191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0">
                <a:solidFill>
                  <a:srgbClr val="4D6475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1200" b="0">
                <a:solidFill>
                  <a:srgbClr val="4D6475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1200" b="0">
                <a:solidFill>
                  <a:srgbClr val="4D6475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1200" b="0">
                <a:solidFill>
                  <a:srgbClr val="4D6475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1200" b="0">
                <a:solidFill>
                  <a:srgbClr val="4D6475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1200" b="0">
                <a:solidFill>
                  <a:srgbClr val="4D6475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1200" b="0">
                <a:solidFill>
                  <a:srgbClr val="4D6475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1200" b="0">
                <a:solidFill>
                  <a:srgbClr val="4D6475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1200" b="0">
                <a:solidFill>
                  <a:srgbClr val="4D6475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1200" b="0">
                <a:solidFill>
                  <a:srgbClr val="4D6475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4D647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00" b="0">
                <a:solidFill>
                  <a:srgbClr val="4D6475"/>
                </a:solidFill>
                <a:latin typeface="Microsoft JhengHei"/>
                <a:ea typeface="Microsoft JhengHei"/>
                <a:cs typeface="Microsoft JhengHei"/>
              </a:rPr>
              <a:t>來源：Li et al., SoftwareX 32 (2025), 102367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619CF43-5963-4BE2-A0B1-6AC2B46DF0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19850"/>
            <a:ext cx="6286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0">
                <a:solidFill>
                  <a:srgbClr val="4D6475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1200" b="0">
                <a:solidFill>
                  <a:srgbClr val="4D6475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1200" b="0">
                <a:solidFill>
                  <a:srgbClr val="4D6475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1200" b="0">
                <a:solidFill>
                  <a:srgbClr val="4D6475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1200" b="0">
                <a:solidFill>
                  <a:srgbClr val="4D6475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1200" b="0">
                <a:solidFill>
                  <a:srgbClr val="4D6475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1200" b="0">
                <a:solidFill>
                  <a:srgbClr val="4D6475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1200" b="0">
                <a:solidFill>
                  <a:srgbClr val="4D6475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1200" b="0">
                <a:solidFill>
                  <a:srgbClr val="4D6475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1200" b="0">
                <a:solidFill>
                  <a:srgbClr val="4D6475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4D647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00" b="0">
                <a:solidFill>
                  <a:srgbClr val="4D6475"/>
                </a:solidFill>
                <a:latin typeface="Microsoft JhengHei"/>
                <a:ea typeface="Microsoft JhengHei"/>
                <a:cs typeface="Microsoft JhengHei"/>
              </a:rPr>
              <a:t>02</a:t>
            </a:r>
          </a:p>
        </p:txBody>
      </p:sp>
      <p:graphicFrame>
        <p:nvGraphicFrame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90B541C-C51D-45EC-B2DE-A8FB53848103}"/>
              </a:ext>
            </a:extLst>
          </p:cNvPr>
          <p:cNvGraphicFramePr/>
          <p:nvPr/>
        </p:nvGraphicFramePr>
        <p:xfrm>
          <a:off xmlns:a="http://schemas.openxmlformats.org/drawingml/2006/main" x="609600" y="1952625"/>
          <a:ext xmlns:a="http://schemas.openxmlformats.org/drawingml/2006/main" cx="10972800" cy="31432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3714750"/>
                <a:gridCol w="7258050"/>
              </a:tblGrid>
              <a:tr h="785813">
                <a:tc>
                  <a:txBody>
                    <a:bodyPr/>
                    <a:lstStyle/>
                    <a:p>
                      <a:r>
                        <a:rPr sz="1950" b="1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組件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D9E4E8"/>
                      </a:solidFill>
                      <a:prstDash val="solid"/>
                    </a:lnL>
                    <a:lnR w="9525">
                      <a:solidFill>
                        <a:srgbClr val="D9E4E8"/>
                      </a:solidFill>
                      <a:prstDash val="solid"/>
                    </a:lnR>
                    <a:lnT w="9525">
                      <a:solidFill>
                        <a:srgbClr val="D9E4E8"/>
                      </a:solidFill>
                      <a:prstDash val="solid"/>
                    </a:lnT>
                    <a:lnB w="9525">
                      <a:solidFill>
                        <a:srgbClr val="D9E4E8"/>
                      </a:solidFill>
                      <a:prstDash val="solid"/>
                    </a:lnB>
                    <a:solidFill>
                      <a:srgbClr val="132C4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1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負責什麼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9E4E8"/>
                      </a:solidFill>
                      <a:prstDash val="solid"/>
                    </a:lnR>
                    <a:lnT w="9525">
                      <a:solidFill>
                        <a:srgbClr val="D9E4E8"/>
                      </a:solidFill>
                      <a:prstDash val="solid"/>
                    </a:lnT>
                    <a:lnB w="9525">
                      <a:solidFill>
                        <a:srgbClr val="D9E4E8"/>
                      </a:solidFill>
                      <a:prstDash val="solid"/>
                    </a:lnB>
                    <a:solidFill>
                      <a:srgbClr val="132C44"/>
                    </a:solidFill>
                  </a:tcPr>
                </a:tc>
              </a:tr>
              <a:tr h="785813"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132C44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LLM／應用程式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D9E4E8"/>
                      </a:solidFill>
                      <a:prstDash val="solid"/>
                    </a:lnL>
                    <a:lnR w="9525">
                      <a:solidFill>
                        <a:srgbClr val="D9E4E8"/>
                      </a:solidFill>
                      <a:prstDash val="solid"/>
                    </a:lnR>
                    <a:lnB w="9525">
                      <a:solidFill>
                        <a:srgbClr val="D9E4E8"/>
                      </a:solidFill>
                      <a:prstDash val="solid"/>
                    </a:lnB>
                    <a:solidFill>
                      <a:srgbClr val="EEF5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132C44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理解任務、選工具、準備參數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9E4E8"/>
                      </a:solidFill>
                      <a:prstDash val="solid"/>
                    </a:lnR>
                    <a:lnB w="9525">
                      <a:solidFill>
                        <a:srgbClr val="D9E4E8"/>
                      </a:solidFill>
                      <a:prstDash val="solid"/>
                    </a:lnB>
                    <a:solidFill>
                      <a:srgbClr val="EEF5F6"/>
                    </a:solidFill>
                  </a:tcPr>
                </a:tc>
              </a:tr>
              <a:tr h="785813"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132C44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EnergyPlus-MCP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D9E4E8"/>
                      </a:solidFill>
                      <a:prstDash val="solid"/>
                    </a:lnL>
                    <a:lnR w="9525">
                      <a:solidFill>
                        <a:srgbClr val="D9E4E8"/>
                      </a:solidFill>
                      <a:prstDash val="solid"/>
                    </a:lnR>
                    <a:lnB w="9525">
                      <a:solidFill>
                        <a:srgbClr val="D9E4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132C44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公開工具，接收要求並執行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9E4E8"/>
                      </a:solidFill>
                      <a:prstDash val="solid"/>
                    </a:lnR>
                    <a:lnB w="9525">
                      <a:solidFill>
                        <a:srgbClr val="D9E4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785813"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132C44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EnergyPlus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D9E4E8"/>
                      </a:solidFill>
                      <a:prstDash val="solid"/>
                    </a:lnL>
                    <a:lnR w="9525">
                      <a:solidFill>
                        <a:srgbClr val="D9E4E8"/>
                      </a:solidFill>
                      <a:prstDash val="solid"/>
                    </a:lnR>
                    <a:lnB w="9525">
                      <a:solidFill>
                        <a:srgbClr val="D9E4E8"/>
                      </a:solidFill>
                      <a:prstDash val="solid"/>
                    </a:lnB>
                    <a:solidFill>
                      <a:srgbClr val="EEF5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132C44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依建築模型與氣象計算能耗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9E4E8"/>
                      </a:solidFill>
                      <a:prstDash val="solid"/>
                    </a:lnR>
                    <a:lnB w="9525">
                      <a:solidFill>
                        <a:srgbClr val="D9E4E8"/>
                      </a:solidFill>
                      <a:prstDash val="solid"/>
                    </a:lnB>
                    <a:solidFill>
                      <a:srgbClr val="EEF5F6"/>
                    </a:solidFill>
                  </a:tcPr>
                </a:tc>
              </a:tr>
            </a:tbl>
          </a:graphicData>
        </a:graphic>
      </p:graphicFrame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6C26B43-9323-487A-A306-9D690EF748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81650"/>
            <a:ext cx="109728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025" b="1">
                <a:solidFill>
                  <a:srgbClr val="007C83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2025" b="1">
                <a:solidFill>
                  <a:srgbClr val="007C83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2025" b="1">
                <a:solidFill>
                  <a:srgbClr val="007C83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2025" b="1">
                <a:solidFill>
                  <a:srgbClr val="007C83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2025" b="1">
                <a:solidFill>
                  <a:srgbClr val="007C83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2025" b="1">
                <a:solidFill>
                  <a:srgbClr val="007C83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2025" b="1">
                <a:solidFill>
                  <a:srgbClr val="007C83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2025" b="1">
                <a:solidFill>
                  <a:srgbClr val="007C83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2025" b="1">
                <a:solidFill>
                  <a:srgbClr val="007C83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2025" b="1">
                <a:solidFill>
                  <a:srgbClr val="007C83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2025" b="1">
                <a:solidFill>
                  <a:srgbClr val="007C83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025" b="1">
                <a:solidFill>
                  <a:srgbClr val="007C83"/>
                </a:solidFill>
                <a:latin typeface="Microsoft JhengHei"/>
                <a:ea typeface="Microsoft JhengHei"/>
                <a:cs typeface="Microsoft JhengHei"/>
              </a:rPr>
              <a:t>本次問題：一個修改要求如何變成可驗證的新檔案？</a:t>
            </a:r>
          </a:p>
        </p:txBody>
      </p:sp>
    </p:spTree>
    <p:extLst>
      <p:ext uri="{BB962C8B-B14F-4D97-AF65-F5344CB8AC3E}">
        <p14:creationId xmlns:p14="http://schemas.microsoft.com/office/powerpoint/2010/main" val="8209583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F71AAC5-0D10-49A0-AAF9-8DE5BCD0CD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5750"/>
            <a:ext cx="10763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425" b="1">
                <a:solidFill>
                  <a:srgbClr val="007C83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1425" b="1">
                <a:solidFill>
                  <a:srgbClr val="007C83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1425" b="1">
                <a:solidFill>
                  <a:srgbClr val="007C83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1425" b="1">
                <a:solidFill>
                  <a:srgbClr val="007C83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1425" b="1">
                <a:solidFill>
                  <a:srgbClr val="007C83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1425" b="1">
                <a:solidFill>
                  <a:srgbClr val="007C83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1425" b="1">
                <a:solidFill>
                  <a:srgbClr val="007C83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1425" b="1">
                <a:solidFill>
                  <a:srgbClr val="007C83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1425" b="1">
                <a:solidFill>
                  <a:srgbClr val="007C83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1425" b="1">
                <a:solidFill>
                  <a:srgbClr val="007C83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1425" b="1">
                <a:solidFill>
                  <a:srgbClr val="007C83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425" b="1">
                <a:solidFill>
                  <a:srgbClr val="007C83"/>
                </a:solidFill>
                <a:latin typeface="Microsoft JhengHei"/>
                <a:ea typeface="Microsoft JhengHei"/>
                <a:cs typeface="Microsoft JhengHei"/>
              </a:rPr>
              <a:t>02  /  HOST · CLIENT · SERVER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BE061BD-5E30-4BD8-BE6E-F44720FEEF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09625"/>
            <a:ext cx="109728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225" b="1">
                <a:solidFill>
                  <a:srgbClr val="132C44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3225" b="1">
                <a:solidFill>
                  <a:srgbClr val="132C44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3225" b="1">
                <a:solidFill>
                  <a:srgbClr val="132C44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3225" b="1">
                <a:solidFill>
                  <a:srgbClr val="132C44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3225" b="1">
                <a:solidFill>
                  <a:srgbClr val="132C44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3225" b="1">
                <a:solidFill>
                  <a:srgbClr val="132C44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3225" b="1">
                <a:solidFill>
                  <a:srgbClr val="132C44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3225" b="1">
                <a:solidFill>
                  <a:srgbClr val="132C44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3225" b="1">
                <a:solidFill>
                  <a:srgbClr val="132C44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3225" b="1">
                <a:solidFill>
                  <a:srgbClr val="132C44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3225" b="1">
                <a:solidFill>
                  <a:srgbClr val="132C44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3225" b="1">
                <a:solidFill>
                  <a:srgbClr val="132C44"/>
                </a:solidFill>
                <a:latin typeface="Microsoft JhengHei"/>
                <a:ea typeface="Microsoft JhengHei"/>
                <a:cs typeface="Microsoft JhengHei"/>
              </a:rPr>
              <a:t>MCP 是協定，角色各有責任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389FE93-3453-479D-95CF-0CE841802B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191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0">
                <a:solidFill>
                  <a:srgbClr val="4D6475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1200" b="0">
                <a:solidFill>
                  <a:srgbClr val="4D6475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1200" b="0">
                <a:solidFill>
                  <a:srgbClr val="4D6475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1200" b="0">
                <a:solidFill>
                  <a:srgbClr val="4D6475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1200" b="0">
                <a:solidFill>
                  <a:srgbClr val="4D6475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1200" b="0">
                <a:solidFill>
                  <a:srgbClr val="4D6475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1200" b="0">
                <a:solidFill>
                  <a:srgbClr val="4D6475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1200" b="0">
                <a:solidFill>
                  <a:srgbClr val="4D6475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1200" b="0">
                <a:solidFill>
                  <a:srgbClr val="4D6475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1200" b="0">
                <a:solidFill>
                  <a:srgbClr val="4D6475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4D647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00" b="0">
                <a:solidFill>
                  <a:srgbClr val="4D6475"/>
                </a:solidFill>
                <a:latin typeface="Microsoft JhengHei"/>
                <a:ea typeface="Microsoft JhengHei"/>
                <a:cs typeface="Microsoft JhengHei"/>
              </a:rPr>
              <a:t>EnergyPlus-MCP  ·  MCP 工具流程實作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F63157F-88D9-4FD1-B9AD-B3656BAF71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19850"/>
            <a:ext cx="6286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0">
                <a:solidFill>
                  <a:srgbClr val="4D6475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1200" b="0">
                <a:solidFill>
                  <a:srgbClr val="4D6475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1200" b="0">
                <a:solidFill>
                  <a:srgbClr val="4D6475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1200" b="0">
                <a:solidFill>
                  <a:srgbClr val="4D6475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1200" b="0">
                <a:solidFill>
                  <a:srgbClr val="4D6475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1200" b="0">
                <a:solidFill>
                  <a:srgbClr val="4D6475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1200" b="0">
                <a:solidFill>
                  <a:srgbClr val="4D6475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1200" b="0">
                <a:solidFill>
                  <a:srgbClr val="4D6475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1200" b="0">
                <a:solidFill>
                  <a:srgbClr val="4D6475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1200" b="0">
                <a:solidFill>
                  <a:srgbClr val="4D6475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4D647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00" b="0">
                <a:solidFill>
                  <a:srgbClr val="4D6475"/>
                </a:solidFill>
                <a:latin typeface="Microsoft JhengHei"/>
                <a:ea typeface="Microsoft JhengHei"/>
                <a:cs typeface="Microsoft JhengHei"/>
              </a:rPr>
              <a:t>03</a:t>
            </a:r>
          </a:p>
        </p:txBody>
      </p:sp>
      <p:graphicFrame>
        <p:nvGraphicFrame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2BC74EC-9939-43E7-9269-E9916E990FC9}"/>
              </a:ext>
            </a:extLst>
          </p:cNvPr>
          <p:cNvGraphicFramePr/>
          <p:nvPr/>
        </p:nvGraphicFramePr>
        <p:xfrm>
          <a:off xmlns:a="http://schemas.openxmlformats.org/drawingml/2006/main" x="609600" y="1952625"/>
          <a:ext xmlns:a="http://schemas.openxmlformats.org/drawingml/2006/main" cx="10972800" cy="32385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095500"/>
                <a:gridCol w="4191000"/>
                <a:gridCol w="4686300"/>
              </a:tblGrid>
              <a:tr h="647700">
                <a:tc>
                  <a:txBody>
                    <a:bodyPr/>
                    <a:lstStyle/>
                    <a:p>
                      <a:r>
                        <a:rPr sz="1950" b="1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角色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D9E4E8"/>
                      </a:solidFill>
                      <a:prstDash val="solid"/>
                    </a:lnL>
                    <a:lnR w="9525">
                      <a:solidFill>
                        <a:srgbClr val="D9E4E8"/>
                      </a:solidFill>
                      <a:prstDash val="solid"/>
                    </a:lnR>
                    <a:lnT w="9525">
                      <a:solidFill>
                        <a:srgbClr val="D9E4E8"/>
                      </a:solidFill>
                      <a:prstDash val="solid"/>
                    </a:lnT>
                    <a:lnB w="9525">
                      <a:solidFill>
                        <a:srgbClr val="D9E4E8"/>
                      </a:solidFill>
                      <a:prstDash val="solid"/>
                    </a:lnB>
                    <a:solidFill>
                      <a:srgbClr val="132C4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1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本次對應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9E4E8"/>
                      </a:solidFill>
                      <a:prstDash val="solid"/>
                    </a:lnR>
                    <a:lnT w="9525">
                      <a:solidFill>
                        <a:srgbClr val="D9E4E8"/>
                      </a:solidFill>
                      <a:prstDash val="solid"/>
                    </a:lnT>
                    <a:lnB w="9525">
                      <a:solidFill>
                        <a:srgbClr val="D9E4E8"/>
                      </a:solidFill>
                      <a:prstDash val="solid"/>
                    </a:lnB>
                    <a:solidFill>
                      <a:srgbClr val="132C4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1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責任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9E4E8"/>
                      </a:solidFill>
                      <a:prstDash val="solid"/>
                    </a:lnR>
                    <a:lnT w="9525">
                      <a:solidFill>
                        <a:srgbClr val="D9E4E8"/>
                      </a:solidFill>
                      <a:prstDash val="solid"/>
                    </a:lnT>
                    <a:lnB w="9525">
                      <a:solidFill>
                        <a:srgbClr val="D9E4E8"/>
                      </a:solidFill>
                      <a:prstDash val="solid"/>
                    </a:lnB>
                    <a:solidFill>
                      <a:srgbClr val="132C44"/>
                    </a:solidFill>
                  </a:tcPr>
                </a:tc>
              </a:tr>
              <a:tr h="647700"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132C44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Host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D9E4E8"/>
                      </a:solidFill>
                      <a:prstDash val="solid"/>
                    </a:lnL>
                    <a:lnR w="9525">
                      <a:solidFill>
                        <a:srgbClr val="D9E4E8"/>
                      </a:solidFill>
                      <a:prstDash val="solid"/>
                    </a:lnR>
                    <a:lnB w="9525">
                      <a:solidFill>
                        <a:srgbClr val="D9E4E8"/>
                      </a:solidFill>
                      <a:prstDash val="solid"/>
                    </a:lnB>
                    <a:solidFill>
                      <a:srgbClr val="EEF5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132C44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Notebook／Python 應用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9E4E8"/>
                      </a:solidFill>
                      <a:prstDash val="solid"/>
                    </a:lnR>
                    <a:lnB w="9525">
                      <a:solidFill>
                        <a:srgbClr val="D9E4E8"/>
                      </a:solidFill>
                      <a:prstDash val="solid"/>
                    </a:lnB>
                    <a:solidFill>
                      <a:srgbClr val="EEF5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132C44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安排任務流程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9E4E8"/>
                      </a:solidFill>
                      <a:prstDash val="solid"/>
                    </a:lnR>
                    <a:lnB w="9525">
                      <a:solidFill>
                        <a:srgbClr val="D9E4E8"/>
                      </a:solidFill>
                      <a:prstDash val="solid"/>
                    </a:lnB>
                    <a:solidFill>
                      <a:srgbClr val="EEF5F6"/>
                    </a:solidFill>
                  </a:tcPr>
                </a:tc>
              </a:tr>
              <a:tr h="647700"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132C44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Client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D9E4E8"/>
                      </a:solidFill>
                      <a:prstDash val="solid"/>
                    </a:lnL>
                    <a:lnR w="9525">
                      <a:solidFill>
                        <a:srgbClr val="D9E4E8"/>
                      </a:solidFill>
                      <a:prstDash val="solid"/>
                    </a:lnR>
                    <a:lnB w="9525">
                      <a:solidFill>
                        <a:srgbClr val="D9E4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132C44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MCP ClientSession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9E4E8"/>
                      </a:solidFill>
                      <a:prstDash val="solid"/>
                    </a:lnR>
                    <a:lnB w="9525">
                      <a:solidFill>
                        <a:srgbClr val="D9E4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132C44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發送要求、接收結果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9E4E8"/>
                      </a:solidFill>
                      <a:prstDash val="solid"/>
                    </a:lnR>
                    <a:lnB w="9525">
                      <a:solidFill>
                        <a:srgbClr val="D9E4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647700"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132C44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Server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D9E4E8"/>
                      </a:solidFill>
                      <a:prstDash val="solid"/>
                    </a:lnL>
                    <a:lnR w="9525">
                      <a:solidFill>
                        <a:srgbClr val="D9E4E8"/>
                      </a:solidFill>
                      <a:prstDash val="solid"/>
                    </a:lnR>
                    <a:lnB w="9525">
                      <a:solidFill>
                        <a:srgbClr val="D9E4E8"/>
                      </a:solidFill>
                      <a:prstDash val="solid"/>
                    </a:lnB>
                    <a:solidFill>
                      <a:srgbClr val="EEF5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132C44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FastMCP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9E4E8"/>
                      </a:solidFill>
                      <a:prstDash val="solid"/>
                    </a:lnR>
                    <a:lnB w="9525">
                      <a:solidFill>
                        <a:srgbClr val="D9E4E8"/>
                      </a:solidFill>
                      <a:prstDash val="solid"/>
                    </a:lnB>
                    <a:solidFill>
                      <a:srgbClr val="EEF5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132C44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列工具、分派執行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9E4E8"/>
                      </a:solidFill>
                      <a:prstDash val="solid"/>
                    </a:lnR>
                    <a:lnB w="9525">
                      <a:solidFill>
                        <a:srgbClr val="D9E4E8"/>
                      </a:solidFill>
                      <a:prstDash val="solid"/>
                    </a:lnB>
                    <a:solidFill>
                      <a:srgbClr val="EEF5F6"/>
                    </a:solidFill>
                  </a:tcPr>
                </a:tc>
              </a:tr>
              <a:tr h="647700"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132C44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領域程式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D9E4E8"/>
                      </a:solidFill>
                      <a:prstDash val="solid"/>
                    </a:lnL>
                    <a:lnR w="9525">
                      <a:solidFill>
                        <a:srgbClr val="D9E4E8"/>
                      </a:solidFill>
                      <a:prstDash val="solid"/>
                    </a:lnR>
                    <a:lnB w="9525">
                      <a:solidFill>
                        <a:srgbClr val="D9E4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132C44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Manager、eppy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9E4E8"/>
                      </a:solidFill>
                      <a:prstDash val="solid"/>
                    </a:lnR>
                    <a:lnB w="9525">
                      <a:solidFill>
                        <a:srgbClr val="D9E4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132C44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讀取及修改 IDF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9E4E8"/>
                      </a:solidFill>
                      <a:prstDash val="solid"/>
                    </a:lnR>
                    <a:lnB w="9525">
                      <a:solidFill>
                        <a:srgbClr val="D9E4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A7D7924-8C92-46AE-8E53-4267D84A86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81650"/>
            <a:ext cx="109728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025" b="1">
                <a:solidFill>
                  <a:srgbClr val="007C83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2025" b="1">
                <a:solidFill>
                  <a:srgbClr val="007C83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2025" b="1">
                <a:solidFill>
                  <a:srgbClr val="007C83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2025" b="1">
                <a:solidFill>
                  <a:srgbClr val="007C83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2025" b="1">
                <a:solidFill>
                  <a:srgbClr val="007C83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2025" b="1">
                <a:solidFill>
                  <a:srgbClr val="007C83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2025" b="1">
                <a:solidFill>
                  <a:srgbClr val="007C83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2025" b="1">
                <a:solidFill>
                  <a:srgbClr val="007C83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2025" b="1">
                <a:solidFill>
                  <a:srgbClr val="007C83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2025" b="1">
                <a:solidFill>
                  <a:srgbClr val="007C83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2025" b="1">
                <a:solidFill>
                  <a:srgbClr val="007C83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025" b="1">
                <a:solidFill>
                  <a:srgbClr val="007C83"/>
                </a:solidFill>
                <a:latin typeface="Microsoft JhengHei"/>
                <a:ea typeface="Microsoft JhengHei"/>
                <a:cs typeface="Microsoft JhengHei"/>
              </a:rPr>
              <a:t>只有 Client 與 Server 的通訊邊界使用 MCP。</a:t>
            </a:r>
          </a:p>
        </p:txBody>
      </p:sp>
    </p:spTree>
    <p:extLst>
      <p:ext uri="{BB962C8B-B14F-4D97-AF65-F5344CB8AC3E}">
        <p14:creationId xmlns:p14="http://schemas.microsoft.com/office/powerpoint/2010/main" val="743223713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6410F7F3-49B0-47D9-AE0D-4105EDDA51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5750"/>
            <a:ext cx="10763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425" b="1">
                <a:solidFill>
                  <a:srgbClr val="007C83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1425" b="1">
                <a:solidFill>
                  <a:srgbClr val="007C83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1425" b="1">
                <a:solidFill>
                  <a:srgbClr val="007C83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1425" b="1">
                <a:solidFill>
                  <a:srgbClr val="007C83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1425" b="1">
                <a:solidFill>
                  <a:srgbClr val="007C83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1425" b="1">
                <a:solidFill>
                  <a:srgbClr val="007C83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1425" b="1">
                <a:solidFill>
                  <a:srgbClr val="007C83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1425" b="1">
                <a:solidFill>
                  <a:srgbClr val="007C83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1425" b="1">
                <a:solidFill>
                  <a:srgbClr val="007C83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1425" b="1">
                <a:solidFill>
                  <a:srgbClr val="007C83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1425" b="1">
                <a:solidFill>
                  <a:srgbClr val="007C83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425" b="1">
                <a:solidFill>
                  <a:srgbClr val="007C83"/>
                </a:solidFill>
                <a:latin typeface="Microsoft JhengHei"/>
                <a:ea typeface="Microsoft JhengHei"/>
                <a:cs typeface="Microsoft JhengHei"/>
              </a:rPr>
              <a:t>流程圖 A  /  本次已重跑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F8F523A-5B3B-4D6B-8DB0-7159DF3BA0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09625"/>
            <a:ext cx="109728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225" b="1">
                <a:solidFill>
                  <a:srgbClr val="132C44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3225" b="1">
                <a:solidFill>
                  <a:srgbClr val="132C44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3225" b="1">
                <a:solidFill>
                  <a:srgbClr val="132C44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3225" b="1">
                <a:solidFill>
                  <a:srgbClr val="132C44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3225" b="1">
                <a:solidFill>
                  <a:srgbClr val="132C44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3225" b="1">
                <a:solidFill>
                  <a:srgbClr val="132C44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3225" b="1">
                <a:solidFill>
                  <a:srgbClr val="132C44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3225" b="1">
                <a:solidFill>
                  <a:srgbClr val="132C44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3225" b="1">
                <a:solidFill>
                  <a:srgbClr val="132C44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3225" b="1">
                <a:solidFill>
                  <a:srgbClr val="132C44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3225" b="1">
                <a:solidFill>
                  <a:srgbClr val="132C44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3225" b="1">
                <a:solidFill>
                  <a:srgbClr val="132C44"/>
                </a:solidFill>
                <a:latin typeface="Microsoft JhengHei"/>
                <a:ea typeface="Microsoft JhengHei"/>
                <a:cs typeface="Microsoft JhengHei"/>
              </a:rPr>
              <a:t>實際改檔流程與 MCP 邊界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7068DA5-11C3-407D-B71B-96EB238D59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191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0">
                <a:solidFill>
                  <a:srgbClr val="4D6475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1200" b="0">
                <a:solidFill>
                  <a:srgbClr val="4D6475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1200" b="0">
                <a:solidFill>
                  <a:srgbClr val="4D6475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1200" b="0">
                <a:solidFill>
                  <a:srgbClr val="4D6475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1200" b="0">
                <a:solidFill>
                  <a:srgbClr val="4D6475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1200" b="0">
                <a:solidFill>
                  <a:srgbClr val="4D6475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1200" b="0">
                <a:solidFill>
                  <a:srgbClr val="4D6475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1200" b="0">
                <a:solidFill>
                  <a:srgbClr val="4D6475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1200" b="0">
                <a:solidFill>
                  <a:srgbClr val="4D6475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1200" b="0">
                <a:solidFill>
                  <a:srgbClr val="4D6475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4D647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00" b="0">
                <a:solidFill>
                  <a:srgbClr val="4D6475"/>
                </a:solidFill>
                <a:latin typeface="Microsoft JhengHei"/>
                <a:ea typeface="Microsoft JhengHei"/>
                <a:cs typeface="Microsoft JhengHei"/>
              </a:rPr>
              <a:t>EnergyPlus-MCP  ·  MCP 工具流程實作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14F165A-A86E-43F1-88EE-97FA6518B8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19850"/>
            <a:ext cx="6286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0">
                <a:solidFill>
                  <a:srgbClr val="4D6475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1200" b="0">
                <a:solidFill>
                  <a:srgbClr val="4D6475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1200" b="0">
                <a:solidFill>
                  <a:srgbClr val="4D6475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1200" b="0">
                <a:solidFill>
                  <a:srgbClr val="4D6475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1200" b="0">
                <a:solidFill>
                  <a:srgbClr val="4D6475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1200" b="0">
                <a:solidFill>
                  <a:srgbClr val="4D6475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1200" b="0">
                <a:solidFill>
                  <a:srgbClr val="4D6475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1200" b="0">
                <a:solidFill>
                  <a:srgbClr val="4D6475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1200" b="0">
                <a:solidFill>
                  <a:srgbClr val="4D6475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1200" b="0">
                <a:solidFill>
                  <a:srgbClr val="4D6475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4D647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00" b="0">
                <a:solidFill>
                  <a:srgbClr val="4D6475"/>
                </a:solidFill>
                <a:latin typeface="Microsoft JhengHei"/>
                <a:ea typeface="Microsoft JhengHei"/>
                <a:cs typeface="Microsoft JhengHei"/>
              </a:rPr>
              <a:t>04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190F8A1-53AE-4AA4-8800-69A8C4CEF0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62125"/>
            <a:ext cx="61912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6E6"/>
          </a:solidFill>
          <a:ln xmlns:a="http://schemas.openxmlformats.org/drawingml/2006/main" w="19050">
            <a:solidFill>
              <a:srgbClr val="B97914"/>
            </a:solidFill>
            <a:prstDash val="dash"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1800">
                <a:solidFill>
                  <a:srgbClr val="132C44"/>
                </a:solidFill>
                <a:latin typeface="Microsoft JhengHei"/>
                <a:ea typeface="Microsoft JhengHei"/>
                <a:cs typeface="Microsoft JhengHei"/>
              </a:defRPr>
            </a:defPPr>
            <a:lvl1pPr algn="ctr">
              <a:defRPr sz="1800">
                <a:solidFill>
                  <a:srgbClr val="132C44"/>
                </a:solidFill>
                <a:latin typeface="Microsoft JhengHei"/>
                <a:ea typeface="Microsoft JhengHei"/>
                <a:cs typeface="Microsoft JhengHei"/>
              </a:defRPr>
            </a:lvl1pPr>
            <a:lvl2pPr algn="ctr">
              <a:defRPr sz="1800">
                <a:solidFill>
                  <a:srgbClr val="132C44"/>
                </a:solidFill>
                <a:latin typeface="Microsoft JhengHei"/>
                <a:ea typeface="Microsoft JhengHei"/>
                <a:cs typeface="Microsoft JhengHei"/>
              </a:defRPr>
            </a:lvl2pPr>
            <a:lvl3pPr algn="ctr">
              <a:defRPr sz="1800">
                <a:solidFill>
                  <a:srgbClr val="132C44"/>
                </a:solidFill>
                <a:latin typeface="Microsoft JhengHei"/>
                <a:ea typeface="Microsoft JhengHei"/>
                <a:cs typeface="Microsoft JhengHei"/>
              </a:defRPr>
            </a:lvl3pPr>
            <a:lvl4pPr algn="ctr">
              <a:defRPr sz="1800">
                <a:solidFill>
                  <a:srgbClr val="132C44"/>
                </a:solidFill>
                <a:latin typeface="Microsoft JhengHei"/>
                <a:ea typeface="Microsoft JhengHei"/>
                <a:cs typeface="Microsoft JhengHei"/>
              </a:defRPr>
            </a:lvl4pPr>
            <a:lvl5pPr algn="ctr">
              <a:defRPr sz="1800">
                <a:solidFill>
                  <a:srgbClr val="132C44"/>
                </a:solidFill>
                <a:latin typeface="Microsoft JhengHei"/>
                <a:ea typeface="Microsoft JhengHei"/>
                <a:cs typeface="Microsoft JhengHei"/>
              </a:defRPr>
            </a:lvl5pPr>
            <a:lvl6pPr algn="ctr">
              <a:defRPr sz="1800">
                <a:solidFill>
                  <a:srgbClr val="132C44"/>
                </a:solidFill>
                <a:latin typeface="Microsoft JhengHei"/>
                <a:ea typeface="Microsoft JhengHei"/>
                <a:cs typeface="Microsoft JhengHei"/>
              </a:defRPr>
            </a:lvl6pPr>
            <a:lvl7pPr algn="ctr">
              <a:defRPr sz="1800">
                <a:solidFill>
                  <a:srgbClr val="132C44"/>
                </a:solidFill>
                <a:latin typeface="Microsoft JhengHei"/>
                <a:ea typeface="Microsoft JhengHei"/>
                <a:cs typeface="Microsoft JhengHei"/>
              </a:defRPr>
            </a:lvl7pPr>
            <a:lvl8pPr algn="ctr">
              <a:defRPr sz="1800">
                <a:solidFill>
                  <a:srgbClr val="132C44"/>
                </a:solidFill>
                <a:latin typeface="Microsoft JhengHei"/>
                <a:ea typeface="Microsoft JhengHei"/>
                <a:cs typeface="Microsoft JhengHei"/>
              </a:defRPr>
            </a:lvl8pPr>
            <a:lvl9pPr algn="ctr">
              <a:defRPr sz="1800">
                <a:solidFill>
                  <a:srgbClr val="132C44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ctr">
              <a:defRPr sz="1800">
                <a:solidFill>
                  <a:srgbClr val="132C44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00">
                <a:solidFill>
                  <a:srgbClr val="132C44"/>
                </a:solidFill>
                <a:latin typeface="Microsoft JhengHei"/>
                <a:ea typeface="Microsoft JhengHei"/>
                <a:cs typeface="Microsoft JhengHei"/>
              </a:rPr>
              <a:t>尚未接入 LLM：向 Host 提出工具與參數建議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554E85F-F5C8-4F46-990E-253FDAE6D8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1857375"/>
            <a:ext cx="423862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725" b="0">
                <a:solidFill>
                  <a:srgbClr val="95620D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1725" b="0">
                <a:solidFill>
                  <a:srgbClr val="95620D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1725" b="0">
                <a:solidFill>
                  <a:srgbClr val="95620D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1725" b="0">
                <a:solidFill>
                  <a:srgbClr val="95620D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1725" b="0">
                <a:solidFill>
                  <a:srgbClr val="95620D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1725" b="0">
                <a:solidFill>
                  <a:srgbClr val="95620D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1725" b="0">
                <a:solidFill>
                  <a:srgbClr val="95620D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1725" b="0">
                <a:solidFill>
                  <a:srgbClr val="95620D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1725" b="0">
                <a:solidFill>
                  <a:srgbClr val="95620D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1725" b="0">
                <a:solidFill>
                  <a:srgbClr val="95620D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1725" b="0">
                <a:solidFill>
                  <a:srgbClr val="95620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725" b="0">
                <a:solidFill>
                  <a:srgbClr val="95620D"/>
                </a:solidFill>
                <a:latin typeface="Microsoft JhengHei"/>
                <a:ea typeface="Microsoft JhengHei"/>
                <a:cs typeface="Microsoft JhengHei"/>
              </a:rPr>
              <a:t>EnergyPlus 引擎：本次未啟動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F4F0FD8-921F-48A6-B59F-7647883E2C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57450"/>
            <a:ext cx="4286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950" b="1">
                <a:solidFill>
                  <a:srgbClr val="007C83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1950" b="1">
                <a:solidFill>
                  <a:srgbClr val="007C83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1950" b="1">
                <a:solidFill>
                  <a:srgbClr val="007C83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1950" b="1">
                <a:solidFill>
                  <a:srgbClr val="007C83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1950" b="1">
                <a:solidFill>
                  <a:srgbClr val="007C83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1950" b="1">
                <a:solidFill>
                  <a:srgbClr val="007C83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1950" b="1">
                <a:solidFill>
                  <a:srgbClr val="007C83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1950" b="1">
                <a:solidFill>
                  <a:srgbClr val="007C83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1950" b="1">
                <a:solidFill>
                  <a:srgbClr val="007C83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1950" b="1">
                <a:solidFill>
                  <a:srgbClr val="007C83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1950" b="1">
                <a:solidFill>
                  <a:srgbClr val="007C83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950" b="1">
                <a:solidFill>
                  <a:srgbClr val="007C83"/>
                </a:solidFill>
                <a:latin typeface="Microsoft JhengHei"/>
                <a:ea typeface="Microsoft JhengHei"/>
                <a:cs typeface="Microsoft JhengHei"/>
              </a:rPr>
              <a:t>Host：Notebook ＋ Python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D6E1BF1-E0E8-40CD-81DB-A16A738D32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2457450"/>
            <a:ext cx="42481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950" b="1">
                <a:solidFill>
                  <a:srgbClr val="007C83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1950" b="1">
                <a:solidFill>
                  <a:srgbClr val="007C83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1950" b="1">
                <a:solidFill>
                  <a:srgbClr val="007C83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1950" b="1">
                <a:solidFill>
                  <a:srgbClr val="007C83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1950" b="1">
                <a:solidFill>
                  <a:srgbClr val="007C83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1950" b="1">
                <a:solidFill>
                  <a:srgbClr val="007C83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1950" b="1">
                <a:solidFill>
                  <a:srgbClr val="007C83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1950" b="1">
                <a:solidFill>
                  <a:srgbClr val="007C83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1950" b="1">
                <a:solidFill>
                  <a:srgbClr val="007C83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1950" b="1">
                <a:solidFill>
                  <a:srgbClr val="007C83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1950" b="1">
                <a:solidFill>
                  <a:srgbClr val="007C83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950" b="1">
                <a:solidFill>
                  <a:srgbClr val="007C83"/>
                </a:solidFill>
                <a:latin typeface="Microsoft JhengHei"/>
                <a:ea typeface="Microsoft JhengHei"/>
                <a:cs typeface="Microsoft JhengHei"/>
              </a:rPr>
              <a:t>Server：EnergyPlus-MCP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231F585-E31F-4222-B5DE-F12511233E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924175"/>
            <a:ext cx="428625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5F6"/>
          </a:solidFill>
          <a:ln xmlns:a="http://schemas.openxmlformats.org/drawingml/2006/main" w="19050">
            <a:solidFill>
              <a:srgbClr val="007C83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1875">
                <a:solidFill>
                  <a:srgbClr val="132C44"/>
                </a:solidFill>
                <a:latin typeface="Microsoft JhengHei"/>
                <a:ea typeface="Microsoft JhengHei"/>
                <a:cs typeface="Microsoft JhengHei"/>
              </a:defRPr>
            </a:defPPr>
            <a:lvl1pPr algn="ctr">
              <a:defRPr sz="1875">
                <a:solidFill>
                  <a:srgbClr val="132C44"/>
                </a:solidFill>
                <a:latin typeface="Microsoft JhengHei"/>
                <a:ea typeface="Microsoft JhengHei"/>
                <a:cs typeface="Microsoft JhengHei"/>
              </a:defRPr>
            </a:lvl1pPr>
            <a:lvl2pPr algn="ctr">
              <a:defRPr sz="1875">
                <a:solidFill>
                  <a:srgbClr val="132C44"/>
                </a:solidFill>
                <a:latin typeface="Microsoft JhengHei"/>
                <a:ea typeface="Microsoft JhengHei"/>
                <a:cs typeface="Microsoft JhengHei"/>
              </a:defRPr>
            </a:lvl2pPr>
            <a:lvl3pPr algn="ctr">
              <a:defRPr sz="1875">
                <a:solidFill>
                  <a:srgbClr val="132C44"/>
                </a:solidFill>
                <a:latin typeface="Microsoft JhengHei"/>
                <a:ea typeface="Microsoft JhengHei"/>
                <a:cs typeface="Microsoft JhengHei"/>
              </a:defRPr>
            </a:lvl3pPr>
            <a:lvl4pPr algn="ctr">
              <a:defRPr sz="1875">
                <a:solidFill>
                  <a:srgbClr val="132C44"/>
                </a:solidFill>
                <a:latin typeface="Microsoft JhengHei"/>
                <a:ea typeface="Microsoft JhengHei"/>
                <a:cs typeface="Microsoft JhengHei"/>
              </a:defRPr>
            </a:lvl4pPr>
            <a:lvl5pPr algn="ctr">
              <a:defRPr sz="1875">
                <a:solidFill>
                  <a:srgbClr val="132C44"/>
                </a:solidFill>
                <a:latin typeface="Microsoft JhengHei"/>
                <a:ea typeface="Microsoft JhengHei"/>
                <a:cs typeface="Microsoft JhengHei"/>
              </a:defRPr>
            </a:lvl5pPr>
            <a:lvl6pPr algn="ctr">
              <a:defRPr sz="1875">
                <a:solidFill>
                  <a:srgbClr val="132C44"/>
                </a:solidFill>
                <a:latin typeface="Microsoft JhengHei"/>
                <a:ea typeface="Microsoft JhengHei"/>
                <a:cs typeface="Microsoft JhengHei"/>
              </a:defRPr>
            </a:lvl6pPr>
            <a:lvl7pPr algn="ctr">
              <a:defRPr sz="1875">
                <a:solidFill>
                  <a:srgbClr val="132C44"/>
                </a:solidFill>
                <a:latin typeface="Microsoft JhengHei"/>
                <a:ea typeface="Microsoft JhengHei"/>
                <a:cs typeface="Microsoft JhengHei"/>
              </a:defRPr>
            </a:lvl7pPr>
            <a:lvl8pPr algn="ctr">
              <a:defRPr sz="1875">
                <a:solidFill>
                  <a:srgbClr val="132C44"/>
                </a:solidFill>
                <a:latin typeface="Microsoft JhengHei"/>
                <a:ea typeface="Microsoft JhengHei"/>
                <a:cs typeface="Microsoft JhengHei"/>
              </a:defRPr>
            </a:lvl8pPr>
            <a:lvl9pPr algn="ctr">
              <a:defRPr sz="1875">
                <a:solidFill>
                  <a:srgbClr val="132C44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ctr">
              <a:defRPr sz="1875">
                <a:solidFill>
                  <a:srgbClr val="132C44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75">
                <a:solidFill>
                  <a:srgbClr val="132C44"/>
                </a:solidFill>
                <a:latin typeface="Microsoft JhengHei"/>
                <a:ea typeface="Microsoft JhengHei"/>
                <a:cs typeface="Microsoft JhengHei"/>
              </a:rPr>
              <a:t>① Python 決定步驟、計算原值 × 0.7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A0DFECC-E6E7-4990-9956-54777B3195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943350"/>
            <a:ext cx="428625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5F6"/>
          </a:solidFill>
          <a:ln xmlns:a="http://schemas.openxmlformats.org/drawingml/2006/main" w="19050">
            <a:solidFill>
              <a:srgbClr val="007C83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1875">
                <a:solidFill>
                  <a:srgbClr val="132C44"/>
                </a:solidFill>
                <a:latin typeface="Microsoft JhengHei"/>
                <a:ea typeface="Microsoft JhengHei"/>
                <a:cs typeface="Microsoft JhengHei"/>
              </a:defRPr>
            </a:defPPr>
            <a:lvl1pPr algn="ctr">
              <a:defRPr sz="1875">
                <a:solidFill>
                  <a:srgbClr val="132C44"/>
                </a:solidFill>
                <a:latin typeface="Microsoft JhengHei"/>
                <a:ea typeface="Microsoft JhengHei"/>
                <a:cs typeface="Microsoft JhengHei"/>
              </a:defRPr>
            </a:lvl1pPr>
            <a:lvl2pPr algn="ctr">
              <a:defRPr sz="1875">
                <a:solidFill>
                  <a:srgbClr val="132C44"/>
                </a:solidFill>
                <a:latin typeface="Microsoft JhengHei"/>
                <a:ea typeface="Microsoft JhengHei"/>
                <a:cs typeface="Microsoft JhengHei"/>
              </a:defRPr>
            </a:lvl2pPr>
            <a:lvl3pPr algn="ctr">
              <a:defRPr sz="1875">
                <a:solidFill>
                  <a:srgbClr val="132C44"/>
                </a:solidFill>
                <a:latin typeface="Microsoft JhengHei"/>
                <a:ea typeface="Microsoft JhengHei"/>
                <a:cs typeface="Microsoft JhengHei"/>
              </a:defRPr>
            </a:lvl3pPr>
            <a:lvl4pPr algn="ctr">
              <a:defRPr sz="1875">
                <a:solidFill>
                  <a:srgbClr val="132C44"/>
                </a:solidFill>
                <a:latin typeface="Microsoft JhengHei"/>
                <a:ea typeface="Microsoft JhengHei"/>
                <a:cs typeface="Microsoft JhengHei"/>
              </a:defRPr>
            </a:lvl4pPr>
            <a:lvl5pPr algn="ctr">
              <a:defRPr sz="1875">
                <a:solidFill>
                  <a:srgbClr val="132C44"/>
                </a:solidFill>
                <a:latin typeface="Microsoft JhengHei"/>
                <a:ea typeface="Microsoft JhengHei"/>
                <a:cs typeface="Microsoft JhengHei"/>
              </a:defRPr>
            </a:lvl5pPr>
            <a:lvl6pPr algn="ctr">
              <a:defRPr sz="1875">
                <a:solidFill>
                  <a:srgbClr val="132C44"/>
                </a:solidFill>
                <a:latin typeface="Microsoft JhengHei"/>
                <a:ea typeface="Microsoft JhengHei"/>
                <a:cs typeface="Microsoft JhengHei"/>
              </a:defRPr>
            </a:lvl6pPr>
            <a:lvl7pPr algn="ctr">
              <a:defRPr sz="1875">
                <a:solidFill>
                  <a:srgbClr val="132C44"/>
                </a:solidFill>
                <a:latin typeface="Microsoft JhengHei"/>
                <a:ea typeface="Microsoft JhengHei"/>
                <a:cs typeface="Microsoft JhengHei"/>
              </a:defRPr>
            </a:lvl7pPr>
            <a:lvl8pPr algn="ctr">
              <a:defRPr sz="1875">
                <a:solidFill>
                  <a:srgbClr val="132C44"/>
                </a:solidFill>
                <a:latin typeface="Microsoft JhengHei"/>
                <a:ea typeface="Microsoft JhengHei"/>
                <a:cs typeface="Microsoft JhengHei"/>
              </a:defRPr>
            </a:lvl8pPr>
            <a:lvl9pPr algn="ctr">
              <a:defRPr sz="1875">
                <a:solidFill>
                  <a:srgbClr val="132C44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ctr">
              <a:defRPr sz="1875">
                <a:solidFill>
                  <a:srgbClr val="132C44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75">
                <a:solidFill>
                  <a:srgbClr val="132C44"/>
                </a:solidFill>
                <a:latin typeface="Microsoft JhengHei"/>
                <a:ea typeface="Microsoft JhengHei"/>
                <a:cs typeface="Microsoft JhengHei"/>
              </a:rPr>
              <a:t>② MCP Client：ClientSession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E712C73-3378-4DB0-90EB-B5DB8DDE87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000625"/>
            <a:ext cx="4286250" cy="76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5F6"/>
          </a:solidFill>
          <a:ln xmlns:a="http://schemas.openxmlformats.org/drawingml/2006/main" w="19050">
            <a:solidFill>
              <a:srgbClr val="007C83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1875">
                <a:solidFill>
                  <a:srgbClr val="132C44"/>
                </a:solidFill>
                <a:latin typeface="Microsoft JhengHei"/>
                <a:ea typeface="Microsoft JhengHei"/>
                <a:cs typeface="Microsoft JhengHei"/>
              </a:defRPr>
            </a:defPPr>
            <a:lvl1pPr algn="ctr">
              <a:defRPr sz="1875">
                <a:solidFill>
                  <a:srgbClr val="132C44"/>
                </a:solidFill>
                <a:latin typeface="Microsoft JhengHei"/>
                <a:ea typeface="Microsoft JhengHei"/>
                <a:cs typeface="Microsoft JhengHei"/>
              </a:defRPr>
            </a:lvl1pPr>
            <a:lvl2pPr algn="ctr">
              <a:defRPr sz="1875">
                <a:solidFill>
                  <a:srgbClr val="132C44"/>
                </a:solidFill>
                <a:latin typeface="Microsoft JhengHei"/>
                <a:ea typeface="Microsoft JhengHei"/>
                <a:cs typeface="Microsoft JhengHei"/>
              </a:defRPr>
            </a:lvl2pPr>
            <a:lvl3pPr algn="ctr">
              <a:defRPr sz="1875">
                <a:solidFill>
                  <a:srgbClr val="132C44"/>
                </a:solidFill>
                <a:latin typeface="Microsoft JhengHei"/>
                <a:ea typeface="Microsoft JhengHei"/>
                <a:cs typeface="Microsoft JhengHei"/>
              </a:defRPr>
            </a:lvl3pPr>
            <a:lvl4pPr algn="ctr">
              <a:defRPr sz="1875">
                <a:solidFill>
                  <a:srgbClr val="132C44"/>
                </a:solidFill>
                <a:latin typeface="Microsoft JhengHei"/>
                <a:ea typeface="Microsoft JhengHei"/>
                <a:cs typeface="Microsoft JhengHei"/>
              </a:defRPr>
            </a:lvl4pPr>
            <a:lvl5pPr algn="ctr">
              <a:defRPr sz="1875">
                <a:solidFill>
                  <a:srgbClr val="132C44"/>
                </a:solidFill>
                <a:latin typeface="Microsoft JhengHei"/>
                <a:ea typeface="Microsoft JhengHei"/>
                <a:cs typeface="Microsoft JhengHei"/>
              </a:defRPr>
            </a:lvl5pPr>
            <a:lvl6pPr algn="ctr">
              <a:defRPr sz="1875">
                <a:solidFill>
                  <a:srgbClr val="132C44"/>
                </a:solidFill>
                <a:latin typeface="Microsoft JhengHei"/>
                <a:ea typeface="Microsoft JhengHei"/>
                <a:cs typeface="Microsoft JhengHei"/>
              </a:defRPr>
            </a:lvl6pPr>
            <a:lvl7pPr algn="ctr">
              <a:defRPr sz="1875">
                <a:solidFill>
                  <a:srgbClr val="132C44"/>
                </a:solidFill>
                <a:latin typeface="Microsoft JhengHei"/>
                <a:ea typeface="Microsoft JhengHei"/>
                <a:cs typeface="Microsoft JhengHei"/>
              </a:defRPr>
            </a:lvl7pPr>
            <a:lvl8pPr algn="ctr">
              <a:defRPr sz="1875">
                <a:solidFill>
                  <a:srgbClr val="132C44"/>
                </a:solidFill>
                <a:latin typeface="Microsoft JhengHei"/>
                <a:ea typeface="Microsoft JhengHei"/>
                <a:cs typeface="Microsoft JhengHei"/>
              </a:defRPr>
            </a:lvl8pPr>
            <a:lvl9pPr algn="ctr">
              <a:defRPr sz="1875">
                <a:solidFill>
                  <a:srgbClr val="132C44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ctr">
              <a:defRPr sz="1875">
                <a:solidFill>
                  <a:srgbClr val="132C44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75">
                <a:solidFill>
                  <a:srgbClr val="132C44"/>
                </a:solidFill>
                <a:latin typeface="Microsoft JhengHei"/>
                <a:ea typeface="Microsoft JhengHei"/>
                <a:cs typeface="Microsoft JhengHei"/>
              </a:rPr>
              <a:t>⑤ 收到回覆後獨立讀回 IDF</a:t>
            </a:r>
          </a:p>
          <a:p xmlns:a="http://schemas.openxmlformats.org/drawingml/2006/main">
            <a:pPr algn="ctr">
              <a:defRPr sz="1875">
                <a:solidFill>
                  <a:srgbClr val="132C44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75">
                <a:solidFill>
                  <a:srgbClr val="132C44"/>
                </a:solidFill>
                <a:latin typeface="Microsoft JhengHei"/>
                <a:ea typeface="Microsoft JhengHei"/>
                <a:cs typeface="Microsoft JhengHei"/>
              </a:rPr>
              <a:t>確認 5 個欄位改變、原檔不變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2F30248-0E25-43CD-9D93-D9276BB59B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19375" y="3581400"/>
            <a:ext cx="209550" cy="314325"/>
          </a:xfrm>
          <a:prstGeom xmlns:a="http://schemas.openxmlformats.org/drawingml/2006/main" prst="downArrow">
            <a:avLst/>
          </a:prstGeom>
          <a:solidFill xmlns:a="http://schemas.openxmlformats.org/drawingml/2006/main">
            <a:srgbClr val="4D6475"/>
          </a:solidFill>
          <a:ln xmlns:a="http://schemas.openxmlformats.org/drawingml/2006/main" w="0">
            <a:noFill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1A597D5-235B-481A-9CE8-A4C42A1900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19375" y="4591050"/>
            <a:ext cx="209550" cy="352425"/>
          </a:xfrm>
          <a:prstGeom xmlns:a="http://schemas.openxmlformats.org/drawingml/2006/main" prst="downArrow">
            <a:avLst/>
          </a:prstGeom>
          <a:solidFill xmlns:a="http://schemas.openxmlformats.org/drawingml/2006/main">
            <a:srgbClr val="4D6475"/>
          </a:solidFill>
          <a:ln xmlns:a="http://schemas.openxmlformats.org/drawingml/2006/main" w="0">
            <a:noFill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FFAFD76-788B-4CD1-B0A6-71E9A51C95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3943350"/>
            <a:ext cx="424815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5F6"/>
          </a:solidFill>
          <a:ln xmlns:a="http://schemas.openxmlformats.org/drawingml/2006/main" w="19050">
            <a:solidFill>
              <a:srgbClr val="007C83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1875">
                <a:solidFill>
                  <a:srgbClr val="132C44"/>
                </a:solidFill>
                <a:latin typeface="Microsoft JhengHei"/>
                <a:ea typeface="Microsoft JhengHei"/>
                <a:cs typeface="Microsoft JhengHei"/>
              </a:defRPr>
            </a:defPPr>
            <a:lvl1pPr algn="ctr">
              <a:defRPr sz="1875">
                <a:solidFill>
                  <a:srgbClr val="132C44"/>
                </a:solidFill>
                <a:latin typeface="Microsoft JhengHei"/>
                <a:ea typeface="Microsoft JhengHei"/>
                <a:cs typeface="Microsoft JhengHei"/>
              </a:defRPr>
            </a:lvl1pPr>
            <a:lvl2pPr algn="ctr">
              <a:defRPr sz="1875">
                <a:solidFill>
                  <a:srgbClr val="132C44"/>
                </a:solidFill>
                <a:latin typeface="Microsoft JhengHei"/>
                <a:ea typeface="Microsoft JhengHei"/>
                <a:cs typeface="Microsoft JhengHei"/>
              </a:defRPr>
            </a:lvl2pPr>
            <a:lvl3pPr algn="ctr">
              <a:defRPr sz="1875">
                <a:solidFill>
                  <a:srgbClr val="132C44"/>
                </a:solidFill>
                <a:latin typeface="Microsoft JhengHei"/>
                <a:ea typeface="Microsoft JhengHei"/>
                <a:cs typeface="Microsoft JhengHei"/>
              </a:defRPr>
            </a:lvl3pPr>
            <a:lvl4pPr algn="ctr">
              <a:defRPr sz="1875">
                <a:solidFill>
                  <a:srgbClr val="132C44"/>
                </a:solidFill>
                <a:latin typeface="Microsoft JhengHei"/>
                <a:ea typeface="Microsoft JhengHei"/>
                <a:cs typeface="Microsoft JhengHei"/>
              </a:defRPr>
            </a:lvl4pPr>
            <a:lvl5pPr algn="ctr">
              <a:defRPr sz="1875">
                <a:solidFill>
                  <a:srgbClr val="132C44"/>
                </a:solidFill>
                <a:latin typeface="Microsoft JhengHei"/>
                <a:ea typeface="Microsoft JhengHei"/>
                <a:cs typeface="Microsoft JhengHei"/>
              </a:defRPr>
            </a:lvl5pPr>
            <a:lvl6pPr algn="ctr">
              <a:defRPr sz="1875">
                <a:solidFill>
                  <a:srgbClr val="132C44"/>
                </a:solidFill>
                <a:latin typeface="Microsoft JhengHei"/>
                <a:ea typeface="Microsoft JhengHei"/>
                <a:cs typeface="Microsoft JhengHei"/>
              </a:defRPr>
            </a:lvl6pPr>
            <a:lvl7pPr algn="ctr">
              <a:defRPr sz="1875">
                <a:solidFill>
                  <a:srgbClr val="132C44"/>
                </a:solidFill>
                <a:latin typeface="Microsoft JhengHei"/>
                <a:ea typeface="Microsoft JhengHei"/>
                <a:cs typeface="Microsoft JhengHei"/>
              </a:defRPr>
            </a:lvl7pPr>
            <a:lvl8pPr algn="ctr">
              <a:defRPr sz="1875">
                <a:solidFill>
                  <a:srgbClr val="132C44"/>
                </a:solidFill>
                <a:latin typeface="Microsoft JhengHei"/>
                <a:ea typeface="Microsoft JhengHei"/>
                <a:cs typeface="Microsoft JhengHei"/>
              </a:defRPr>
            </a:lvl8pPr>
            <a:lvl9pPr algn="ctr">
              <a:defRPr sz="1875">
                <a:solidFill>
                  <a:srgbClr val="132C44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ctr">
              <a:defRPr sz="1875">
                <a:solidFill>
                  <a:srgbClr val="132C44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75">
                <a:solidFill>
                  <a:srgbClr val="132C44"/>
                </a:solidFill>
                <a:latin typeface="Microsoft JhengHei"/>
                <a:ea typeface="Microsoft JhengHei"/>
                <a:cs typeface="Microsoft JhengHei"/>
              </a:rPr>
              <a:t>③ FastMCP：註冊與分派工具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15FFD76-1CC9-4250-A417-D97FE9A59E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3009900"/>
            <a:ext cx="42481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00" b="0">
                <a:solidFill>
                  <a:srgbClr val="007C83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1800" b="0">
                <a:solidFill>
                  <a:srgbClr val="007C83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1800" b="0">
                <a:solidFill>
                  <a:srgbClr val="007C83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1800" b="0">
                <a:solidFill>
                  <a:srgbClr val="007C83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1800" b="0">
                <a:solidFill>
                  <a:srgbClr val="007C83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1800" b="0">
                <a:solidFill>
                  <a:srgbClr val="007C83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1800" b="0">
                <a:solidFill>
                  <a:srgbClr val="007C83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1800" b="0">
                <a:solidFill>
                  <a:srgbClr val="007C83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1800" b="0">
                <a:solidFill>
                  <a:srgbClr val="007C83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1800" b="0">
                <a:solidFill>
                  <a:srgbClr val="007C83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1800" b="0">
                <a:solidFill>
                  <a:srgbClr val="007C83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00" b="0">
                <a:solidFill>
                  <a:srgbClr val="007C83"/>
                </a:solidFill>
                <a:latin typeface="Microsoft JhengHei"/>
                <a:ea typeface="Microsoft JhengHei"/>
                <a:cs typeface="Microsoft JhengHei"/>
              </a:rPr>
              <a:t>initialize／tools/list／tools/call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1E1709E-363E-49A6-93A1-5B051CB96D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5000625"/>
            <a:ext cx="4248150" cy="76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5F6"/>
          </a:solidFill>
          <a:ln xmlns:a="http://schemas.openxmlformats.org/drawingml/2006/main" w="19050">
            <a:solidFill>
              <a:srgbClr val="007C83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1875">
                <a:solidFill>
                  <a:srgbClr val="132C44"/>
                </a:solidFill>
                <a:latin typeface="Microsoft JhengHei"/>
                <a:ea typeface="Microsoft JhengHei"/>
                <a:cs typeface="Microsoft JhengHei"/>
              </a:defRPr>
            </a:defPPr>
            <a:lvl1pPr algn="ctr">
              <a:defRPr sz="1875">
                <a:solidFill>
                  <a:srgbClr val="132C44"/>
                </a:solidFill>
                <a:latin typeface="Microsoft JhengHei"/>
                <a:ea typeface="Microsoft JhengHei"/>
                <a:cs typeface="Microsoft JhengHei"/>
              </a:defRPr>
            </a:lvl1pPr>
            <a:lvl2pPr algn="ctr">
              <a:defRPr sz="1875">
                <a:solidFill>
                  <a:srgbClr val="132C44"/>
                </a:solidFill>
                <a:latin typeface="Microsoft JhengHei"/>
                <a:ea typeface="Microsoft JhengHei"/>
                <a:cs typeface="Microsoft JhengHei"/>
              </a:defRPr>
            </a:lvl2pPr>
            <a:lvl3pPr algn="ctr">
              <a:defRPr sz="1875">
                <a:solidFill>
                  <a:srgbClr val="132C44"/>
                </a:solidFill>
                <a:latin typeface="Microsoft JhengHei"/>
                <a:ea typeface="Microsoft JhengHei"/>
                <a:cs typeface="Microsoft JhengHei"/>
              </a:defRPr>
            </a:lvl3pPr>
            <a:lvl4pPr algn="ctr">
              <a:defRPr sz="1875">
                <a:solidFill>
                  <a:srgbClr val="132C44"/>
                </a:solidFill>
                <a:latin typeface="Microsoft JhengHei"/>
                <a:ea typeface="Microsoft JhengHei"/>
                <a:cs typeface="Microsoft JhengHei"/>
              </a:defRPr>
            </a:lvl4pPr>
            <a:lvl5pPr algn="ctr">
              <a:defRPr sz="1875">
                <a:solidFill>
                  <a:srgbClr val="132C44"/>
                </a:solidFill>
                <a:latin typeface="Microsoft JhengHei"/>
                <a:ea typeface="Microsoft JhengHei"/>
                <a:cs typeface="Microsoft JhengHei"/>
              </a:defRPr>
            </a:lvl5pPr>
            <a:lvl6pPr algn="ctr">
              <a:defRPr sz="1875">
                <a:solidFill>
                  <a:srgbClr val="132C44"/>
                </a:solidFill>
                <a:latin typeface="Microsoft JhengHei"/>
                <a:ea typeface="Microsoft JhengHei"/>
                <a:cs typeface="Microsoft JhengHei"/>
              </a:defRPr>
            </a:lvl6pPr>
            <a:lvl7pPr algn="ctr">
              <a:defRPr sz="1875">
                <a:solidFill>
                  <a:srgbClr val="132C44"/>
                </a:solidFill>
                <a:latin typeface="Microsoft JhengHei"/>
                <a:ea typeface="Microsoft JhengHei"/>
                <a:cs typeface="Microsoft JhengHei"/>
              </a:defRPr>
            </a:lvl7pPr>
            <a:lvl8pPr algn="ctr">
              <a:defRPr sz="1875">
                <a:solidFill>
                  <a:srgbClr val="132C44"/>
                </a:solidFill>
                <a:latin typeface="Microsoft JhengHei"/>
                <a:ea typeface="Microsoft JhengHei"/>
                <a:cs typeface="Microsoft JhengHei"/>
              </a:defRPr>
            </a:lvl8pPr>
            <a:lvl9pPr algn="ctr">
              <a:defRPr sz="1875">
                <a:solidFill>
                  <a:srgbClr val="132C44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ctr">
              <a:defRPr sz="1875">
                <a:solidFill>
                  <a:srgbClr val="132C44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75">
                <a:solidFill>
                  <a:srgbClr val="132C44"/>
                </a:solidFill>
                <a:latin typeface="Microsoft JhengHei"/>
                <a:ea typeface="Microsoft JhengHei"/>
                <a:cs typeface="Microsoft JhengHei"/>
              </a:rPr>
              <a:t>④ Manager ＋ eppy</a:t>
            </a:r>
          </a:p>
          <a:p xmlns:a="http://schemas.openxmlformats.org/drawingml/2006/main">
            <a:pPr algn="ctr">
              <a:defRPr sz="1875">
                <a:solidFill>
                  <a:srgbClr val="132C44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75">
                <a:solidFill>
                  <a:srgbClr val="132C44"/>
                </a:solidFill>
                <a:latin typeface="Microsoft JhengHei"/>
                <a:ea typeface="Microsoft JhengHei"/>
                <a:cs typeface="Microsoft JhengHei"/>
              </a:rPr>
              <a:t>選物件、setattr、save 新 IDF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378D985-5E20-44D6-A8F8-F9B06F5DCC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53550" y="4591050"/>
            <a:ext cx="209550" cy="352425"/>
          </a:xfrm>
          <a:prstGeom xmlns:a="http://schemas.openxmlformats.org/drawingml/2006/main" prst="downArrow">
            <a:avLst/>
          </a:prstGeom>
          <a:solidFill xmlns:a="http://schemas.openxmlformats.org/drawingml/2006/main">
            <a:srgbClr val="4D6475"/>
          </a:solidFill>
          <a:ln xmlns:a="http://schemas.openxmlformats.org/drawingml/2006/main" w="0">
            <a:noFill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16F7EC0-6037-4D81-AA53-718060686F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57775" y="4010025"/>
            <a:ext cx="2105025" cy="1714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007C83"/>
          </a:solidFill>
          <a:ln xmlns:a="http://schemas.openxmlformats.org/drawingml/2006/main" w="0">
            <a:noFill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C298F6E-CE53-4063-AAC2-5C288164BD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57775" y="4305300"/>
            <a:ext cx="2105025" cy="171450"/>
          </a:xfrm>
          <a:prstGeom xmlns:a="http://schemas.openxmlformats.org/drawingml/2006/main" prst="leftArrow">
            <a:avLst/>
          </a:prstGeom>
          <a:solidFill xmlns:a="http://schemas.openxmlformats.org/drawingml/2006/main">
            <a:srgbClr val="007C83"/>
          </a:solidFill>
          <a:ln xmlns:a="http://schemas.openxmlformats.org/drawingml/2006/main" w="0">
            <a:noFill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6471CF1-67D0-4F89-AEFA-449ED298D3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95875" y="3333750"/>
            <a:ext cx="20955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75" b="1">
                <a:solidFill>
                  <a:srgbClr val="007C83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1875" b="1">
                <a:solidFill>
                  <a:srgbClr val="007C83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1875" b="1">
                <a:solidFill>
                  <a:srgbClr val="007C83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1875" b="1">
                <a:solidFill>
                  <a:srgbClr val="007C83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1875" b="1">
                <a:solidFill>
                  <a:srgbClr val="007C83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1875" b="1">
                <a:solidFill>
                  <a:srgbClr val="007C83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1875" b="1">
                <a:solidFill>
                  <a:srgbClr val="007C83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1875" b="1">
                <a:solidFill>
                  <a:srgbClr val="007C83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1875" b="1">
                <a:solidFill>
                  <a:srgbClr val="007C83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1875" b="1">
                <a:solidFill>
                  <a:srgbClr val="007C83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1875" b="1">
                <a:solidFill>
                  <a:srgbClr val="007C83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75" b="1">
                <a:solidFill>
                  <a:srgbClr val="007C83"/>
                </a:solidFill>
                <a:latin typeface="Microsoft JhengHei"/>
                <a:ea typeface="Microsoft JhengHei"/>
                <a:cs typeface="Microsoft JhengHei"/>
              </a:rPr>
              <a:t>MCP／stdio</a:t>
            </a:r>
          </a:p>
          <a:p xmlns:a="http://schemas.openxmlformats.org/drawingml/2006/main">
            <a:pPr>
              <a:defRPr sz="1875" b="1">
                <a:solidFill>
                  <a:srgbClr val="007C83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75" b="1">
                <a:solidFill>
                  <a:srgbClr val="007C83"/>
                </a:solidFill>
                <a:latin typeface="Microsoft JhengHei"/>
                <a:ea typeface="Microsoft JhengHei"/>
                <a:cs typeface="Microsoft JhengHei"/>
              </a:rPr>
              <a:t>要求與結果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07EAD77-BB3B-4C5F-B126-C31F907BA1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00750"/>
            <a:ext cx="109728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00" b="0">
                <a:solidFill>
                  <a:srgbClr val="4D6475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1800" b="0">
                <a:solidFill>
                  <a:srgbClr val="4D6475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1800" b="0">
                <a:solidFill>
                  <a:srgbClr val="4D6475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1800" b="0">
                <a:solidFill>
                  <a:srgbClr val="4D6475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1800" b="0">
                <a:solidFill>
                  <a:srgbClr val="4D6475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1800" b="0">
                <a:solidFill>
                  <a:srgbClr val="4D6475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1800" b="0">
                <a:solidFill>
                  <a:srgbClr val="4D6475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1800" b="0">
                <a:solidFill>
                  <a:srgbClr val="4D6475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1800" b="0">
                <a:solidFill>
                  <a:srgbClr val="4D6475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1800" b="0">
                <a:solidFill>
                  <a:srgbClr val="4D6475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1800" b="0">
                <a:solidFill>
                  <a:srgbClr val="4D647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00" b="0">
                <a:solidFill>
                  <a:srgbClr val="4D6475"/>
                </a:solidFill>
                <a:latin typeface="Microsoft JhengHei"/>
                <a:ea typeface="Microsoft JhengHei"/>
                <a:cs typeface="Microsoft JhengHei"/>
              </a:rPr>
              <a:t>LLM 接入上述 Host 決策流程；本次由固定 Python 執行。</a:t>
            </a:r>
          </a:p>
        </p:txBody>
      </p:sp>
    </p:spTree>
    <p:extLst>
      <p:ext uri="{BB962C8B-B14F-4D97-AF65-F5344CB8AC3E}">
        <p14:creationId xmlns:p14="http://schemas.microsoft.com/office/powerpoint/2010/main" val="520062309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2DC4BB05-BE86-46FD-A505-EFE325066C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5750"/>
            <a:ext cx="10763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425" b="1">
                <a:solidFill>
                  <a:srgbClr val="007C83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1425" b="1">
                <a:solidFill>
                  <a:srgbClr val="007C83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1425" b="1">
                <a:solidFill>
                  <a:srgbClr val="007C83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1425" b="1">
                <a:solidFill>
                  <a:srgbClr val="007C83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1425" b="1">
                <a:solidFill>
                  <a:srgbClr val="007C83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1425" b="1">
                <a:solidFill>
                  <a:srgbClr val="007C83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1425" b="1">
                <a:solidFill>
                  <a:srgbClr val="007C83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1425" b="1">
                <a:solidFill>
                  <a:srgbClr val="007C83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1425" b="1">
                <a:solidFill>
                  <a:srgbClr val="007C83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1425" b="1">
                <a:solidFill>
                  <a:srgbClr val="007C83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1425" b="1">
                <a:solidFill>
                  <a:srgbClr val="007C83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425" b="1">
                <a:solidFill>
                  <a:srgbClr val="007C83"/>
                </a:solidFill>
                <a:latin typeface="Microsoft JhengHei"/>
                <a:ea typeface="Microsoft JhengHei"/>
                <a:cs typeface="Microsoft JhengHei"/>
              </a:rPr>
              <a:t>流程圖 B  /  先前已跑過，本次只讀取證據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ECF6FBB-035C-4973-8014-101F0890FC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09625"/>
            <a:ext cx="109728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225" b="1">
                <a:solidFill>
                  <a:srgbClr val="132C44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3225" b="1">
                <a:solidFill>
                  <a:srgbClr val="132C44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3225" b="1">
                <a:solidFill>
                  <a:srgbClr val="132C44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3225" b="1">
                <a:solidFill>
                  <a:srgbClr val="132C44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3225" b="1">
                <a:solidFill>
                  <a:srgbClr val="132C44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3225" b="1">
                <a:solidFill>
                  <a:srgbClr val="132C44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3225" b="1">
                <a:solidFill>
                  <a:srgbClr val="132C44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3225" b="1">
                <a:solidFill>
                  <a:srgbClr val="132C44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3225" b="1">
                <a:solidFill>
                  <a:srgbClr val="132C44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3225" b="1">
                <a:solidFill>
                  <a:srgbClr val="132C44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3225" b="1">
                <a:solidFill>
                  <a:srgbClr val="132C44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3225" b="1">
                <a:solidFill>
                  <a:srgbClr val="132C44"/>
                </a:solidFill>
                <a:latin typeface="Microsoft JhengHei"/>
                <a:ea typeface="Microsoft JhengHei"/>
                <a:cs typeface="Microsoft JhengHei"/>
              </a:rPr>
              <a:t>模擬流程：引擎何時才會啟動？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050686E-0248-45E6-A283-B8B3C539CC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191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0">
                <a:solidFill>
                  <a:srgbClr val="4D6475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1200" b="0">
                <a:solidFill>
                  <a:srgbClr val="4D6475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1200" b="0">
                <a:solidFill>
                  <a:srgbClr val="4D6475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1200" b="0">
                <a:solidFill>
                  <a:srgbClr val="4D6475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1200" b="0">
                <a:solidFill>
                  <a:srgbClr val="4D6475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1200" b="0">
                <a:solidFill>
                  <a:srgbClr val="4D6475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1200" b="0">
                <a:solidFill>
                  <a:srgbClr val="4D6475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1200" b="0">
                <a:solidFill>
                  <a:srgbClr val="4D6475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1200" b="0">
                <a:solidFill>
                  <a:srgbClr val="4D6475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1200" b="0">
                <a:solidFill>
                  <a:srgbClr val="4D6475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4D647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00" b="0">
                <a:solidFill>
                  <a:srgbClr val="4D6475"/>
                </a:solidFill>
                <a:latin typeface="Microsoft JhengHei"/>
                <a:ea typeface="Microsoft JhengHei"/>
                <a:cs typeface="Microsoft JhengHei"/>
              </a:rPr>
              <a:t>EnergyPlus-MCP  ·  MCP 工具流程實作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77DEB5E-8774-416F-96A9-CA3B23A713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19850"/>
            <a:ext cx="6286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0">
                <a:solidFill>
                  <a:srgbClr val="4D6475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1200" b="0">
                <a:solidFill>
                  <a:srgbClr val="4D6475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1200" b="0">
                <a:solidFill>
                  <a:srgbClr val="4D6475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1200" b="0">
                <a:solidFill>
                  <a:srgbClr val="4D6475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1200" b="0">
                <a:solidFill>
                  <a:srgbClr val="4D6475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1200" b="0">
                <a:solidFill>
                  <a:srgbClr val="4D6475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1200" b="0">
                <a:solidFill>
                  <a:srgbClr val="4D6475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1200" b="0">
                <a:solidFill>
                  <a:srgbClr val="4D6475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1200" b="0">
                <a:solidFill>
                  <a:srgbClr val="4D6475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1200" b="0">
                <a:solidFill>
                  <a:srgbClr val="4D6475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4D647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00" b="0">
                <a:solidFill>
                  <a:srgbClr val="4D6475"/>
                </a:solidFill>
                <a:latin typeface="Microsoft JhengHei"/>
                <a:ea typeface="Microsoft JhengHei"/>
                <a:cs typeface="Microsoft JhengHei"/>
              </a:rPr>
              <a:t>05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6B18324-716D-4C07-AE9E-C1ADB91F39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847850"/>
            <a:ext cx="109728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025" b="1">
                <a:solidFill>
                  <a:srgbClr val="132C44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2025" b="1">
                <a:solidFill>
                  <a:srgbClr val="132C44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2025" b="1">
                <a:solidFill>
                  <a:srgbClr val="132C44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2025" b="1">
                <a:solidFill>
                  <a:srgbClr val="132C44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2025" b="1">
                <a:solidFill>
                  <a:srgbClr val="132C44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2025" b="1">
                <a:solidFill>
                  <a:srgbClr val="132C44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2025" b="1">
                <a:solidFill>
                  <a:srgbClr val="132C44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2025" b="1">
                <a:solidFill>
                  <a:srgbClr val="132C44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2025" b="1">
                <a:solidFill>
                  <a:srgbClr val="132C44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2025" b="1">
                <a:solidFill>
                  <a:srgbClr val="132C44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2025" b="1">
                <a:solidFill>
                  <a:srgbClr val="132C44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025" b="1">
                <a:solidFill>
                  <a:srgbClr val="132C44"/>
                </a:solidFill>
                <a:latin typeface="Microsoft JhengHei"/>
                <a:ea typeface="Microsoft JhengHei"/>
                <a:cs typeface="Microsoft JhengHei"/>
              </a:rPr>
              <a:t>Host：Python 排定兩個模型的模擬，沒有使用 LLM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879FA91-3957-4FEE-80DE-D54C3470C8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57500"/>
            <a:ext cx="2667000" cy="1047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3DF"/>
          </a:solidFill>
          <a:ln xmlns:a="http://schemas.openxmlformats.org/drawingml/2006/main" w="19050">
            <a:solidFill>
              <a:srgbClr val="B97914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2100">
                <a:solidFill>
                  <a:srgbClr val="132C44"/>
                </a:solidFill>
                <a:latin typeface="Microsoft JhengHei"/>
                <a:ea typeface="Microsoft JhengHei"/>
                <a:cs typeface="Microsoft JhengHei"/>
              </a:defRPr>
            </a:defPPr>
            <a:lvl1pPr algn="ctr">
              <a:defRPr sz="2100">
                <a:solidFill>
                  <a:srgbClr val="132C44"/>
                </a:solidFill>
                <a:latin typeface="Microsoft JhengHei"/>
                <a:ea typeface="Microsoft JhengHei"/>
                <a:cs typeface="Microsoft JhengHei"/>
              </a:defRPr>
            </a:lvl1pPr>
            <a:lvl2pPr algn="ctr">
              <a:defRPr sz="2100">
                <a:solidFill>
                  <a:srgbClr val="132C44"/>
                </a:solidFill>
                <a:latin typeface="Microsoft JhengHei"/>
                <a:ea typeface="Microsoft JhengHei"/>
                <a:cs typeface="Microsoft JhengHei"/>
              </a:defRPr>
            </a:lvl2pPr>
            <a:lvl3pPr algn="ctr">
              <a:defRPr sz="2100">
                <a:solidFill>
                  <a:srgbClr val="132C44"/>
                </a:solidFill>
                <a:latin typeface="Microsoft JhengHei"/>
                <a:ea typeface="Microsoft JhengHei"/>
                <a:cs typeface="Microsoft JhengHei"/>
              </a:defRPr>
            </a:lvl3pPr>
            <a:lvl4pPr algn="ctr">
              <a:defRPr sz="2100">
                <a:solidFill>
                  <a:srgbClr val="132C44"/>
                </a:solidFill>
                <a:latin typeface="Microsoft JhengHei"/>
                <a:ea typeface="Microsoft JhengHei"/>
                <a:cs typeface="Microsoft JhengHei"/>
              </a:defRPr>
            </a:lvl4pPr>
            <a:lvl5pPr algn="ctr">
              <a:defRPr sz="2100">
                <a:solidFill>
                  <a:srgbClr val="132C44"/>
                </a:solidFill>
                <a:latin typeface="Microsoft JhengHei"/>
                <a:ea typeface="Microsoft JhengHei"/>
                <a:cs typeface="Microsoft JhengHei"/>
              </a:defRPr>
            </a:lvl5pPr>
            <a:lvl6pPr algn="ctr">
              <a:defRPr sz="2100">
                <a:solidFill>
                  <a:srgbClr val="132C44"/>
                </a:solidFill>
                <a:latin typeface="Microsoft JhengHei"/>
                <a:ea typeface="Microsoft JhengHei"/>
                <a:cs typeface="Microsoft JhengHei"/>
              </a:defRPr>
            </a:lvl6pPr>
            <a:lvl7pPr algn="ctr">
              <a:defRPr sz="2100">
                <a:solidFill>
                  <a:srgbClr val="132C44"/>
                </a:solidFill>
                <a:latin typeface="Microsoft JhengHei"/>
                <a:ea typeface="Microsoft JhengHei"/>
                <a:cs typeface="Microsoft JhengHei"/>
              </a:defRPr>
            </a:lvl7pPr>
            <a:lvl8pPr algn="ctr">
              <a:defRPr sz="2100">
                <a:solidFill>
                  <a:srgbClr val="132C44"/>
                </a:solidFill>
                <a:latin typeface="Microsoft JhengHei"/>
                <a:ea typeface="Microsoft JhengHei"/>
                <a:cs typeface="Microsoft JhengHei"/>
              </a:defRPr>
            </a:lvl8pPr>
            <a:lvl9pPr algn="ctr">
              <a:defRPr sz="2100">
                <a:solidFill>
                  <a:srgbClr val="132C44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ctr">
              <a:defRPr sz="2100">
                <a:solidFill>
                  <a:srgbClr val="132C44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100">
                <a:solidFill>
                  <a:srgbClr val="132C44"/>
                </a:solidFill>
                <a:latin typeface="Microsoft JhengHei"/>
                <a:ea typeface="Microsoft JhengHei"/>
                <a:cs typeface="Microsoft JhengHei"/>
              </a:rPr>
              <a:t>MCP Client</a:t>
            </a:r>
          </a:p>
          <a:p xmlns:a="http://schemas.openxmlformats.org/drawingml/2006/main">
            <a:pPr algn="ctr">
              <a:defRPr sz="2100">
                <a:solidFill>
                  <a:srgbClr val="132C44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100">
                <a:solidFill>
                  <a:srgbClr val="132C44"/>
                </a:solidFill>
                <a:latin typeface="Microsoft JhengHei"/>
                <a:ea typeface="Microsoft JhengHei"/>
                <a:cs typeface="Microsoft JhengHei"/>
              </a:rPr>
              <a:t>發送模擬要求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9C73BF2-0141-40FB-83B8-4C0430A649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4350" y="2857500"/>
            <a:ext cx="3524250" cy="1047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3DF"/>
          </a:solidFill>
          <a:ln xmlns:a="http://schemas.openxmlformats.org/drawingml/2006/main" w="19050">
            <a:solidFill>
              <a:srgbClr val="B97914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1875">
                <a:solidFill>
                  <a:srgbClr val="132C44"/>
                </a:solidFill>
                <a:latin typeface="Microsoft JhengHei"/>
                <a:ea typeface="Microsoft JhengHei"/>
                <a:cs typeface="Microsoft JhengHei"/>
              </a:defRPr>
            </a:defPPr>
            <a:lvl1pPr algn="ctr">
              <a:defRPr sz="1875">
                <a:solidFill>
                  <a:srgbClr val="132C44"/>
                </a:solidFill>
                <a:latin typeface="Microsoft JhengHei"/>
                <a:ea typeface="Microsoft JhengHei"/>
                <a:cs typeface="Microsoft JhengHei"/>
              </a:defRPr>
            </a:lvl1pPr>
            <a:lvl2pPr algn="ctr">
              <a:defRPr sz="1875">
                <a:solidFill>
                  <a:srgbClr val="132C44"/>
                </a:solidFill>
                <a:latin typeface="Microsoft JhengHei"/>
                <a:ea typeface="Microsoft JhengHei"/>
                <a:cs typeface="Microsoft JhengHei"/>
              </a:defRPr>
            </a:lvl2pPr>
            <a:lvl3pPr algn="ctr">
              <a:defRPr sz="1875">
                <a:solidFill>
                  <a:srgbClr val="132C44"/>
                </a:solidFill>
                <a:latin typeface="Microsoft JhengHei"/>
                <a:ea typeface="Microsoft JhengHei"/>
                <a:cs typeface="Microsoft JhengHei"/>
              </a:defRPr>
            </a:lvl3pPr>
            <a:lvl4pPr algn="ctr">
              <a:defRPr sz="1875">
                <a:solidFill>
                  <a:srgbClr val="132C44"/>
                </a:solidFill>
                <a:latin typeface="Microsoft JhengHei"/>
                <a:ea typeface="Microsoft JhengHei"/>
                <a:cs typeface="Microsoft JhengHei"/>
              </a:defRPr>
            </a:lvl4pPr>
            <a:lvl5pPr algn="ctr">
              <a:defRPr sz="1875">
                <a:solidFill>
                  <a:srgbClr val="132C44"/>
                </a:solidFill>
                <a:latin typeface="Microsoft JhengHei"/>
                <a:ea typeface="Microsoft JhengHei"/>
                <a:cs typeface="Microsoft JhengHei"/>
              </a:defRPr>
            </a:lvl5pPr>
            <a:lvl6pPr algn="ctr">
              <a:defRPr sz="1875">
                <a:solidFill>
                  <a:srgbClr val="132C44"/>
                </a:solidFill>
                <a:latin typeface="Microsoft JhengHei"/>
                <a:ea typeface="Microsoft JhengHei"/>
                <a:cs typeface="Microsoft JhengHei"/>
              </a:defRPr>
            </a:lvl6pPr>
            <a:lvl7pPr algn="ctr">
              <a:defRPr sz="1875">
                <a:solidFill>
                  <a:srgbClr val="132C44"/>
                </a:solidFill>
                <a:latin typeface="Microsoft JhengHei"/>
                <a:ea typeface="Microsoft JhengHei"/>
                <a:cs typeface="Microsoft JhengHei"/>
              </a:defRPr>
            </a:lvl7pPr>
            <a:lvl8pPr algn="ctr">
              <a:defRPr sz="1875">
                <a:solidFill>
                  <a:srgbClr val="132C44"/>
                </a:solidFill>
                <a:latin typeface="Microsoft JhengHei"/>
                <a:ea typeface="Microsoft JhengHei"/>
                <a:cs typeface="Microsoft JhengHei"/>
              </a:defRPr>
            </a:lvl8pPr>
            <a:lvl9pPr algn="ctr">
              <a:defRPr sz="1875">
                <a:solidFill>
                  <a:srgbClr val="132C44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ctr">
              <a:defRPr sz="1875">
                <a:solidFill>
                  <a:srgbClr val="132C44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75">
                <a:solidFill>
                  <a:srgbClr val="132C44"/>
                </a:solidFill>
                <a:latin typeface="Microsoft JhengHei"/>
                <a:ea typeface="Microsoft JhengHei"/>
                <a:cs typeface="Microsoft JhengHei"/>
              </a:rPr>
              <a:t>MCP Server</a:t>
            </a:r>
          </a:p>
          <a:p xmlns:a="http://schemas.openxmlformats.org/drawingml/2006/main">
            <a:pPr algn="ctr">
              <a:defRPr sz="1875">
                <a:solidFill>
                  <a:srgbClr val="132C44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75">
                <a:solidFill>
                  <a:srgbClr val="132C44"/>
                </a:solidFill>
                <a:latin typeface="Microsoft JhengHei"/>
                <a:ea typeface="Microsoft JhengHei"/>
                <a:cs typeface="Microsoft JhengHei"/>
              </a:rPr>
              <a:t>run_energyplus_simulation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FB746E6-CD0B-405F-8995-B1BE3EBF88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91600" y="2857500"/>
            <a:ext cx="2590800" cy="1047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3DF"/>
          </a:solidFill>
          <a:ln xmlns:a="http://schemas.openxmlformats.org/drawingml/2006/main" w="19050">
            <a:solidFill>
              <a:srgbClr val="B97914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2100">
                <a:solidFill>
                  <a:srgbClr val="132C44"/>
                </a:solidFill>
                <a:latin typeface="Microsoft JhengHei"/>
                <a:ea typeface="Microsoft JhengHei"/>
                <a:cs typeface="Microsoft JhengHei"/>
              </a:defRPr>
            </a:defPPr>
            <a:lvl1pPr algn="ctr">
              <a:defRPr sz="2100">
                <a:solidFill>
                  <a:srgbClr val="132C44"/>
                </a:solidFill>
                <a:latin typeface="Microsoft JhengHei"/>
                <a:ea typeface="Microsoft JhengHei"/>
                <a:cs typeface="Microsoft JhengHei"/>
              </a:defRPr>
            </a:lvl1pPr>
            <a:lvl2pPr algn="ctr">
              <a:defRPr sz="2100">
                <a:solidFill>
                  <a:srgbClr val="132C44"/>
                </a:solidFill>
                <a:latin typeface="Microsoft JhengHei"/>
                <a:ea typeface="Microsoft JhengHei"/>
                <a:cs typeface="Microsoft JhengHei"/>
              </a:defRPr>
            </a:lvl2pPr>
            <a:lvl3pPr algn="ctr">
              <a:defRPr sz="2100">
                <a:solidFill>
                  <a:srgbClr val="132C44"/>
                </a:solidFill>
                <a:latin typeface="Microsoft JhengHei"/>
                <a:ea typeface="Microsoft JhengHei"/>
                <a:cs typeface="Microsoft JhengHei"/>
              </a:defRPr>
            </a:lvl3pPr>
            <a:lvl4pPr algn="ctr">
              <a:defRPr sz="2100">
                <a:solidFill>
                  <a:srgbClr val="132C44"/>
                </a:solidFill>
                <a:latin typeface="Microsoft JhengHei"/>
                <a:ea typeface="Microsoft JhengHei"/>
                <a:cs typeface="Microsoft JhengHei"/>
              </a:defRPr>
            </a:lvl4pPr>
            <a:lvl5pPr algn="ctr">
              <a:defRPr sz="2100">
                <a:solidFill>
                  <a:srgbClr val="132C44"/>
                </a:solidFill>
                <a:latin typeface="Microsoft JhengHei"/>
                <a:ea typeface="Microsoft JhengHei"/>
                <a:cs typeface="Microsoft JhengHei"/>
              </a:defRPr>
            </a:lvl5pPr>
            <a:lvl6pPr algn="ctr">
              <a:defRPr sz="2100">
                <a:solidFill>
                  <a:srgbClr val="132C44"/>
                </a:solidFill>
                <a:latin typeface="Microsoft JhengHei"/>
                <a:ea typeface="Microsoft JhengHei"/>
                <a:cs typeface="Microsoft JhengHei"/>
              </a:defRPr>
            </a:lvl6pPr>
            <a:lvl7pPr algn="ctr">
              <a:defRPr sz="2100">
                <a:solidFill>
                  <a:srgbClr val="132C44"/>
                </a:solidFill>
                <a:latin typeface="Microsoft JhengHei"/>
                <a:ea typeface="Microsoft JhengHei"/>
                <a:cs typeface="Microsoft JhengHei"/>
              </a:defRPr>
            </a:lvl7pPr>
            <a:lvl8pPr algn="ctr">
              <a:defRPr sz="2100">
                <a:solidFill>
                  <a:srgbClr val="132C44"/>
                </a:solidFill>
                <a:latin typeface="Microsoft JhengHei"/>
                <a:ea typeface="Microsoft JhengHei"/>
                <a:cs typeface="Microsoft JhengHei"/>
              </a:defRPr>
            </a:lvl8pPr>
            <a:lvl9pPr algn="ctr">
              <a:defRPr sz="2100">
                <a:solidFill>
                  <a:srgbClr val="132C44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ctr">
              <a:defRPr sz="2100">
                <a:solidFill>
                  <a:srgbClr val="132C44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100">
                <a:solidFill>
                  <a:srgbClr val="132C44"/>
                </a:solidFill>
                <a:latin typeface="Microsoft JhengHei"/>
                <a:ea typeface="Microsoft JhengHei"/>
                <a:cs typeface="Microsoft JhengHei"/>
              </a:rPr>
              <a:t>EnergyPlus</a:t>
            </a:r>
          </a:p>
          <a:p xmlns:a="http://schemas.openxmlformats.org/drawingml/2006/main">
            <a:pPr algn="ctr">
              <a:defRPr sz="2100">
                <a:solidFill>
                  <a:srgbClr val="132C44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100">
                <a:solidFill>
                  <a:srgbClr val="132C44"/>
                </a:solidFill>
                <a:latin typeface="Microsoft JhengHei"/>
                <a:ea typeface="Microsoft JhengHei"/>
                <a:cs typeface="Microsoft JhengHei"/>
              </a:rPr>
              <a:t>模擬引擎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DBEF6C6-7DC3-4953-9495-48883AA663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71850" y="3171825"/>
            <a:ext cx="857250" cy="180975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007C83"/>
          </a:solidFill>
          <a:ln xmlns:a="http://schemas.openxmlformats.org/drawingml/2006/main" w="0">
            <a:noFill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561D7AA-2B27-4096-84C8-A5DE272D79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71850" y="3543300"/>
            <a:ext cx="857250" cy="180975"/>
          </a:xfrm>
          <a:prstGeom xmlns:a="http://schemas.openxmlformats.org/drawingml/2006/main" prst="leftArrow">
            <a:avLst/>
          </a:prstGeom>
          <a:solidFill xmlns:a="http://schemas.openxmlformats.org/drawingml/2006/main">
            <a:srgbClr val="007C83"/>
          </a:solidFill>
          <a:ln xmlns:a="http://schemas.openxmlformats.org/drawingml/2006/main" w="0">
            <a:noFill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07EDCB0-1A2D-4166-993F-9C6B9D80C3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62325" y="2505075"/>
            <a:ext cx="952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00" b="1">
                <a:solidFill>
                  <a:srgbClr val="007C83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1800" b="1">
                <a:solidFill>
                  <a:srgbClr val="007C83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1800" b="1">
                <a:solidFill>
                  <a:srgbClr val="007C83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1800" b="1">
                <a:solidFill>
                  <a:srgbClr val="007C83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1800" b="1">
                <a:solidFill>
                  <a:srgbClr val="007C83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1800" b="1">
                <a:solidFill>
                  <a:srgbClr val="007C83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1800" b="1">
                <a:solidFill>
                  <a:srgbClr val="007C83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1800" b="1">
                <a:solidFill>
                  <a:srgbClr val="007C83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1800" b="1">
                <a:solidFill>
                  <a:srgbClr val="007C83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1800" b="1">
                <a:solidFill>
                  <a:srgbClr val="007C83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1800" b="1">
                <a:solidFill>
                  <a:srgbClr val="007C83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00" b="1">
                <a:solidFill>
                  <a:srgbClr val="007C83"/>
                </a:solidFill>
                <a:latin typeface="Microsoft JhengHei"/>
                <a:ea typeface="Microsoft JhengHei"/>
                <a:cs typeface="Microsoft JhengHei"/>
              </a:rPr>
              <a:t>MCP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933A701-12A8-4246-B116-F2EF840184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43850" y="3286125"/>
            <a:ext cx="952500" cy="2095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4D6475"/>
          </a:solidFill>
          <a:ln xmlns:a="http://schemas.openxmlformats.org/drawingml/2006/main" w="0">
            <a:noFill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E7F25E8-295A-43C0-95E1-07E54611E2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77175" y="2476500"/>
            <a:ext cx="11239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650" b="0">
                <a:solidFill>
                  <a:srgbClr val="4D6475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1650" b="0">
                <a:solidFill>
                  <a:srgbClr val="4D6475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1650" b="0">
                <a:solidFill>
                  <a:srgbClr val="4D6475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1650" b="0">
                <a:solidFill>
                  <a:srgbClr val="4D6475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1650" b="0">
                <a:solidFill>
                  <a:srgbClr val="4D6475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1650" b="0">
                <a:solidFill>
                  <a:srgbClr val="4D6475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1650" b="0">
                <a:solidFill>
                  <a:srgbClr val="4D6475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1650" b="0">
                <a:solidFill>
                  <a:srgbClr val="4D6475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1650" b="0">
                <a:solidFill>
                  <a:srgbClr val="4D6475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1650" b="0">
                <a:solidFill>
                  <a:srgbClr val="4D6475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1650" b="0">
                <a:solidFill>
                  <a:srgbClr val="4D647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650" b="0">
                <a:solidFill>
                  <a:srgbClr val="4D6475"/>
                </a:solidFill>
                <a:latin typeface="Microsoft JhengHei"/>
                <a:ea typeface="Microsoft JhengHei"/>
                <a:cs typeface="Microsoft JhengHei"/>
              </a:rPr>
              <a:t>啟動程序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80B73FD-DE45-40C0-8E0B-D6A7C4F857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838700"/>
            <a:ext cx="3238500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3DF"/>
          </a:solidFill>
          <a:ln xmlns:a="http://schemas.openxmlformats.org/drawingml/2006/main" w="19050">
            <a:solidFill>
              <a:srgbClr val="B97914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1875">
                <a:solidFill>
                  <a:srgbClr val="132C44"/>
                </a:solidFill>
                <a:latin typeface="Microsoft JhengHei"/>
                <a:ea typeface="Microsoft JhengHei"/>
                <a:cs typeface="Microsoft JhengHei"/>
              </a:defRPr>
            </a:defPPr>
            <a:lvl1pPr algn="ctr">
              <a:defRPr sz="1875">
                <a:solidFill>
                  <a:srgbClr val="132C44"/>
                </a:solidFill>
                <a:latin typeface="Microsoft JhengHei"/>
                <a:ea typeface="Microsoft JhengHei"/>
                <a:cs typeface="Microsoft JhengHei"/>
              </a:defRPr>
            </a:lvl1pPr>
            <a:lvl2pPr algn="ctr">
              <a:defRPr sz="1875">
                <a:solidFill>
                  <a:srgbClr val="132C44"/>
                </a:solidFill>
                <a:latin typeface="Microsoft JhengHei"/>
                <a:ea typeface="Microsoft JhengHei"/>
                <a:cs typeface="Microsoft JhengHei"/>
              </a:defRPr>
            </a:lvl2pPr>
            <a:lvl3pPr algn="ctr">
              <a:defRPr sz="1875">
                <a:solidFill>
                  <a:srgbClr val="132C44"/>
                </a:solidFill>
                <a:latin typeface="Microsoft JhengHei"/>
                <a:ea typeface="Microsoft JhengHei"/>
                <a:cs typeface="Microsoft JhengHei"/>
              </a:defRPr>
            </a:lvl3pPr>
            <a:lvl4pPr algn="ctr">
              <a:defRPr sz="1875">
                <a:solidFill>
                  <a:srgbClr val="132C44"/>
                </a:solidFill>
                <a:latin typeface="Microsoft JhengHei"/>
                <a:ea typeface="Microsoft JhengHei"/>
                <a:cs typeface="Microsoft JhengHei"/>
              </a:defRPr>
            </a:lvl4pPr>
            <a:lvl5pPr algn="ctr">
              <a:defRPr sz="1875">
                <a:solidFill>
                  <a:srgbClr val="132C44"/>
                </a:solidFill>
                <a:latin typeface="Microsoft JhengHei"/>
                <a:ea typeface="Microsoft JhengHei"/>
                <a:cs typeface="Microsoft JhengHei"/>
              </a:defRPr>
            </a:lvl5pPr>
            <a:lvl6pPr algn="ctr">
              <a:defRPr sz="1875">
                <a:solidFill>
                  <a:srgbClr val="132C44"/>
                </a:solidFill>
                <a:latin typeface="Microsoft JhengHei"/>
                <a:ea typeface="Microsoft JhengHei"/>
                <a:cs typeface="Microsoft JhengHei"/>
              </a:defRPr>
            </a:lvl6pPr>
            <a:lvl7pPr algn="ctr">
              <a:defRPr sz="1875">
                <a:solidFill>
                  <a:srgbClr val="132C44"/>
                </a:solidFill>
                <a:latin typeface="Microsoft JhengHei"/>
                <a:ea typeface="Microsoft JhengHei"/>
                <a:cs typeface="Microsoft JhengHei"/>
              </a:defRPr>
            </a:lvl7pPr>
            <a:lvl8pPr algn="ctr">
              <a:defRPr sz="1875">
                <a:solidFill>
                  <a:srgbClr val="132C44"/>
                </a:solidFill>
                <a:latin typeface="Microsoft JhengHei"/>
                <a:ea typeface="Microsoft JhengHei"/>
                <a:cs typeface="Microsoft JhengHei"/>
              </a:defRPr>
            </a:lvl8pPr>
            <a:lvl9pPr algn="ctr">
              <a:defRPr sz="1875">
                <a:solidFill>
                  <a:srgbClr val="132C44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ctr">
              <a:defRPr sz="1875">
                <a:solidFill>
                  <a:srgbClr val="132C44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75">
                <a:solidFill>
                  <a:srgbClr val="132C44"/>
                </a:solidFill>
                <a:latin typeface="Microsoft JhengHei"/>
                <a:ea typeface="Microsoft JhengHei"/>
                <a:cs typeface="Microsoft JhengHei"/>
              </a:rPr>
              <a:t>Host 解析既有報告</a:t>
            </a:r>
          </a:p>
          <a:p xmlns:a="http://schemas.openxmlformats.org/drawingml/2006/main">
            <a:pPr algn="ctr">
              <a:defRPr sz="1875">
                <a:solidFill>
                  <a:srgbClr val="132C44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75">
                <a:solidFill>
                  <a:srgbClr val="132C44"/>
                </a:solidFill>
                <a:latin typeface="Microsoft JhengHei"/>
                <a:ea typeface="Microsoft JhengHei"/>
                <a:cs typeface="Microsoft JhengHei"/>
              </a:rPr>
              <a:t>本次只讀取保存結果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7090D33-25AF-4D96-AB4F-3A736BB778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4350" y="4838700"/>
            <a:ext cx="3524250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3DF"/>
          </a:solidFill>
          <a:ln xmlns:a="http://schemas.openxmlformats.org/drawingml/2006/main" w="19050">
            <a:solidFill>
              <a:srgbClr val="B97914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1875">
                <a:solidFill>
                  <a:srgbClr val="132C44"/>
                </a:solidFill>
                <a:latin typeface="Microsoft JhengHei"/>
                <a:ea typeface="Microsoft JhengHei"/>
                <a:cs typeface="Microsoft JhengHei"/>
              </a:defRPr>
            </a:defPPr>
            <a:lvl1pPr algn="ctr">
              <a:defRPr sz="1875">
                <a:solidFill>
                  <a:srgbClr val="132C44"/>
                </a:solidFill>
                <a:latin typeface="Microsoft JhengHei"/>
                <a:ea typeface="Microsoft JhengHei"/>
                <a:cs typeface="Microsoft JhengHei"/>
              </a:defRPr>
            </a:lvl1pPr>
            <a:lvl2pPr algn="ctr">
              <a:defRPr sz="1875">
                <a:solidFill>
                  <a:srgbClr val="132C44"/>
                </a:solidFill>
                <a:latin typeface="Microsoft JhengHei"/>
                <a:ea typeface="Microsoft JhengHei"/>
                <a:cs typeface="Microsoft JhengHei"/>
              </a:defRPr>
            </a:lvl2pPr>
            <a:lvl3pPr algn="ctr">
              <a:defRPr sz="1875">
                <a:solidFill>
                  <a:srgbClr val="132C44"/>
                </a:solidFill>
                <a:latin typeface="Microsoft JhengHei"/>
                <a:ea typeface="Microsoft JhengHei"/>
                <a:cs typeface="Microsoft JhengHei"/>
              </a:defRPr>
            </a:lvl3pPr>
            <a:lvl4pPr algn="ctr">
              <a:defRPr sz="1875">
                <a:solidFill>
                  <a:srgbClr val="132C44"/>
                </a:solidFill>
                <a:latin typeface="Microsoft JhengHei"/>
                <a:ea typeface="Microsoft JhengHei"/>
                <a:cs typeface="Microsoft JhengHei"/>
              </a:defRPr>
            </a:lvl4pPr>
            <a:lvl5pPr algn="ctr">
              <a:defRPr sz="1875">
                <a:solidFill>
                  <a:srgbClr val="132C44"/>
                </a:solidFill>
                <a:latin typeface="Microsoft JhengHei"/>
                <a:ea typeface="Microsoft JhengHei"/>
                <a:cs typeface="Microsoft JhengHei"/>
              </a:defRPr>
            </a:lvl5pPr>
            <a:lvl6pPr algn="ctr">
              <a:defRPr sz="1875">
                <a:solidFill>
                  <a:srgbClr val="132C44"/>
                </a:solidFill>
                <a:latin typeface="Microsoft JhengHei"/>
                <a:ea typeface="Microsoft JhengHei"/>
                <a:cs typeface="Microsoft JhengHei"/>
              </a:defRPr>
            </a:lvl6pPr>
            <a:lvl7pPr algn="ctr">
              <a:defRPr sz="1875">
                <a:solidFill>
                  <a:srgbClr val="132C44"/>
                </a:solidFill>
                <a:latin typeface="Microsoft JhengHei"/>
                <a:ea typeface="Microsoft JhengHei"/>
                <a:cs typeface="Microsoft JhengHei"/>
              </a:defRPr>
            </a:lvl7pPr>
            <a:lvl8pPr algn="ctr">
              <a:defRPr sz="1875">
                <a:solidFill>
                  <a:srgbClr val="132C44"/>
                </a:solidFill>
                <a:latin typeface="Microsoft JhengHei"/>
                <a:ea typeface="Microsoft JhengHei"/>
                <a:cs typeface="Microsoft JhengHei"/>
              </a:defRPr>
            </a:lvl8pPr>
            <a:lvl9pPr algn="ctr">
              <a:defRPr sz="1875">
                <a:solidFill>
                  <a:srgbClr val="132C44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ctr">
              <a:defRPr sz="1875">
                <a:solidFill>
                  <a:srgbClr val="132C44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75">
                <a:solidFill>
                  <a:srgbClr val="132C44"/>
                </a:solidFill>
                <a:latin typeface="Microsoft JhengHei"/>
                <a:ea typeface="Microsoft JhengHei"/>
                <a:cs typeface="Microsoft JhengHei"/>
              </a:rPr>
              <a:t>Server 回傳狀態與路徑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3C9208D-92D4-488F-A9AB-FE50C78A22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91600" y="4838700"/>
            <a:ext cx="2590800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3DF"/>
          </a:solidFill>
          <a:ln xmlns:a="http://schemas.openxmlformats.org/drawingml/2006/main" w="19050">
            <a:solidFill>
              <a:srgbClr val="B97914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1950">
                <a:solidFill>
                  <a:srgbClr val="132C44"/>
                </a:solidFill>
                <a:latin typeface="Microsoft JhengHei"/>
                <a:ea typeface="Microsoft JhengHei"/>
                <a:cs typeface="Microsoft JhengHei"/>
              </a:defRPr>
            </a:defPPr>
            <a:lvl1pPr algn="ctr">
              <a:defRPr sz="1950">
                <a:solidFill>
                  <a:srgbClr val="132C44"/>
                </a:solidFill>
                <a:latin typeface="Microsoft JhengHei"/>
                <a:ea typeface="Microsoft JhengHei"/>
                <a:cs typeface="Microsoft JhengHei"/>
              </a:defRPr>
            </a:lvl1pPr>
            <a:lvl2pPr algn="ctr">
              <a:defRPr sz="1950">
                <a:solidFill>
                  <a:srgbClr val="132C44"/>
                </a:solidFill>
                <a:latin typeface="Microsoft JhengHei"/>
                <a:ea typeface="Microsoft JhengHei"/>
                <a:cs typeface="Microsoft JhengHei"/>
              </a:defRPr>
            </a:lvl2pPr>
            <a:lvl3pPr algn="ctr">
              <a:defRPr sz="1950">
                <a:solidFill>
                  <a:srgbClr val="132C44"/>
                </a:solidFill>
                <a:latin typeface="Microsoft JhengHei"/>
                <a:ea typeface="Microsoft JhengHei"/>
                <a:cs typeface="Microsoft JhengHei"/>
              </a:defRPr>
            </a:lvl3pPr>
            <a:lvl4pPr algn="ctr">
              <a:defRPr sz="1950">
                <a:solidFill>
                  <a:srgbClr val="132C44"/>
                </a:solidFill>
                <a:latin typeface="Microsoft JhengHei"/>
                <a:ea typeface="Microsoft JhengHei"/>
                <a:cs typeface="Microsoft JhengHei"/>
              </a:defRPr>
            </a:lvl4pPr>
            <a:lvl5pPr algn="ctr">
              <a:defRPr sz="1950">
                <a:solidFill>
                  <a:srgbClr val="132C44"/>
                </a:solidFill>
                <a:latin typeface="Microsoft JhengHei"/>
                <a:ea typeface="Microsoft JhengHei"/>
                <a:cs typeface="Microsoft JhengHei"/>
              </a:defRPr>
            </a:lvl5pPr>
            <a:lvl6pPr algn="ctr">
              <a:defRPr sz="1950">
                <a:solidFill>
                  <a:srgbClr val="132C44"/>
                </a:solidFill>
                <a:latin typeface="Microsoft JhengHei"/>
                <a:ea typeface="Microsoft JhengHei"/>
                <a:cs typeface="Microsoft JhengHei"/>
              </a:defRPr>
            </a:lvl6pPr>
            <a:lvl7pPr algn="ctr">
              <a:defRPr sz="1950">
                <a:solidFill>
                  <a:srgbClr val="132C44"/>
                </a:solidFill>
                <a:latin typeface="Microsoft JhengHei"/>
                <a:ea typeface="Microsoft JhengHei"/>
                <a:cs typeface="Microsoft JhengHei"/>
              </a:defRPr>
            </a:lvl7pPr>
            <a:lvl8pPr algn="ctr">
              <a:defRPr sz="1950">
                <a:solidFill>
                  <a:srgbClr val="132C44"/>
                </a:solidFill>
                <a:latin typeface="Microsoft JhengHei"/>
                <a:ea typeface="Microsoft JhengHei"/>
                <a:cs typeface="Microsoft JhengHei"/>
              </a:defRPr>
            </a:lvl8pPr>
            <a:lvl9pPr algn="ctr">
              <a:defRPr sz="1950">
                <a:solidFill>
                  <a:srgbClr val="132C44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ctr">
              <a:defRPr sz="1950">
                <a:solidFill>
                  <a:srgbClr val="132C44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950">
                <a:solidFill>
                  <a:srgbClr val="132C44"/>
                </a:solidFill>
                <a:latin typeface="Microsoft JhengHei"/>
                <a:ea typeface="Microsoft JhengHei"/>
                <a:cs typeface="Microsoft JhengHei"/>
              </a:rPr>
              <a:t>輸出檔案</a:t>
            </a:r>
          </a:p>
          <a:p xmlns:a="http://schemas.openxmlformats.org/drawingml/2006/main">
            <a:pPr algn="ctr">
              <a:defRPr sz="1950">
                <a:solidFill>
                  <a:srgbClr val="132C44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950">
                <a:solidFill>
                  <a:srgbClr val="132C44"/>
                </a:solidFill>
                <a:latin typeface="Microsoft JhengHei"/>
                <a:ea typeface="Microsoft JhengHei"/>
                <a:cs typeface="Microsoft JhengHei"/>
              </a:rPr>
              <a:t>.end／HTML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27A9026-AC8B-4AE3-B0BF-CBA5792141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34600" y="4048125"/>
            <a:ext cx="228600" cy="647700"/>
          </a:xfrm>
          <a:prstGeom xmlns:a="http://schemas.openxmlformats.org/drawingml/2006/main" prst="downArrow">
            <a:avLst/>
          </a:prstGeom>
          <a:solidFill xmlns:a="http://schemas.openxmlformats.org/drawingml/2006/main">
            <a:srgbClr val="4D6475"/>
          </a:solidFill>
          <a:ln xmlns:a="http://schemas.openxmlformats.org/drawingml/2006/main" w="0">
            <a:noFill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77A9E66-B0C9-4020-9867-D9D0CF37E0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4048125"/>
            <a:ext cx="228600" cy="647700"/>
          </a:xfrm>
          <a:prstGeom xmlns:a="http://schemas.openxmlformats.org/drawingml/2006/main" prst="downArrow">
            <a:avLst/>
          </a:prstGeom>
          <a:solidFill xmlns:a="http://schemas.openxmlformats.org/drawingml/2006/main">
            <a:srgbClr val="4D6475"/>
          </a:solidFill>
          <a:ln xmlns:a="http://schemas.openxmlformats.org/drawingml/2006/main" w="0">
            <a:noFill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91E4EA0-AE96-45BF-B925-EB77C84CBA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43850" y="5143500"/>
            <a:ext cx="952500" cy="209550"/>
          </a:xfrm>
          <a:prstGeom xmlns:a="http://schemas.openxmlformats.org/drawingml/2006/main" prst="leftArrow">
            <a:avLst/>
          </a:prstGeom>
          <a:solidFill xmlns:a="http://schemas.openxmlformats.org/drawingml/2006/main">
            <a:srgbClr val="4D6475"/>
          </a:solidFill>
          <a:ln xmlns:a="http://schemas.openxmlformats.org/drawingml/2006/main" w="0">
            <a:noFill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1A1D97F-E5B7-4176-B0D6-A641A12C75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62650" y="4048125"/>
            <a:ext cx="228600" cy="647700"/>
          </a:xfrm>
          <a:prstGeom xmlns:a="http://schemas.openxmlformats.org/drawingml/2006/main" prst="upArrow">
            <a:avLst/>
          </a:prstGeom>
          <a:solidFill xmlns:a="http://schemas.openxmlformats.org/drawingml/2006/main">
            <a:srgbClr val="4D6475"/>
          </a:solidFill>
          <a:ln xmlns:a="http://schemas.openxmlformats.org/drawingml/2006/main" w="0">
            <a:noFill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ADB94E8-B628-4EAB-A9B3-34247F3285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00750"/>
            <a:ext cx="109728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00" b="0">
                <a:solidFill>
                  <a:srgbClr val="4D6475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1800" b="0">
                <a:solidFill>
                  <a:srgbClr val="4D6475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1800" b="0">
                <a:solidFill>
                  <a:srgbClr val="4D6475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1800" b="0">
                <a:solidFill>
                  <a:srgbClr val="4D6475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1800" b="0">
                <a:solidFill>
                  <a:srgbClr val="4D6475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1800" b="0">
                <a:solidFill>
                  <a:srgbClr val="4D6475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1800" b="0">
                <a:solidFill>
                  <a:srgbClr val="4D6475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1800" b="0">
                <a:solidFill>
                  <a:srgbClr val="4D6475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1800" b="0">
                <a:solidFill>
                  <a:srgbClr val="4D6475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1800" b="0">
                <a:solidFill>
                  <a:srgbClr val="4D6475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1800" b="0">
                <a:solidFill>
                  <a:srgbClr val="4D647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00" b="0">
                <a:solidFill>
                  <a:srgbClr val="4D6475"/>
                </a:solidFill>
                <a:latin typeface="Microsoft JhengHei"/>
                <a:ea typeface="Microsoft JhengHei"/>
                <a:cs typeface="Microsoft JhengHei"/>
              </a:rPr>
              <a:t>橘框＝先前實跑 　粗綠箭頭＝MCP 　灰箭頭＝本地程序／檔案</a:t>
            </a:r>
          </a:p>
        </p:txBody>
      </p:sp>
    </p:spTree>
    <p:extLst>
      <p:ext uri="{BB962C8B-B14F-4D97-AF65-F5344CB8AC3E}">
        <p14:creationId xmlns:p14="http://schemas.microsoft.com/office/powerpoint/2010/main" val="1300618749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3894C08-8A2F-4377-94C0-F921555733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5750"/>
            <a:ext cx="10763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425" b="1">
                <a:solidFill>
                  <a:srgbClr val="007C83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1425" b="1">
                <a:solidFill>
                  <a:srgbClr val="007C83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1425" b="1">
                <a:solidFill>
                  <a:srgbClr val="007C83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1425" b="1">
                <a:solidFill>
                  <a:srgbClr val="007C83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1425" b="1">
                <a:solidFill>
                  <a:srgbClr val="007C83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1425" b="1">
                <a:solidFill>
                  <a:srgbClr val="007C83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1425" b="1">
                <a:solidFill>
                  <a:srgbClr val="007C83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1425" b="1">
                <a:solidFill>
                  <a:srgbClr val="007C83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1425" b="1">
                <a:solidFill>
                  <a:srgbClr val="007C83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1425" b="1">
                <a:solidFill>
                  <a:srgbClr val="007C83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1425" b="1">
                <a:solidFill>
                  <a:srgbClr val="007C83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425" b="1">
                <a:solidFill>
                  <a:srgbClr val="007C83"/>
                </a:solidFill>
                <a:latin typeface="Microsoft JhengHei"/>
                <a:ea typeface="Microsoft JhengHei"/>
                <a:cs typeface="Microsoft JhengHei"/>
              </a:rPr>
              <a:t>重點程式導覽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2DEBD7E-FB70-4926-BE33-BF533B6B42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09625"/>
            <a:ext cx="109728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225" b="1">
                <a:solidFill>
                  <a:srgbClr val="132C44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3225" b="1">
                <a:solidFill>
                  <a:srgbClr val="132C44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3225" b="1">
                <a:solidFill>
                  <a:srgbClr val="132C44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3225" b="1">
                <a:solidFill>
                  <a:srgbClr val="132C44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3225" b="1">
                <a:solidFill>
                  <a:srgbClr val="132C44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3225" b="1">
                <a:solidFill>
                  <a:srgbClr val="132C44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3225" b="1">
                <a:solidFill>
                  <a:srgbClr val="132C44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3225" b="1">
                <a:solidFill>
                  <a:srgbClr val="132C44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3225" b="1">
                <a:solidFill>
                  <a:srgbClr val="132C44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3225" b="1">
                <a:solidFill>
                  <a:srgbClr val="132C44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3225" b="1">
                <a:solidFill>
                  <a:srgbClr val="132C44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3225" b="1">
                <a:solidFill>
                  <a:srgbClr val="132C44"/>
                </a:solidFill>
                <a:latin typeface="Microsoft JhengHei"/>
                <a:ea typeface="Microsoft JhengHei"/>
                <a:cs typeface="Microsoft JhengHei"/>
              </a:rPr>
              <a:t>只看四段關鍵程式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D5B8798-687D-49D0-A183-54B5D6C72F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191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0">
                <a:solidFill>
                  <a:srgbClr val="4D6475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1200" b="0">
                <a:solidFill>
                  <a:srgbClr val="4D6475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1200" b="0">
                <a:solidFill>
                  <a:srgbClr val="4D6475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1200" b="0">
                <a:solidFill>
                  <a:srgbClr val="4D6475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1200" b="0">
                <a:solidFill>
                  <a:srgbClr val="4D6475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1200" b="0">
                <a:solidFill>
                  <a:srgbClr val="4D6475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1200" b="0">
                <a:solidFill>
                  <a:srgbClr val="4D6475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1200" b="0">
                <a:solidFill>
                  <a:srgbClr val="4D6475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1200" b="0">
                <a:solidFill>
                  <a:srgbClr val="4D6475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1200" b="0">
                <a:solidFill>
                  <a:srgbClr val="4D6475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4D647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00" b="0">
                <a:solidFill>
                  <a:srgbClr val="4D6475"/>
                </a:solidFill>
                <a:latin typeface="Microsoft JhengHei"/>
                <a:ea typeface="Microsoft JhengHei"/>
                <a:cs typeface="Microsoft JhengHei"/>
              </a:rPr>
              <a:t>EnergyPlus-MCP  ·  MCP 工具流程實作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000263F-FD55-450E-81A1-EB330970BE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19850"/>
            <a:ext cx="6286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0">
                <a:solidFill>
                  <a:srgbClr val="4D6475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1200" b="0">
                <a:solidFill>
                  <a:srgbClr val="4D6475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1200" b="0">
                <a:solidFill>
                  <a:srgbClr val="4D6475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1200" b="0">
                <a:solidFill>
                  <a:srgbClr val="4D6475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1200" b="0">
                <a:solidFill>
                  <a:srgbClr val="4D6475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1200" b="0">
                <a:solidFill>
                  <a:srgbClr val="4D6475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1200" b="0">
                <a:solidFill>
                  <a:srgbClr val="4D6475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1200" b="0">
                <a:solidFill>
                  <a:srgbClr val="4D6475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1200" b="0">
                <a:solidFill>
                  <a:srgbClr val="4D6475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1200" b="0">
                <a:solidFill>
                  <a:srgbClr val="4D6475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4D647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00" b="0">
                <a:solidFill>
                  <a:srgbClr val="4D6475"/>
                </a:solidFill>
                <a:latin typeface="Microsoft JhengHei"/>
                <a:ea typeface="Microsoft JhengHei"/>
                <a:cs typeface="Microsoft JhengHei"/>
              </a:rPr>
              <a:t>06</a:t>
            </a:r>
          </a:p>
        </p:txBody>
      </p:sp>
      <p:graphicFrame>
        <p:nvGraphicFrame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A4A6A30-2083-4144-A4DB-58E2BDFEF624}"/>
              </a:ext>
            </a:extLst>
          </p:cNvPr>
          <p:cNvGraphicFramePr/>
          <p:nvPr/>
        </p:nvGraphicFramePr>
        <p:xfrm>
          <a:off xmlns:a="http://schemas.openxmlformats.org/drawingml/2006/main" x="609600" y="1952625"/>
          <a:ext xmlns:a="http://schemas.openxmlformats.org/drawingml/2006/main" cx="10972800" cy="32385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5429250"/>
                <a:gridCol w="5543550"/>
              </a:tblGrid>
              <a:tr h="647700">
                <a:tc>
                  <a:txBody>
                    <a:bodyPr/>
                    <a:lstStyle/>
                    <a:p>
                      <a:r>
                        <a:rPr sz="2025" b="1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程式焦點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D9E4E8"/>
                      </a:solidFill>
                      <a:prstDash val="solid"/>
                    </a:lnL>
                    <a:lnR w="9525">
                      <a:solidFill>
                        <a:srgbClr val="D9E4E8"/>
                      </a:solidFill>
                      <a:prstDash val="solid"/>
                    </a:lnR>
                    <a:lnT w="9525">
                      <a:solidFill>
                        <a:srgbClr val="D9E4E8"/>
                      </a:solidFill>
                      <a:prstDash val="solid"/>
                    </a:lnT>
                    <a:lnB w="9525">
                      <a:solidFill>
                        <a:srgbClr val="D9E4E8"/>
                      </a:solidFill>
                      <a:prstDash val="solid"/>
                    </a:lnB>
                    <a:solidFill>
                      <a:srgbClr val="132C4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 b="1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要能解釋的問題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9E4E8"/>
                      </a:solidFill>
                      <a:prstDash val="solid"/>
                    </a:lnR>
                    <a:lnT w="9525">
                      <a:solidFill>
                        <a:srgbClr val="D9E4E8"/>
                      </a:solidFill>
                      <a:prstDash val="solid"/>
                    </a:lnT>
                    <a:lnB w="9525">
                      <a:solidFill>
                        <a:srgbClr val="D9E4E8"/>
                      </a:solidFill>
                      <a:prstDash val="solid"/>
                    </a:lnB>
                    <a:solidFill>
                      <a:srgbClr val="132C44"/>
                    </a:solidFill>
                  </a:tcPr>
                </a:tc>
              </a:tr>
              <a:tr h="647700">
                <a:tc>
                  <a:txBody>
                    <a:bodyPr/>
                    <a:lstStyle/>
                    <a:p>
                      <a:r>
                        <a:rPr sz="2025" b="0">
                          <a:solidFill>
                            <a:srgbClr val="132C44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ClientSession ＋ initialize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D9E4E8"/>
                      </a:solidFill>
                      <a:prstDash val="solid"/>
                    </a:lnL>
                    <a:lnR w="9525">
                      <a:solidFill>
                        <a:srgbClr val="D9E4E8"/>
                      </a:solidFill>
                      <a:prstDash val="solid"/>
                    </a:lnR>
                    <a:lnB w="9525">
                      <a:solidFill>
                        <a:srgbClr val="D9E4E8"/>
                      </a:solidFill>
                      <a:prstDash val="solid"/>
                    </a:lnB>
                    <a:solidFill>
                      <a:srgbClr val="EEF5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 b="0">
                          <a:solidFill>
                            <a:srgbClr val="132C44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誰建立通訊？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9E4E8"/>
                      </a:solidFill>
                      <a:prstDash val="solid"/>
                    </a:lnR>
                    <a:lnB w="9525">
                      <a:solidFill>
                        <a:srgbClr val="D9E4E8"/>
                      </a:solidFill>
                      <a:prstDash val="solid"/>
                    </a:lnB>
                    <a:solidFill>
                      <a:srgbClr val="EEF5F6"/>
                    </a:solidFill>
                  </a:tcPr>
                </a:tc>
              </a:tr>
              <a:tr h="647700">
                <a:tc>
                  <a:txBody>
                    <a:bodyPr/>
                    <a:lstStyle/>
                    <a:p>
                      <a:r>
                        <a:rPr sz="2025" b="0">
                          <a:solidFill>
                            <a:srgbClr val="132C44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list_tools ＋ call_tool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D9E4E8"/>
                      </a:solidFill>
                      <a:prstDash val="solid"/>
                    </a:lnL>
                    <a:lnR w="9525">
                      <a:solidFill>
                        <a:srgbClr val="D9E4E8"/>
                      </a:solidFill>
                      <a:prstDash val="solid"/>
                    </a:lnR>
                    <a:lnB w="9525">
                      <a:solidFill>
                        <a:srgbClr val="D9E4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 b="0">
                          <a:solidFill>
                            <a:srgbClr val="132C44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如何找工具並發送要求？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9E4E8"/>
                      </a:solidFill>
                      <a:prstDash val="solid"/>
                    </a:lnR>
                    <a:lnB w="9525">
                      <a:solidFill>
                        <a:srgbClr val="D9E4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647700">
                <a:tc>
                  <a:txBody>
                    <a:bodyPr/>
                    <a:lstStyle/>
                    <a:p>
                      <a:r>
                        <a:rPr sz="2025" b="0">
                          <a:solidFill>
                            <a:srgbClr val="132C44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原值 × 0.7 ＋ modifications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D9E4E8"/>
                      </a:solidFill>
                      <a:prstDash val="solid"/>
                    </a:lnL>
                    <a:lnR w="9525">
                      <a:solidFill>
                        <a:srgbClr val="D9E4E8"/>
                      </a:solidFill>
                      <a:prstDash val="solid"/>
                    </a:lnR>
                    <a:lnB w="9525">
                      <a:solidFill>
                        <a:srgbClr val="D9E4E8"/>
                      </a:solidFill>
                      <a:prstDash val="solid"/>
                    </a:lnB>
                    <a:solidFill>
                      <a:srgbClr val="EEF5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 b="0">
                          <a:solidFill>
                            <a:srgbClr val="132C44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誰決定具體新值？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9E4E8"/>
                      </a:solidFill>
                      <a:prstDash val="solid"/>
                    </a:lnR>
                    <a:lnB w="9525">
                      <a:solidFill>
                        <a:srgbClr val="D9E4E8"/>
                      </a:solidFill>
                      <a:prstDash val="solid"/>
                    </a:lnB>
                    <a:solidFill>
                      <a:srgbClr val="EEF5F6"/>
                    </a:solidFill>
                  </a:tcPr>
                </a:tc>
              </a:tr>
              <a:tr h="647700">
                <a:tc>
                  <a:txBody>
                    <a:bodyPr/>
                    <a:lstStyle/>
                    <a:p>
                      <a:r>
                        <a:rPr sz="2025" b="0">
                          <a:solidFill>
                            <a:srgbClr val="132C44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setattr ＋ idf.save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D9E4E8"/>
                      </a:solidFill>
                      <a:prstDash val="solid"/>
                    </a:lnL>
                    <a:lnR w="9525">
                      <a:solidFill>
                        <a:srgbClr val="D9E4E8"/>
                      </a:solidFill>
                      <a:prstDash val="solid"/>
                    </a:lnR>
                    <a:lnB w="9525">
                      <a:solidFill>
                        <a:srgbClr val="D9E4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 b="0">
                          <a:solidFill>
                            <a:srgbClr val="132C44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哪一行改記憶體，哪一行寫檔？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9E4E8"/>
                      </a:solidFill>
                      <a:prstDash val="solid"/>
                    </a:lnR>
                    <a:lnB w="9525">
                      <a:solidFill>
                        <a:srgbClr val="D9E4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7DDEFAC-9B8B-4EB6-87CA-A10967B616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81650"/>
            <a:ext cx="109728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025" b="1">
                <a:solidFill>
                  <a:srgbClr val="007C83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2025" b="1">
                <a:solidFill>
                  <a:srgbClr val="007C83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2025" b="1">
                <a:solidFill>
                  <a:srgbClr val="007C83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2025" b="1">
                <a:solidFill>
                  <a:srgbClr val="007C83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2025" b="1">
                <a:solidFill>
                  <a:srgbClr val="007C83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2025" b="1">
                <a:solidFill>
                  <a:srgbClr val="007C83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2025" b="1">
                <a:solidFill>
                  <a:srgbClr val="007C83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2025" b="1">
                <a:solidFill>
                  <a:srgbClr val="007C83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2025" b="1">
                <a:solidFill>
                  <a:srgbClr val="007C83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2025" b="1">
                <a:solidFill>
                  <a:srgbClr val="007C83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2025" b="1">
                <a:solidFill>
                  <a:srgbClr val="007C83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025" b="1">
                <a:solidFill>
                  <a:srgbClr val="007C83"/>
                </a:solidFill>
                <a:latin typeface="Microsoft JhengHei"/>
                <a:ea typeface="Microsoft JhengHei"/>
                <a:cs typeface="Microsoft JhengHei"/>
              </a:rPr>
              <a:t>完整程式保留可重跑；報告只講責任、參數與證據。</a:t>
            </a:r>
          </a:p>
        </p:txBody>
      </p:sp>
    </p:spTree>
    <p:extLst>
      <p:ext uri="{BB962C8B-B14F-4D97-AF65-F5344CB8AC3E}">
        <p14:creationId xmlns:p14="http://schemas.microsoft.com/office/powerpoint/2010/main" val="762180091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480FC3D-BF92-4F2E-AE8E-94407C430F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5750"/>
            <a:ext cx="10763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425" b="1">
                <a:solidFill>
                  <a:srgbClr val="007C83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1425" b="1">
                <a:solidFill>
                  <a:srgbClr val="007C83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1425" b="1">
                <a:solidFill>
                  <a:srgbClr val="007C83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1425" b="1">
                <a:solidFill>
                  <a:srgbClr val="007C83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1425" b="1">
                <a:solidFill>
                  <a:srgbClr val="007C83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1425" b="1">
                <a:solidFill>
                  <a:srgbClr val="007C83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1425" b="1">
                <a:solidFill>
                  <a:srgbClr val="007C83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1425" b="1">
                <a:solidFill>
                  <a:srgbClr val="007C83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1425" b="1">
                <a:solidFill>
                  <a:srgbClr val="007C83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1425" b="1">
                <a:solidFill>
                  <a:srgbClr val="007C83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1425" b="1">
                <a:solidFill>
                  <a:srgbClr val="007C83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425" b="1">
                <a:solidFill>
                  <a:srgbClr val="007C83"/>
                </a:solidFill>
                <a:latin typeface="Microsoft JhengHei"/>
                <a:ea typeface="Microsoft JhengHei"/>
                <a:cs typeface="Microsoft JhengHei"/>
              </a:rPr>
              <a:t>03  /  訊息順序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D71CB90-2B7F-4C0B-BD10-95E04C549E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09625"/>
            <a:ext cx="109728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225" b="1">
                <a:solidFill>
                  <a:srgbClr val="132C44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3225" b="1">
                <a:solidFill>
                  <a:srgbClr val="132C44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3225" b="1">
                <a:solidFill>
                  <a:srgbClr val="132C44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3225" b="1">
                <a:solidFill>
                  <a:srgbClr val="132C44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3225" b="1">
                <a:solidFill>
                  <a:srgbClr val="132C44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3225" b="1">
                <a:solidFill>
                  <a:srgbClr val="132C44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3225" b="1">
                <a:solidFill>
                  <a:srgbClr val="132C44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3225" b="1">
                <a:solidFill>
                  <a:srgbClr val="132C44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3225" b="1">
                <a:solidFill>
                  <a:srgbClr val="132C44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3225" b="1">
                <a:solidFill>
                  <a:srgbClr val="132C44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3225" b="1">
                <a:solidFill>
                  <a:srgbClr val="132C44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3225" b="1">
                <a:solidFill>
                  <a:srgbClr val="132C44"/>
                </a:solidFill>
                <a:latin typeface="Microsoft JhengHei"/>
                <a:ea typeface="Microsoft JhengHei"/>
                <a:cs typeface="Microsoft JhengHei"/>
              </a:rPr>
              <a:t>一次任務從初始化開始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752553C-FAC7-4A6B-A49D-C275799EFD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191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0">
                <a:solidFill>
                  <a:srgbClr val="4D6475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1200" b="0">
                <a:solidFill>
                  <a:srgbClr val="4D6475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1200" b="0">
                <a:solidFill>
                  <a:srgbClr val="4D6475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1200" b="0">
                <a:solidFill>
                  <a:srgbClr val="4D6475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1200" b="0">
                <a:solidFill>
                  <a:srgbClr val="4D6475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1200" b="0">
                <a:solidFill>
                  <a:srgbClr val="4D6475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1200" b="0">
                <a:solidFill>
                  <a:srgbClr val="4D6475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1200" b="0">
                <a:solidFill>
                  <a:srgbClr val="4D6475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1200" b="0">
                <a:solidFill>
                  <a:srgbClr val="4D6475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1200" b="0">
                <a:solidFill>
                  <a:srgbClr val="4D6475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4D647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00" b="0">
                <a:solidFill>
                  <a:srgbClr val="4D6475"/>
                </a:solidFill>
                <a:latin typeface="Microsoft JhengHei"/>
                <a:ea typeface="Microsoft JhengHei"/>
                <a:cs typeface="Microsoft JhengHei"/>
              </a:rPr>
              <a:t>來源：MCP 2025-11-25 specification；本機 SDK 呼叫紀錄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2E14C0D-F8E3-48AF-BFA5-17BB839136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19850"/>
            <a:ext cx="6286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0">
                <a:solidFill>
                  <a:srgbClr val="4D6475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1200" b="0">
                <a:solidFill>
                  <a:srgbClr val="4D6475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1200" b="0">
                <a:solidFill>
                  <a:srgbClr val="4D6475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1200" b="0">
                <a:solidFill>
                  <a:srgbClr val="4D6475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1200" b="0">
                <a:solidFill>
                  <a:srgbClr val="4D6475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1200" b="0">
                <a:solidFill>
                  <a:srgbClr val="4D6475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1200" b="0">
                <a:solidFill>
                  <a:srgbClr val="4D6475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1200" b="0">
                <a:solidFill>
                  <a:srgbClr val="4D6475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1200" b="0">
                <a:solidFill>
                  <a:srgbClr val="4D6475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1200" b="0">
                <a:solidFill>
                  <a:srgbClr val="4D6475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4D647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00" b="0">
                <a:solidFill>
                  <a:srgbClr val="4D6475"/>
                </a:solidFill>
                <a:latin typeface="Microsoft JhengHei"/>
                <a:ea typeface="Microsoft JhengHei"/>
                <a:cs typeface="Microsoft JhengHei"/>
              </a:rPr>
              <a:t>07</a:t>
            </a:r>
          </a:p>
        </p:txBody>
      </p:sp>
      <p:graphicFrame>
        <p:nvGraphicFrame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87D8177-46E0-4BB8-A273-5C38C4CECCC7}"/>
              </a:ext>
            </a:extLst>
          </p:cNvPr>
          <p:cNvGraphicFramePr/>
          <p:nvPr/>
        </p:nvGraphicFramePr>
        <p:xfrm>
          <a:off xmlns:a="http://schemas.openxmlformats.org/drawingml/2006/main" x="609600" y="1857375"/>
          <a:ext xmlns:a="http://schemas.openxmlformats.org/drawingml/2006/main" cx="10972800" cy="35242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1143000"/>
                <a:gridCol w="5143500"/>
                <a:gridCol w="4686300"/>
              </a:tblGrid>
              <a:tr h="503464"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次序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D9E4E8"/>
                      </a:solidFill>
                      <a:prstDash val="solid"/>
                    </a:lnL>
                    <a:lnR w="9525">
                      <a:solidFill>
                        <a:srgbClr val="D9E4E8"/>
                      </a:solidFill>
                      <a:prstDash val="solid"/>
                    </a:lnR>
                    <a:lnT w="9525">
                      <a:solidFill>
                        <a:srgbClr val="D9E4E8"/>
                      </a:solidFill>
                      <a:prstDash val="solid"/>
                    </a:lnT>
                    <a:lnB w="9525">
                      <a:solidFill>
                        <a:srgbClr val="D9E4E8"/>
                      </a:solidFill>
                      <a:prstDash val="solid"/>
                    </a:lnB>
                    <a:solidFill>
                      <a:srgbClr val="132C4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操作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9E4E8"/>
                      </a:solidFill>
                      <a:prstDash val="solid"/>
                    </a:lnR>
                    <a:lnT w="9525">
                      <a:solidFill>
                        <a:srgbClr val="D9E4E8"/>
                      </a:solidFill>
                      <a:prstDash val="solid"/>
                    </a:lnT>
                    <a:lnB w="9525">
                      <a:solidFill>
                        <a:srgbClr val="D9E4E8"/>
                      </a:solidFill>
                      <a:prstDash val="solid"/>
                    </a:lnB>
                    <a:solidFill>
                      <a:srgbClr val="132C4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目的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9E4E8"/>
                      </a:solidFill>
                      <a:prstDash val="solid"/>
                    </a:lnR>
                    <a:lnT w="9525">
                      <a:solidFill>
                        <a:srgbClr val="D9E4E8"/>
                      </a:solidFill>
                      <a:prstDash val="solid"/>
                    </a:lnT>
                    <a:lnB w="9525">
                      <a:solidFill>
                        <a:srgbClr val="D9E4E8"/>
                      </a:solidFill>
                      <a:prstDash val="solid"/>
                    </a:lnB>
                    <a:solidFill>
                      <a:srgbClr val="132C44"/>
                    </a:solidFill>
                  </a:tcPr>
                </a:tc>
              </a:tr>
              <a:tr h="503464"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32C44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1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D9E4E8"/>
                      </a:solidFill>
                      <a:prstDash val="solid"/>
                    </a:lnL>
                    <a:lnR w="9525">
                      <a:solidFill>
                        <a:srgbClr val="D9E4E8"/>
                      </a:solidFill>
                      <a:prstDash val="solid"/>
                    </a:lnR>
                    <a:lnB w="9525">
                      <a:solidFill>
                        <a:srgbClr val="D9E4E8"/>
                      </a:solidFill>
                      <a:prstDash val="solid"/>
                    </a:lnB>
                    <a:solidFill>
                      <a:srgbClr val="EEF5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32C44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initialize + initialized 通知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9E4E8"/>
                      </a:solidFill>
                      <a:prstDash val="solid"/>
                    </a:lnR>
                    <a:lnB w="9525">
                      <a:solidFill>
                        <a:srgbClr val="D9E4E8"/>
                      </a:solidFill>
                      <a:prstDash val="solid"/>
                    </a:lnB>
                    <a:solidFill>
                      <a:srgbClr val="EEF5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32C44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協商版本與能力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9E4E8"/>
                      </a:solidFill>
                      <a:prstDash val="solid"/>
                    </a:lnR>
                    <a:lnB w="9525">
                      <a:solidFill>
                        <a:srgbClr val="D9E4E8"/>
                      </a:solidFill>
                      <a:prstDash val="solid"/>
                    </a:lnB>
                    <a:solidFill>
                      <a:srgbClr val="EEF5F6"/>
                    </a:solidFill>
                  </a:tcPr>
                </a:tc>
              </a:tr>
              <a:tr h="503464"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32C44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2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D9E4E8"/>
                      </a:solidFill>
                      <a:prstDash val="solid"/>
                    </a:lnL>
                    <a:lnR w="9525">
                      <a:solidFill>
                        <a:srgbClr val="D9E4E8"/>
                      </a:solidFill>
                      <a:prstDash val="solid"/>
                    </a:lnR>
                    <a:lnB w="9525">
                      <a:solidFill>
                        <a:srgbClr val="D9E4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32C44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tools/list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9E4E8"/>
                      </a:solidFill>
                      <a:prstDash val="solid"/>
                    </a:lnR>
                    <a:lnB w="9525">
                      <a:solidFill>
                        <a:srgbClr val="D9E4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32C44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發現可用工具與參數格式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9E4E8"/>
                      </a:solidFill>
                      <a:prstDash val="solid"/>
                    </a:lnR>
                    <a:lnB w="9525">
                      <a:solidFill>
                        <a:srgbClr val="D9E4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03464"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32C44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3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D9E4E8"/>
                      </a:solidFill>
                      <a:prstDash val="solid"/>
                    </a:lnL>
                    <a:lnR w="9525">
                      <a:solidFill>
                        <a:srgbClr val="D9E4E8"/>
                      </a:solidFill>
                      <a:prstDash val="solid"/>
                    </a:lnR>
                    <a:lnB w="9525">
                      <a:solidFill>
                        <a:srgbClr val="D9E4E8"/>
                      </a:solidFill>
                      <a:prstDash val="solid"/>
                    </a:lnB>
                    <a:solidFill>
                      <a:srgbClr val="EEF5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32C44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tools/call：inspect_lights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9E4E8"/>
                      </a:solidFill>
                      <a:prstDash val="solid"/>
                    </a:lnR>
                    <a:lnB w="9525">
                      <a:solidFill>
                        <a:srgbClr val="D9E4E8"/>
                      </a:solidFill>
                      <a:prstDash val="solid"/>
                    </a:lnB>
                    <a:solidFill>
                      <a:srgbClr val="EEF5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32C44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讀取原始設定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9E4E8"/>
                      </a:solidFill>
                      <a:prstDash val="solid"/>
                    </a:lnR>
                    <a:lnB w="9525">
                      <a:solidFill>
                        <a:srgbClr val="D9E4E8"/>
                      </a:solidFill>
                      <a:prstDash val="solid"/>
                    </a:lnB>
                    <a:solidFill>
                      <a:srgbClr val="EEF5F6"/>
                    </a:solidFill>
                  </a:tcPr>
                </a:tc>
              </a:tr>
              <a:tr h="503464"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32C44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4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D9E4E8"/>
                      </a:solidFill>
                      <a:prstDash val="solid"/>
                    </a:lnL>
                    <a:lnR w="9525">
                      <a:solidFill>
                        <a:srgbClr val="D9E4E8"/>
                      </a:solidFill>
                      <a:prstDash val="solid"/>
                    </a:lnR>
                    <a:lnB w="9525">
                      <a:solidFill>
                        <a:srgbClr val="D9E4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32C44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Client 計算新值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9E4E8"/>
                      </a:solidFill>
                      <a:prstDash val="solid"/>
                    </a:lnR>
                    <a:lnB w="9525">
                      <a:solidFill>
                        <a:srgbClr val="D9E4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32C44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將降低 30% 轉成明確數字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9E4E8"/>
                      </a:solidFill>
                      <a:prstDash val="solid"/>
                    </a:lnR>
                    <a:lnB w="9525">
                      <a:solidFill>
                        <a:srgbClr val="D9E4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03464"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32C44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5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D9E4E8"/>
                      </a:solidFill>
                      <a:prstDash val="solid"/>
                    </a:lnL>
                    <a:lnR w="9525">
                      <a:solidFill>
                        <a:srgbClr val="D9E4E8"/>
                      </a:solidFill>
                      <a:prstDash val="solid"/>
                    </a:lnR>
                    <a:lnB w="9525">
                      <a:solidFill>
                        <a:srgbClr val="D9E4E8"/>
                      </a:solidFill>
                      <a:prstDash val="solid"/>
                    </a:lnB>
                    <a:solidFill>
                      <a:srgbClr val="EEF5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32C44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tools/call：modify_lights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9E4E8"/>
                      </a:solidFill>
                      <a:prstDash val="solid"/>
                    </a:lnR>
                    <a:lnB w="9525">
                      <a:solidFill>
                        <a:srgbClr val="D9E4E8"/>
                      </a:solidFill>
                      <a:prstDash val="solid"/>
                    </a:lnB>
                    <a:solidFill>
                      <a:srgbClr val="EEF5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32C44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修改並另存檔案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9E4E8"/>
                      </a:solidFill>
                      <a:prstDash val="solid"/>
                    </a:lnR>
                    <a:lnB w="9525">
                      <a:solidFill>
                        <a:srgbClr val="D9E4E8"/>
                      </a:solidFill>
                      <a:prstDash val="solid"/>
                    </a:lnB>
                    <a:solidFill>
                      <a:srgbClr val="EEF5F6"/>
                    </a:solidFill>
                  </a:tcPr>
                </a:tc>
              </a:tr>
              <a:tr h="503464"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32C44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6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D9E4E8"/>
                      </a:solidFill>
                      <a:prstDash val="solid"/>
                    </a:lnL>
                    <a:lnR w="9525">
                      <a:solidFill>
                        <a:srgbClr val="D9E4E8"/>
                      </a:solidFill>
                      <a:prstDash val="solid"/>
                    </a:lnR>
                    <a:lnB w="9525">
                      <a:solidFill>
                        <a:srgbClr val="D9E4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32C44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讀回與獨立比較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9E4E8"/>
                      </a:solidFill>
                      <a:prstDash val="solid"/>
                    </a:lnR>
                    <a:lnB w="9525">
                      <a:solidFill>
                        <a:srgbClr val="D9E4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32C44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確認任務完成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9E4E8"/>
                      </a:solidFill>
                      <a:prstDash val="solid"/>
                    </a:lnR>
                    <a:lnB w="9525">
                      <a:solidFill>
                        <a:srgbClr val="D9E4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F40D061-1AF9-4005-B329-284D77F76E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81650"/>
            <a:ext cx="109728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025" b="1">
                <a:solidFill>
                  <a:srgbClr val="007C83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2025" b="1">
                <a:solidFill>
                  <a:srgbClr val="007C83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2025" b="1">
                <a:solidFill>
                  <a:srgbClr val="007C83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2025" b="1">
                <a:solidFill>
                  <a:srgbClr val="007C83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2025" b="1">
                <a:solidFill>
                  <a:srgbClr val="007C83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2025" b="1">
                <a:solidFill>
                  <a:srgbClr val="007C83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2025" b="1">
                <a:solidFill>
                  <a:srgbClr val="007C83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2025" b="1">
                <a:solidFill>
                  <a:srgbClr val="007C83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2025" b="1">
                <a:solidFill>
                  <a:srgbClr val="007C83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2025" b="1">
                <a:solidFill>
                  <a:srgbClr val="007C83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2025" b="1">
                <a:solidFill>
                  <a:srgbClr val="007C83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025" b="1">
                <a:solidFill>
                  <a:srgbClr val="007C83"/>
                </a:solidFill>
                <a:latin typeface="Microsoft JhengHei"/>
                <a:ea typeface="Microsoft JhengHei"/>
                <a:cs typeface="Microsoft JhengHei"/>
              </a:rPr>
              <a:t>本機 transport 使用 stdio，無須架設 HTTP 網站。</a:t>
            </a:r>
          </a:p>
        </p:txBody>
      </p:sp>
    </p:spTree>
    <p:extLst>
      <p:ext uri="{BB962C8B-B14F-4D97-AF65-F5344CB8AC3E}">
        <p14:creationId xmlns:p14="http://schemas.microsoft.com/office/powerpoint/2010/main" val="902548905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F7FD1AE-7AF0-4D37-AEEC-3241288429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5750"/>
            <a:ext cx="10763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425" b="1">
                <a:solidFill>
                  <a:srgbClr val="007C83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1425" b="1">
                <a:solidFill>
                  <a:srgbClr val="007C83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1425" b="1">
                <a:solidFill>
                  <a:srgbClr val="007C83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1425" b="1">
                <a:solidFill>
                  <a:srgbClr val="007C83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1425" b="1">
                <a:solidFill>
                  <a:srgbClr val="007C83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1425" b="1">
                <a:solidFill>
                  <a:srgbClr val="007C83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1425" b="1">
                <a:solidFill>
                  <a:srgbClr val="007C83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1425" b="1">
                <a:solidFill>
                  <a:srgbClr val="007C83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1425" b="1">
                <a:solidFill>
                  <a:srgbClr val="007C83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1425" b="1">
                <a:solidFill>
                  <a:srgbClr val="007C83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1425" b="1">
                <a:solidFill>
                  <a:srgbClr val="007C83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425" b="1">
                <a:solidFill>
                  <a:srgbClr val="007C83"/>
                </a:solidFill>
                <a:latin typeface="Microsoft JhengHei"/>
                <a:ea typeface="Microsoft JhengHei"/>
                <a:cs typeface="Microsoft JhengHei"/>
              </a:rPr>
              <a:t>04  /  TOOLS/LIST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330F9DA-A8BC-4FEF-90D2-72DB35FC9D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09625"/>
            <a:ext cx="109728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225" b="1">
                <a:solidFill>
                  <a:srgbClr val="132C44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3225" b="1">
                <a:solidFill>
                  <a:srgbClr val="132C44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3225" b="1">
                <a:solidFill>
                  <a:srgbClr val="132C44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3225" b="1">
                <a:solidFill>
                  <a:srgbClr val="132C44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3225" b="1">
                <a:solidFill>
                  <a:srgbClr val="132C44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3225" b="1">
                <a:solidFill>
                  <a:srgbClr val="132C44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3225" b="1">
                <a:solidFill>
                  <a:srgbClr val="132C44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3225" b="1">
                <a:solidFill>
                  <a:srgbClr val="132C44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3225" b="1">
                <a:solidFill>
                  <a:srgbClr val="132C44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3225" b="1">
                <a:solidFill>
                  <a:srgbClr val="132C44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3225" b="1">
                <a:solidFill>
                  <a:srgbClr val="132C44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3225" b="1">
                <a:solidFill>
                  <a:srgbClr val="132C44"/>
                </a:solidFill>
                <a:latin typeface="Microsoft JhengHei"/>
                <a:ea typeface="Microsoft JhengHei"/>
                <a:cs typeface="Microsoft JhengHei"/>
              </a:rPr>
              <a:t>工具發現取得描述與參數規格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95C3488-CFB6-4557-B96A-A46B6524BC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191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0">
                <a:solidFill>
                  <a:srgbClr val="4D6475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1200" b="0">
                <a:solidFill>
                  <a:srgbClr val="4D6475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1200" b="0">
                <a:solidFill>
                  <a:srgbClr val="4D6475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1200" b="0">
                <a:solidFill>
                  <a:srgbClr val="4D6475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1200" b="0">
                <a:solidFill>
                  <a:srgbClr val="4D6475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1200" b="0">
                <a:solidFill>
                  <a:srgbClr val="4D6475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1200" b="0">
                <a:solidFill>
                  <a:srgbClr val="4D6475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1200" b="0">
                <a:solidFill>
                  <a:srgbClr val="4D6475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1200" b="0">
                <a:solidFill>
                  <a:srgbClr val="4D6475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1200" b="0">
                <a:solidFill>
                  <a:srgbClr val="4D6475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4D647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00" b="0">
                <a:solidFill>
                  <a:srgbClr val="4D6475"/>
                </a:solidFill>
                <a:latin typeface="Microsoft JhengHei"/>
                <a:ea typeface="Microsoft JhengHei"/>
                <a:cs typeface="Microsoft JhengHei"/>
              </a:rPr>
              <a:t>EnergyPlus-MCP  ·  MCP 工具流程實作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C98BD2C-D943-4D38-B47E-A706ACBE6B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19850"/>
            <a:ext cx="6286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0">
                <a:solidFill>
                  <a:srgbClr val="4D6475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1200" b="0">
                <a:solidFill>
                  <a:srgbClr val="4D6475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1200" b="0">
                <a:solidFill>
                  <a:srgbClr val="4D6475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1200" b="0">
                <a:solidFill>
                  <a:srgbClr val="4D6475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1200" b="0">
                <a:solidFill>
                  <a:srgbClr val="4D6475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1200" b="0">
                <a:solidFill>
                  <a:srgbClr val="4D6475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1200" b="0">
                <a:solidFill>
                  <a:srgbClr val="4D6475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1200" b="0">
                <a:solidFill>
                  <a:srgbClr val="4D6475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1200" b="0">
                <a:solidFill>
                  <a:srgbClr val="4D6475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1200" b="0">
                <a:solidFill>
                  <a:srgbClr val="4D6475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4D647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00" b="0">
                <a:solidFill>
                  <a:srgbClr val="4D6475"/>
                </a:solidFill>
                <a:latin typeface="Microsoft JhengHei"/>
                <a:ea typeface="Microsoft JhengHei"/>
                <a:cs typeface="Microsoft JhengHei"/>
              </a:rPr>
              <a:t>08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6F225FA-20AA-486B-AE58-A2FF7ED911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00250"/>
            <a:ext cx="10972800" cy="2286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5F6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250" b="0">
                <a:solidFill>
                  <a:srgbClr val="132C44"/>
                </a:solidFill>
                <a:latin typeface="Consolas"/>
                <a:ea typeface="Consolas"/>
                <a:cs typeface="Consolas"/>
              </a:defRPr>
            </a:defPPr>
            <a:lvl1pPr>
              <a:defRPr sz="2250" b="0">
                <a:solidFill>
                  <a:srgbClr val="132C44"/>
                </a:solidFill>
                <a:latin typeface="Consolas"/>
                <a:ea typeface="Consolas"/>
                <a:cs typeface="Consolas"/>
              </a:defRPr>
            </a:lvl1pPr>
            <a:lvl2pPr>
              <a:defRPr sz="2250" b="0">
                <a:solidFill>
                  <a:srgbClr val="132C44"/>
                </a:solidFill>
                <a:latin typeface="Consolas"/>
                <a:ea typeface="Consolas"/>
                <a:cs typeface="Consolas"/>
              </a:defRPr>
            </a:lvl2pPr>
            <a:lvl3pPr>
              <a:defRPr sz="2250" b="0">
                <a:solidFill>
                  <a:srgbClr val="132C44"/>
                </a:solidFill>
                <a:latin typeface="Consolas"/>
                <a:ea typeface="Consolas"/>
                <a:cs typeface="Consolas"/>
              </a:defRPr>
            </a:lvl3pPr>
            <a:lvl4pPr>
              <a:defRPr sz="2250" b="0">
                <a:solidFill>
                  <a:srgbClr val="132C44"/>
                </a:solidFill>
                <a:latin typeface="Consolas"/>
                <a:ea typeface="Consolas"/>
                <a:cs typeface="Consolas"/>
              </a:defRPr>
            </a:lvl4pPr>
            <a:lvl5pPr>
              <a:defRPr sz="2250" b="0">
                <a:solidFill>
                  <a:srgbClr val="132C44"/>
                </a:solidFill>
                <a:latin typeface="Consolas"/>
                <a:ea typeface="Consolas"/>
                <a:cs typeface="Consolas"/>
              </a:defRPr>
            </a:lvl5pPr>
            <a:lvl6pPr>
              <a:defRPr sz="2250" b="0">
                <a:solidFill>
                  <a:srgbClr val="132C44"/>
                </a:solidFill>
                <a:latin typeface="Consolas"/>
                <a:ea typeface="Consolas"/>
                <a:cs typeface="Consolas"/>
              </a:defRPr>
            </a:lvl6pPr>
            <a:lvl7pPr>
              <a:defRPr sz="2250" b="0">
                <a:solidFill>
                  <a:srgbClr val="132C44"/>
                </a:solidFill>
                <a:latin typeface="Consolas"/>
                <a:ea typeface="Consolas"/>
                <a:cs typeface="Consolas"/>
              </a:defRPr>
            </a:lvl7pPr>
            <a:lvl8pPr>
              <a:defRPr sz="2250" b="0">
                <a:solidFill>
                  <a:srgbClr val="132C44"/>
                </a:solidFill>
                <a:latin typeface="Consolas"/>
                <a:ea typeface="Consolas"/>
                <a:cs typeface="Consolas"/>
              </a:defRPr>
            </a:lvl8pPr>
            <a:lvl9pPr>
              <a:defRPr sz="2250" b="0">
                <a:solidFill>
                  <a:srgbClr val="132C44"/>
                </a:solidFill>
                <a:latin typeface="Consolas"/>
                <a:ea typeface="Consolas"/>
                <a:cs typeface="Consolas"/>
              </a:defRPr>
            </a:lvl9pPr>
          </a:lstStyle>
          <a:p xmlns:a="http://schemas.openxmlformats.org/drawingml/2006/main">
            <a:pPr>
              <a:defRPr sz="2250" b="0">
                <a:solidFill>
                  <a:srgbClr val="132C44"/>
                </a:solidFill>
                <a:latin typeface="Consolas"/>
                <a:ea typeface="Consolas"/>
                <a:cs typeface="Consolas"/>
              </a:defRPr>
            </a:pPr>
            <a:r>
              <a:rPr sz="2250" b="0">
                <a:solidFill>
                  <a:srgbClr val="132C44"/>
                </a:solidFill>
                <a:latin typeface="Consolas"/>
                <a:ea typeface="Consolas"/>
                <a:cs typeface="Consolas"/>
              </a:rPr>
              <a:t>tools = await session.list_tools()</a:t>
            </a:r>
          </a:p>
          <a:p xmlns:a="http://schemas.openxmlformats.org/drawingml/2006/main">
            <a:pPr>
              <a:defRPr sz="2250" b="0">
                <a:solidFill>
                  <a:srgbClr val="132C44"/>
                </a:solidFill>
                <a:latin typeface="Consolas"/>
                <a:ea typeface="Consolas"/>
                <a:cs typeface="Consolas"/>
              </a:defRPr>
            </a:pPr>
            <a:r>
              <a:rPr sz="2250" b="0">
                <a:solidFill>
                  <a:srgbClr val="132C44"/>
                </a:solidFill>
                <a:latin typeface="Consolas"/>
                <a:ea typeface="Consolas"/>
                <a:cs typeface="Consolas"/>
              </a:rPr>
              <a:t>selected = next(</a:t>
            </a:r>
          </a:p>
          <a:p xmlns:a="http://schemas.openxmlformats.org/drawingml/2006/main">
            <a:pPr>
              <a:defRPr sz="2250" b="0">
                <a:solidFill>
                  <a:srgbClr val="132C44"/>
                </a:solidFill>
                <a:latin typeface="Consolas"/>
                <a:ea typeface="Consolas"/>
                <a:cs typeface="Consolas"/>
              </a:defRPr>
            </a:pPr>
            <a:r>
              <a:rPr sz="2250" b="0">
                <a:solidFill>
                  <a:srgbClr val="132C44"/>
                </a:solidFill>
                <a:latin typeface="Consolas"/>
                <a:ea typeface="Consolas"/>
                <a:cs typeface="Consolas"/>
              </a:rPr>
              <a:t>    t for t in tools.tools</a:t>
            </a:r>
          </a:p>
          <a:p xmlns:a="http://schemas.openxmlformats.org/drawingml/2006/main">
            <a:pPr>
              <a:defRPr sz="2250" b="0">
                <a:solidFill>
                  <a:srgbClr val="132C44"/>
                </a:solidFill>
                <a:latin typeface="Consolas"/>
                <a:ea typeface="Consolas"/>
                <a:cs typeface="Consolas"/>
              </a:defRPr>
            </a:pPr>
            <a:r>
              <a:rPr sz="2250" b="0">
                <a:solidFill>
                  <a:srgbClr val="132C44"/>
                </a:solidFill>
                <a:latin typeface="Consolas"/>
                <a:ea typeface="Consolas"/>
                <a:cs typeface="Consolas"/>
              </a:rPr>
              <a:t>    if t.name == "modify_lights"</a:t>
            </a:r>
          </a:p>
          <a:p xmlns:a="http://schemas.openxmlformats.org/drawingml/2006/main">
            <a:pPr>
              <a:defRPr sz="2250" b="0">
                <a:solidFill>
                  <a:srgbClr val="132C44"/>
                </a:solidFill>
                <a:latin typeface="Consolas"/>
                <a:ea typeface="Consolas"/>
                <a:cs typeface="Consolas"/>
              </a:defRPr>
            </a:pPr>
            <a:r>
              <a:rPr sz="2250" b="0">
                <a:solidFill>
                  <a:srgbClr val="132C44"/>
                </a:solidFill>
                <a:latin typeface="Consolas"/>
                <a:ea typeface="Consolas"/>
                <a:cs typeface="Consolas"/>
              </a:rPr>
              <a:t>)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2171101-4179-4292-B0A3-F54C67DC57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24375"/>
            <a:ext cx="109728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75" b="0">
                <a:solidFill>
                  <a:srgbClr val="132C44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2175" b="0">
                <a:solidFill>
                  <a:srgbClr val="132C44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2175" b="0">
                <a:solidFill>
                  <a:srgbClr val="132C44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2175" b="0">
                <a:solidFill>
                  <a:srgbClr val="132C44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2175" b="0">
                <a:solidFill>
                  <a:srgbClr val="132C44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2175" b="0">
                <a:solidFill>
                  <a:srgbClr val="132C44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2175" b="0">
                <a:solidFill>
                  <a:srgbClr val="132C44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2175" b="0">
                <a:solidFill>
                  <a:srgbClr val="132C44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2175" b="0">
                <a:solidFill>
                  <a:srgbClr val="132C44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2175" b="0">
                <a:solidFill>
                  <a:srgbClr val="132C44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2175" b="0">
                <a:solidFill>
                  <a:srgbClr val="132C44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175" b="0">
                <a:solidFill>
                  <a:srgbClr val="132C44"/>
                </a:solidFill>
                <a:latin typeface="Microsoft JhengHei"/>
                <a:ea typeface="Microsoft JhengHei"/>
                <a:cs typeface="Microsoft JhengHei"/>
              </a:rPr>
              <a:t>name：工具名稱    description：用途與用法</a:t>
            </a:r>
          </a:p>
          <a:p xmlns:a="http://schemas.openxmlformats.org/drawingml/2006/main">
            <a:pPr>
              <a:defRPr sz="2175" b="0">
                <a:solidFill>
                  <a:srgbClr val="132C44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175" b="0">
                <a:solidFill>
                  <a:srgbClr val="132C44"/>
                </a:solidFill>
                <a:latin typeface="Microsoft JhengHei"/>
                <a:ea typeface="Microsoft JhengHei"/>
                <a:cs typeface="Microsoft JhengHei"/>
              </a:rPr>
              <a:t>inputSchema：輸入資料的結構與型別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C86AACC-A7D3-4F67-ADD0-FD28C035C6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81650"/>
            <a:ext cx="109728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025" b="1">
                <a:solidFill>
                  <a:srgbClr val="007C83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2025" b="1">
                <a:solidFill>
                  <a:srgbClr val="007C83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2025" b="1">
                <a:solidFill>
                  <a:srgbClr val="007C83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2025" b="1">
                <a:solidFill>
                  <a:srgbClr val="007C83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2025" b="1">
                <a:solidFill>
                  <a:srgbClr val="007C83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2025" b="1">
                <a:solidFill>
                  <a:srgbClr val="007C83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2025" b="1">
                <a:solidFill>
                  <a:srgbClr val="007C83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2025" b="1">
                <a:solidFill>
                  <a:srgbClr val="007C83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2025" b="1">
                <a:solidFill>
                  <a:srgbClr val="007C83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2025" b="1">
                <a:solidFill>
                  <a:srgbClr val="007C83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2025" b="1">
                <a:solidFill>
                  <a:srgbClr val="007C83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025" b="1">
                <a:solidFill>
                  <a:srgbClr val="007C83"/>
                </a:solidFill>
                <a:latin typeface="Microsoft JhengHei"/>
                <a:ea typeface="Microsoft JhengHei"/>
                <a:cs typeface="Microsoft JhengHei"/>
              </a:rPr>
              <a:t>本機實測：35 個工具，其中包含 modify_lights。</a:t>
            </a:r>
          </a:p>
        </p:txBody>
      </p:sp>
    </p:spTree>
    <p:extLst>
      <p:ext uri="{BB962C8B-B14F-4D97-AF65-F5344CB8AC3E}">
        <p14:creationId xmlns:p14="http://schemas.microsoft.com/office/powerpoint/2010/main" val="1226980002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309814A-458B-4AE0-B106-80B01A3C13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5750"/>
            <a:ext cx="10763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425" b="1">
                <a:solidFill>
                  <a:srgbClr val="007C83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1425" b="1">
                <a:solidFill>
                  <a:srgbClr val="007C83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1425" b="1">
                <a:solidFill>
                  <a:srgbClr val="007C83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1425" b="1">
                <a:solidFill>
                  <a:srgbClr val="007C83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1425" b="1">
                <a:solidFill>
                  <a:srgbClr val="007C83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1425" b="1">
                <a:solidFill>
                  <a:srgbClr val="007C83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1425" b="1">
                <a:solidFill>
                  <a:srgbClr val="007C83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1425" b="1">
                <a:solidFill>
                  <a:srgbClr val="007C83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1425" b="1">
                <a:solidFill>
                  <a:srgbClr val="007C83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1425" b="1">
                <a:solidFill>
                  <a:srgbClr val="007C83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1425" b="1">
                <a:solidFill>
                  <a:srgbClr val="007C83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425" b="1">
                <a:solidFill>
                  <a:srgbClr val="007C83"/>
                </a:solidFill>
                <a:latin typeface="Microsoft JhengHei"/>
                <a:ea typeface="Microsoft JhengHei"/>
                <a:cs typeface="Microsoft JhengHei"/>
              </a:rPr>
              <a:t>05  /  INPUTSCHEMA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7701C42-E020-4824-A5F2-202BD2DCE3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09625"/>
            <a:ext cx="109728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225" b="1">
                <a:solidFill>
                  <a:srgbClr val="132C44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3225" b="1">
                <a:solidFill>
                  <a:srgbClr val="132C44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3225" b="1">
                <a:solidFill>
                  <a:srgbClr val="132C44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3225" b="1">
                <a:solidFill>
                  <a:srgbClr val="132C44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3225" b="1">
                <a:solidFill>
                  <a:srgbClr val="132C44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3225" b="1">
                <a:solidFill>
                  <a:srgbClr val="132C44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3225" b="1">
                <a:solidFill>
                  <a:srgbClr val="132C44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3225" b="1">
                <a:solidFill>
                  <a:srgbClr val="132C44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3225" b="1">
                <a:solidFill>
                  <a:srgbClr val="132C44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3225" b="1">
                <a:solidFill>
                  <a:srgbClr val="132C44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3225" b="1">
                <a:solidFill>
                  <a:srgbClr val="132C44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3225" b="1">
                <a:solidFill>
                  <a:srgbClr val="132C44"/>
                </a:solidFill>
                <a:latin typeface="Microsoft JhengHei"/>
                <a:ea typeface="Microsoft JhengHei"/>
                <a:cs typeface="Microsoft JhengHei"/>
              </a:rPr>
              <a:t>Schema 能檢查格式，但有邊界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B7564D2-F5E5-4161-8919-85DC3AF24C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191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0">
                <a:solidFill>
                  <a:srgbClr val="4D6475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1200" b="0">
                <a:solidFill>
                  <a:srgbClr val="4D6475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1200" b="0">
                <a:solidFill>
                  <a:srgbClr val="4D6475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1200" b="0">
                <a:solidFill>
                  <a:srgbClr val="4D6475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1200" b="0">
                <a:solidFill>
                  <a:srgbClr val="4D6475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1200" b="0">
                <a:solidFill>
                  <a:srgbClr val="4D6475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1200" b="0">
                <a:solidFill>
                  <a:srgbClr val="4D6475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1200" b="0">
                <a:solidFill>
                  <a:srgbClr val="4D6475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1200" b="0">
                <a:solidFill>
                  <a:srgbClr val="4D6475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1200" b="0">
                <a:solidFill>
                  <a:srgbClr val="4D6475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4D647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00" b="0">
                <a:solidFill>
                  <a:srgbClr val="4D6475"/>
                </a:solidFill>
                <a:latin typeface="Microsoft JhengHei"/>
                <a:ea typeface="Microsoft JhengHei"/>
                <a:cs typeface="Microsoft JhengHei"/>
              </a:rPr>
              <a:t>EnergyPlus-MCP  ·  MCP 工具流程實作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1125433-440C-4BBF-BD0A-C8DB2FDDB4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19850"/>
            <a:ext cx="6286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0">
                <a:solidFill>
                  <a:srgbClr val="4D6475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1200" b="0">
                <a:solidFill>
                  <a:srgbClr val="4D6475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1200" b="0">
                <a:solidFill>
                  <a:srgbClr val="4D6475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1200" b="0">
                <a:solidFill>
                  <a:srgbClr val="4D6475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1200" b="0">
                <a:solidFill>
                  <a:srgbClr val="4D6475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1200" b="0">
                <a:solidFill>
                  <a:srgbClr val="4D6475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1200" b="0">
                <a:solidFill>
                  <a:srgbClr val="4D6475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1200" b="0">
                <a:solidFill>
                  <a:srgbClr val="4D6475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1200" b="0">
                <a:solidFill>
                  <a:srgbClr val="4D6475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1200" b="0">
                <a:solidFill>
                  <a:srgbClr val="4D6475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4D647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00" b="0">
                <a:solidFill>
                  <a:srgbClr val="4D6475"/>
                </a:solidFill>
                <a:latin typeface="Microsoft JhengHei"/>
                <a:ea typeface="Microsoft JhengHei"/>
                <a:cs typeface="Microsoft JhengHei"/>
              </a:rPr>
              <a:t>09</a:t>
            </a:r>
          </a:p>
        </p:txBody>
      </p:sp>
      <p:graphicFrame>
        <p:nvGraphicFrame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0F77255-1200-4FD1-AC81-91BDD2A5B8B6}"/>
              </a:ext>
            </a:extLst>
          </p:cNvPr>
          <p:cNvGraphicFramePr/>
          <p:nvPr/>
        </p:nvGraphicFramePr>
        <p:xfrm>
          <a:off xmlns:a="http://schemas.openxmlformats.org/drawingml/2006/main" x="609600" y="1952625"/>
          <a:ext xmlns:a="http://schemas.openxmlformats.org/drawingml/2006/main" cx="10972800" cy="25717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3714750"/>
                <a:gridCol w="4191000"/>
                <a:gridCol w="3067050"/>
              </a:tblGrid>
              <a:tr h="642938">
                <a:tc>
                  <a:txBody>
                    <a:bodyPr/>
                    <a:lstStyle/>
                    <a:p>
                      <a:r>
                        <a:rPr sz="1950" b="1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欄位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D9E4E8"/>
                      </a:solidFill>
                      <a:prstDash val="solid"/>
                    </a:lnL>
                    <a:lnR w="9525">
                      <a:solidFill>
                        <a:srgbClr val="D9E4E8"/>
                      </a:solidFill>
                      <a:prstDash val="solid"/>
                    </a:lnR>
                    <a:lnT w="9525">
                      <a:solidFill>
                        <a:srgbClr val="D9E4E8"/>
                      </a:solidFill>
                      <a:prstDash val="solid"/>
                    </a:lnT>
                    <a:lnB w="9525">
                      <a:solidFill>
                        <a:srgbClr val="D9E4E8"/>
                      </a:solidFill>
                      <a:prstDash val="solid"/>
                    </a:lnB>
                    <a:solidFill>
                      <a:srgbClr val="132C4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1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型別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9E4E8"/>
                      </a:solidFill>
                      <a:prstDash val="solid"/>
                    </a:lnR>
                    <a:lnT w="9525">
                      <a:solidFill>
                        <a:srgbClr val="D9E4E8"/>
                      </a:solidFill>
                      <a:prstDash val="solid"/>
                    </a:lnT>
                    <a:lnB w="9525">
                      <a:solidFill>
                        <a:srgbClr val="D9E4E8"/>
                      </a:solidFill>
                      <a:prstDash val="solid"/>
                    </a:lnB>
                    <a:solidFill>
                      <a:srgbClr val="132C4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1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必要性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9E4E8"/>
                      </a:solidFill>
                      <a:prstDash val="solid"/>
                    </a:lnR>
                    <a:lnT w="9525">
                      <a:solidFill>
                        <a:srgbClr val="D9E4E8"/>
                      </a:solidFill>
                      <a:prstDash val="solid"/>
                    </a:lnT>
                    <a:lnB w="9525">
                      <a:solidFill>
                        <a:srgbClr val="D9E4E8"/>
                      </a:solidFill>
                      <a:prstDash val="solid"/>
                    </a:lnB>
                    <a:solidFill>
                      <a:srgbClr val="132C44"/>
                    </a:solidFill>
                  </a:tcPr>
                </a:tc>
              </a:tr>
              <a:tr h="642938"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132C44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idf_path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D9E4E8"/>
                      </a:solidFill>
                      <a:prstDash val="solid"/>
                    </a:lnL>
                    <a:lnR w="9525">
                      <a:solidFill>
                        <a:srgbClr val="D9E4E8"/>
                      </a:solidFill>
                      <a:prstDash val="solid"/>
                    </a:lnR>
                    <a:lnB w="9525">
                      <a:solidFill>
                        <a:srgbClr val="D9E4E8"/>
                      </a:solidFill>
                      <a:prstDash val="solid"/>
                    </a:lnB>
                    <a:solidFill>
                      <a:srgbClr val="EEF5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132C44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string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9E4E8"/>
                      </a:solidFill>
                      <a:prstDash val="solid"/>
                    </a:lnR>
                    <a:lnB w="9525">
                      <a:solidFill>
                        <a:srgbClr val="D9E4E8"/>
                      </a:solidFill>
                      <a:prstDash val="solid"/>
                    </a:lnB>
                    <a:solidFill>
                      <a:srgbClr val="EEF5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132C44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必填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9E4E8"/>
                      </a:solidFill>
                      <a:prstDash val="solid"/>
                    </a:lnR>
                    <a:lnB w="9525">
                      <a:solidFill>
                        <a:srgbClr val="D9E4E8"/>
                      </a:solidFill>
                      <a:prstDash val="solid"/>
                    </a:lnB>
                    <a:solidFill>
                      <a:srgbClr val="EEF5F6"/>
                    </a:solidFill>
                  </a:tcPr>
                </a:tc>
              </a:tr>
              <a:tr h="642938"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132C44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modifications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D9E4E8"/>
                      </a:solidFill>
                      <a:prstDash val="solid"/>
                    </a:lnL>
                    <a:lnR w="9525">
                      <a:solidFill>
                        <a:srgbClr val="D9E4E8"/>
                      </a:solidFill>
                      <a:prstDash val="solid"/>
                    </a:lnR>
                    <a:lnB w="9525">
                      <a:solidFill>
                        <a:srgbClr val="D9E4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132C44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array of objects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9E4E8"/>
                      </a:solidFill>
                      <a:prstDash val="solid"/>
                    </a:lnR>
                    <a:lnB w="9525">
                      <a:solidFill>
                        <a:srgbClr val="D9E4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132C44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必填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9E4E8"/>
                      </a:solidFill>
                      <a:prstDash val="solid"/>
                    </a:lnR>
                    <a:lnB w="9525">
                      <a:solidFill>
                        <a:srgbClr val="D9E4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642938"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132C44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output_path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D9E4E8"/>
                      </a:solidFill>
                      <a:prstDash val="solid"/>
                    </a:lnL>
                    <a:lnR w="9525">
                      <a:solidFill>
                        <a:srgbClr val="D9E4E8"/>
                      </a:solidFill>
                      <a:prstDash val="solid"/>
                    </a:lnR>
                    <a:lnB w="9525">
                      <a:solidFill>
                        <a:srgbClr val="D9E4E8"/>
                      </a:solidFill>
                      <a:prstDash val="solid"/>
                    </a:lnB>
                    <a:solidFill>
                      <a:srgbClr val="EEF5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132C44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string 或 null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9E4E8"/>
                      </a:solidFill>
                      <a:prstDash val="solid"/>
                    </a:lnR>
                    <a:lnB w="9525">
                      <a:solidFill>
                        <a:srgbClr val="D9E4E8"/>
                      </a:solidFill>
                      <a:prstDash val="solid"/>
                    </a:lnB>
                    <a:solidFill>
                      <a:srgbClr val="EEF5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132C44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選填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9E4E8"/>
                      </a:solidFill>
                      <a:prstDash val="solid"/>
                    </a:lnR>
                    <a:lnB w="9525">
                      <a:solidFill>
                        <a:srgbClr val="D9E4E8"/>
                      </a:solidFill>
                      <a:prstDash val="solid"/>
                    </a:lnB>
                    <a:solidFill>
                      <a:srgbClr val="EEF5F6"/>
                    </a:solidFill>
                  </a:tcPr>
                </a:tc>
              </a:tr>
            </a:tbl>
          </a:graphicData>
        </a:graphic>
      </p:graphicFrame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7A88FD2-8A76-40CD-9C37-D526864896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762500"/>
            <a:ext cx="109728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75" b="0">
                <a:solidFill>
                  <a:srgbClr val="132C44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2175" b="0">
                <a:solidFill>
                  <a:srgbClr val="132C44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2175" b="0">
                <a:solidFill>
                  <a:srgbClr val="132C44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2175" b="0">
                <a:solidFill>
                  <a:srgbClr val="132C44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2175" b="0">
                <a:solidFill>
                  <a:srgbClr val="132C44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2175" b="0">
                <a:solidFill>
                  <a:srgbClr val="132C44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2175" b="0">
                <a:solidFill>
                  <a:srgbClr val="132C44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2175" b="0">
                <a:solidFill>
                  <a:srgbClr val="132C44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2175" b="0">
                <a:solidFill>
                  <a:srgbClr val="132C44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2175" b="0">
                <a:solidFill>
                  <a:srgbClr val="132C44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2175" b="0">
                <a:solidFill>
                  <a:srgbClr val="132C44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175" b="0">
                <a:solidFill>
                  <a:srgbClr val="132C44"/>
                </a:solidFill>
                <a:latin typeface="Microsoft JhengHei"/>
                <a:ea typeface="Microsoft JhengHei"/>
                <a:cs typeface="Microsoft JhengHei"/>
              </a:rPr>
              <a:t>本實作的巢狀規格較寬鬆：</a:t>
            </a:r>
          </a:p>
          <a:p xmlns:a="http://schemas.openxmlformats.org/drawingml/2006/main">
            <a:pPr>
              <a:defRPr sz="2175" b="0">
                <a:solidFill>
                  <a:srgbClr val="132C44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175" b="0">
                <a:solidFill>
                  <a:srgbClr val="132C44"/>
                </a:solidFill>
                <a:latin typeface="Microsoft JhengHei"/>
                <a:ea typeface="Microsoft JhengHei"/>
                <a:cs typeface="Microsoft JhengHei"/>
              </a:rPr>
              <a:t>modifications.items 只要求 object。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7C02B58-C82E-4036-B9B5-3F70132D3D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81650"/>
            <a:ext cx="109728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025" b="1">
                <a:solidFill>
                  <a:srgbClr val="007C83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2025" b="1">
                <a:solidFill>
                  <a:srgbClr val="007C83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2025" b="1">
                <a:solidFill>
                  <a:srgbClr val="007C83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2025" b="1">
                <a:solidFill>
                  <a:srgbClr val="007C83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2025" b="1">
                <a:solidFill>
                  <a:srgbClr val="007C83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2025" b="1">
                <a:solidFill>
                  <a:srgbClr val="007C83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2025" b="1">
                <a:solidFill>
                  <a:srgbClr val="007C83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2025" b="1">
                <a:solidFill>
                  <a:srgbClr val="007C83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2025" b="1">
                <a:solidFill>
                  <a:srgbClr val="007C83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2025" b="1">
                <a:solidFill>
                  <a:srgbClr val="007C83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2025" b="1">
                <a:solidFill>
                  <a:srgbClr val="007C83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025" b="1">
                <a:solidFill>
                  <a:srgbClr val="007C83"/>
                </a:solidFill>
                <a:latin typeface="Microsoft JhengHei"/>
                <a:ea typeface="Microsoft JhengHei"/>
                <a:cs typeface="Microsoft JhengHei"/>
              </a:rPr>
              <a:t>格式正確、目標存在、任務完成，必須分別檢查。</a:t>
            </a:r>
          </a:p>
        </p:txBody>
      </p:sp>
    </p:spTree>
    <p:extLst>
      <p:ext uri="{BB962C8B-B14F-4D97-AF65-F5344CB8AC3E}">
        <p14:creationId xmlns:p14="http://schemas.microsoft.com/office/powerpoint/2010/main" val="594824894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BBF1D7F-6D52-4E77-A8C5-8BDC50C91C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5750"/>
            <a:ext cx="10763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425" b="1">
                <a:solidFill>
                  <a:srgbClr val="007C83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1425" b="1">
                <a:solidFill>
                  <a:srgbClr val="007C83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1425" b="1">
                <a:solidFill>
                  <a:srgbClr val="007C83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1425" b="1">
                <a:solidFill>
                  <a:srgbClr val="007C83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1425" b="1">
                <a:solidFill>
                  <a:srgbClr val="007C83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1425" b="1">
                <a:solidFill>
                  <a:srgbClr val="007C83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1425" b="1">
                <a:solidFill>
                  <a:srgbClr val="007C83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1425" b="1">
                <a:solidFill>
                  <a:srgbClr val="007C83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1425" b="1">
                <a:solidFill>
                  <a:srgbClr val="007C83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1425" b="1">
                <a:solidFill>
                  <a:srgbClr val="007C83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1425" b="1">
                <a:solidFill>
                  <a:srgbClr val="007C83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425" b="1">
                <a:solidFill>
                  <a:srgbClr val="007C83"/>
                </a:solidFill>
                <a:latin typeface="Microsoft JhengHei"/>
                <a:ea typeface="Microsoft JhengHei"/>
                <a:cs typeface="Microsoft JhengHei"/>
              </a:rPr>
              <a:t>06  /  參數組合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51FFE5D-6628-4873-85A7-CA6D59626A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09625"/>
            <a:ext cx="109728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225" b="1">
                <a:solidFill>
                  <a:srgbClr val="132C44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3225" b="1">
                <a:solidFill>
                  <a:srgbClr val="132C44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3225" b="1">
                <a:solidFill>
                  <a:srgbClr val="132C44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3225" b="1">
                <a:solidFill>
                  <a:srgbClr val="132C44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3225" b="1">
                <a:solidFill>
                  <a:srgbClr val="132C44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3225" b="1">
                <a:solidFill>
                  <a:srgbClr val="132C44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3225" b="1">
                <a:solidFill>
                  <a:srgbClr val="132C44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3225" b="1">
                <a:solidFill>
                  <a:srgbClr val="132C44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3225" b="1">
                <a:solidFill>
                  <a:srgbClr val="132C44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3225" b="1">
                <a:solidFill>
                  <a:srgbClr val="132C44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3225" b="1">
                <a:solidFill>
                  <a:srgbClr val="132C44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3225" b="1">
                <a:solidFill>
                  <a:srgbClr val="132C44"/>
                </a:solidFill>
                <a:latin typeface="Microsoft JhengHei"/>
                <a:ea typeface="Microsoft JhengHei"/>
                <a:cs typeface="Microsoft JhengHei"/>
              </a:rPr>
              <a:t>30% 由 Client 轉成具體新值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2C36219-D7BC-4650-8CE3-D4F83904E3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191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0">
                <a:solidFill>
                  <a:srgbClr val="4D6475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1200" b="0">
                <a:solidFill>
                  <a:srgbClr val="4D6475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1200" b="0">
                <a:solidFill>
                  <a:srgbClr val="4D6475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1200" b="0">
                <a:solidFill>
                  <a:srgbClr val="4D6475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1200" b="0">
                <a:solidFill>
                  <a:srgbClr val="4D6475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1200" b="0">
                <a:solidFill>
                  <a:srgbClr val="4D6475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1200" b="0">
                <a:solidFill>
                  <a:srgbClr val="4D6475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1200" b="0">
                <a:solidFill>
                  <a:srgbClr val="4D6475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1200" b="0">
                <a:solidFill>
                  <a:srgbClr val="4D6475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1200" b="0">
                <a:solidFill>
                  <a:srgbClr val="4D6475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4D647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00" b="0">
                <a:solidFill>
                  <a:srgbClr val="4D6475"/>
                </a:solidFill>
                <a:latin typeface="Microsoft JhengHei"/>
                <a:ea typeface="Microsoft JhengHei"/>
                <a:cs typeface="Microsoft JhengHei"/>
              </a:rPr>
              <a:t>EnergyPlus-MCP  ·  MCP 工具流程實作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1973E71-7490-4B6F-B878-3A3E9D8B64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19850"/>
            <a:ext cx="6286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0">
                <a:solidFill>
                  <a:srgbClr val="4D6475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1200" b="0">
                <a:solidFill>
                  <a:srgbClr val="4D6475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1200" b="0">
                <a:solidFill>
                  <a:srgbClr val="4D6475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1200" b="0">
                <a:solidFill>
                  <a:srgbClr val="4D6475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1200" b="0">
                <a:solidFill>
                  <a:srgbClr val="4D6475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1200" b="0">
                <a:solidFill>
                  <a:srgbClr val="4D6475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1200" b="0">
                <a:solidFill>
                  <a:srgbClr val="4D6475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1200" b="0">
                <a:solidFill>
                  <a:srgbClr val="4D6475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1200" b="0">
                <a:solidFill>
                  <a:srgbClr val="4D6475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1200" b="0">
                <a:solidFill>
                  <a:srgbClr val="4D6475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4D647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00" b="0">
                <a:solidFill>
                  <a:srgbClr val="4D6475"/>
                </a:solidFill>
                <a:latin typeface="Microsoft JhengHei"/>
                <a:ea typeface="Microsoft JhengHei"/>
                <a:cs typeface="Microsoft JhengHei"/>
              </a:rPr>
              <a:t>10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7D044E8-FE03-41F0-869A-7816D46C64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924050"/>
            <a:ext cx="109728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450" b="1">
                <a:solidFill>
                  <a:srgbClr val="007C83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3450" b="1">
                <a:solidFill>
                  <a:srgbClr val="007C83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3450" b="1">
                <a:solidFill>
                  <a:srgbClr val="007C83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3450" b="1">
                <a:solidFill>
                  <a:srgbClr val="007C83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3450" b="1">
                <a:solidFill>
                  <a:srgbClr val="007C83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3450" b="1">
                <a:solidFill>
                  <a:srgbClr val="007C83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3450" b="1">
                <a:solidFill>
                  <a:srgbClr val="007C83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3450" b="1">
                <a:solidFill>
                  <a:srgbClr val="007C83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3450" b="1">
                <a:solidFill>
                  <a:srgbClr val="007C83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3450" b="1">
                <a:solidFill>
                  <a:srgbClr val="007C83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3450" b="1">
                <a:solidFill>
                  <a:srgbClr val="007C83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3450" b="1">
                <a:solidFill>
                  <a:srgbClr val="007C83"/>
                </a:solidFill>
                <a:latin typeface="Microsoft JhengHei"/>
                <a:ea typeface="Microsoft JhengHei"/>
                <a:cs typeface="Microsoft JhengHei"/>
              </a:rPr>
              <a:t>1584 × 0.7 = 1108.8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AC34832-9C77-47E4-A17C-DEC5F953FF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905125"/>
            <a:ext cx="10972800" cy="2428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5F6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250" b="0">
                <a:solidFill>
                  <a:srgbClr val="132C44"/>
                </a:solidFill>
                <a:latin typeface="Consolas"/>
                <a:ea typeface="Consolas"/>
                <a:cs typeface="Consolas"/>
              </a:defRPr>
            </a:defPPr>
            <a:lvl1pPr>
              <a:defRPr sz="2250" b="0">
                <a:solidFill>
                  <a:srgbClr val="132C44"/>
                </a:solidFill>
                <a:latin typeface="Consolas"/>
                <a:ea typeface="Consolas"/>
                <a:cs typeface="Consolas"/>
              </a:defRPr>
            </a:lvl1pPr>
            <a:lvl2pPr>
              <a:defRPr sz="2250" b="0">
                <a:solidFill>
                  <a:srgbClr val="132C44"/>
                </a:solidFill>
                <a:latin typeface="Consolas"/>
                <a:ea typeface="Consolas"/>
                <a:cs typeface="Consolas"/>
              </a:defRPr>
            </a:lvl2pPr>
            <a:lvl3pPr>
              <a:defRPr sz="2250" b="0">
                <a:solidFill>
                  <a:srgbClr val="132C44"/>
                </a:solidFill>
                <a:latin typeface="Consolas"/>
                <a:ea typeface="Consolas"/>
                <a:cs typeface="Consolas"/>
              </a:defRPr>
            </a:lvl3pPr>
            <a:lvl4pPr>
              <a:defRPr sz="2250" b="0">
                <a:solidFill>
                  <a:srgbClr val="132C44"/>
                </a:solidFill>
                <a:latin typeface="Consolas"/>
                <a:ea typeface="Consolas"/>
                <a:cs typeface="Consolas"/>
              </a:defRPr>
            </a:lvl4pPr>
            <a:lvl5pPr>
              <a:defRPr sz="2250" b="0">
                <a:solidFill>
                  <a:srgbClr val="132C44"/>
                </a:solidFill>
                <a:latin typeface="Consolas"/>
                <a:ea typeface="Consolas"/>
                <a:cs typeface="Consolas"/>
              </a:defRPr>
            </a:lvl5pPr>
            <a:lvl6pPr>
              <a:defRPr sz="2250" b="0">
                <a:solidFill>
                  <a:srgbClr val="132C44"/>
                </a:solidFill>
                <a:latin typeface="Consolas"/>
                <a:ea typeface="Consolas"/>
                <a:cs typeface="Consolas"/>
              </a:defRPr>
            </a:lvl6pPr>
            <a:lvl7pPr>
              <a:defRPr sz="2250" b="0">
                <a:solidFill>
                  <a:srgbClr val="132C44"/>
                </a:solidFill>
                <a:latin typeface="Consolas"/>
                <a:ea typeface="Consolas"/>
                <a:cs typeface="Consolas"/>
              </a:defRPr>
            </a:lvl7pPr>
            <a:lvl8pPr>
              <a:defRPr sz="2250" b="0">
                <a:solidFill>
                  <a:srgbClr val="132C44"/>
                </a:solidFill>
                <a:latin typeface="Consolas"/>
                <a:ea typeface="Consolas"/>
                <a:cs typeface="Consolas"/>
              </a:defRPr>
            </a:lvl8pPr>
            <a:lvl9pPr>
              <a:defRPr sz="2250" b="0">
                <a:solidFill>
                  <a:srgbClr val="132C44"/>
                </a:solidFill>
                <a:latin typeface="Consolas"/>
                <a:ea typeface="Consolas"/>
                <a:cs typeface="Consolas"/>
              </a:defRPr>
            </a:lvl9pPr>
          </a:lstStyle>
          <a:p xmlns:a="http://schemas.openxmlformats.org/drawingml/2006/main">
            <a:pPr>
              <a:defRPr sz="2250" b="0">
                <a:solidFill>
                  <a:srgbClr val="132C44"/>
                </a:solidFill>
                <a:latin typeface="Consolas"/>
                <a:ea typeface="Consolas"/>
                <a:cs typeface="Consolas"/>
              </a:defRPr>
            </a:pPr>
            <a:r>
              <a:rPr sz="2250" b="0">
                <a:solidFill>
                  <a:srgbClr val="132C44"/>
                </a:solidFill>
                <a:latin typeface="Consolas"/>
                <a:ea typeface="Consolas"/>
                <a:cs typeface="Consolas"/>
              </a:rPr>
              <a:t>{</a:t>
            </a:r>
          </a:p>
          <a:p xmlns:a="http://schemas.openxmlformats.org/drawingml/2006/main">
            <a:pPr>
              <a:defRPr sz="2250" b="0">
                <a:solidFill>
                  <a:srgbClr val="132C44"/>
                </a:solidFill>
                <a:latin typeface="Consolas"/>
                <a:ea typeface="Consolas"/>
                <a:cs typeface="Consolas"/>
              </a:defRPr>
            </a:pPr>
            <a:r>
              <a:rPr sz="2250" b="0">
                <a:solidFill>
                  <a:srgbClr val="132C44"/>
                </a:solidFill>
                <a:latin typeface="Consolas"/>
                <a:ea typeface="Consolas"/>
                <a:cs typeface="Consolas"/>
              </a:rPr>
              <a:t>  "target": "name:SPACE1-1 Lights 1",</a:t>
            </a:r>
          </a:p>
          <a:p xmlns:a="http://schemas.openxmlformats.org/drawingml/2006/main">
            <a:pPr>
              <a:defRPr sz="2250" b="0">
                <a:solidFill>
                  <a:srgbClr val="132C44"/>
                </a:solidFill>
                <a:latin typeface="Consolas"/>
                <a:ea typeface="Consolas"/>
                <a:cs typeface="Consolas"/>
              </a:defRPr>
            </a:pPr>
            <a:r>
              <a:rPr sz="2250" b="0">
                <a:solidFill>
                  <a:srgbClr val="132C44"/>
                </a:solidFill>
                <a:latin typeface="Consolas"/>
                <a:ea typeface="Consolas"/>
                <a:cs typeface="Consolas"/>
              </a:rPr>
              <a:t>  "field_updates": {</a:t>
            </a:r>
          </a:p>
          <a:p xmlns:a="http://schemas.openxmlformats.org/drawingml/2006/main">
            <a:pPr>
              <a:defRPr sz="2250" b="0">
                <a:solidFill>
                  <a:srgbClr val="132C44"/>
                </a:solidFill>
                <a:latin typeface="Consolas"/>
                <a:ea typeface="Consolas"/>
                <a:cs typeface="Consolas"/>
              </a:defRPr>
            </a:pPr>
            <a:r>
              <a:rPr sz="2250" b="0">
                <a:solidFill>
                  <a:srgbClr val="132C44"/>
                </a:solidFill>
                <a:latin typeface="Consolas"/>
                <a:ea typeface="Consolas"/>
                <a:cs typeface="Consolas"/>
              </a:rPr>
              <a:t>    "Lighting_Level": 1108.8</a:t>
            </a:r>
          </a:p>
          <a:p xmlns:a="http://schemas.openxmlformats.org/drawingml/2006/main">
            <a:pPr>
              <a:defRPr sz="2250" b="0">
                <a:solidFill>
                  <a:srgbClr val="132C44"/>
                </a:solidFill>
                <a:latin typeface="Consolas"/>
                <a:ea typeface="Consolas"/>
                <a:cs typeface="Consolas"/>
              </a:defRPr>
            </a:pPr>
            <a:r>
              <a:rPr sz="2250" b="0">
                <a:solidFill>
                  <a:srgbClr val="132C44"/>
                </a:solidFill>
                <a:latin typeface="Consolas"/>
                <a:ea typeface="Consolas"/>
                <a:cs typeface="Consolas"/>
              </a:rPr>
              <a:t>  }</a:t>
            </a:r>
          </a:p>
          <a:p xmlns:a="http://schemas.openxmlformats.org/drawingml/2006/main">
            <a:pPr>
              <a:defRPr sz="2250" b="0">
                <a:solidFill>
                  <a:srgbClr val="132C44"/>
                </a:solidFill>
                <a:latin typeface="Consolas"/>
                <a:ea typeface="Consolas"/>
                <a:cs typeface="Consolas"/>
              </a:defRPr>
            </a:pPr>
            <a:r>
              <a:rPr sz="2250" b="0">
                <a:solidFill>
                  <a:srgbClr val="132C44"/>
                </a:solidFill>
                <a:latin typeface="Consolas"/>
                <a:ea typeface="Consolas"/>
                <a:cs typeface="Consolas"/>
              </a:rPr>
              <a:t>}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927C225-8647-4EC4-B997-9D8594FBE1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81650"/>
            <a:ext cx="109728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025" b="1">
                <a:solidFill>
                  <a:srgbClr val="007C83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2025" b="1">
                <a:solidFill>
                  <a:srgbClr val="007C83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2025" b="1">
                <a:solidFill>
                  <a:srgbClr val="007C83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2025" b="1">
                <a:solidFill>
                  <a:srgbClr val="007C83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2025" b="1">
                <a:solidFill>
                  <a:srgbClr val="007C83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2025" b="1">
                <a:solidFill>
                  <a:srgbClr val="007C83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2025" b="1">
                <a:solidFill>
                  <a:srgbClr val="007C83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2025" b="1">
                <a:solidFill>
                  <a:srgbClr val="007C83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2025" b="1">
                <a:solidFill>
                  <a:srgbClr val="007C83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2025" b="1">
                <a:solidFill>
                  <a:srgbClr val="007C83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2025" b="1">
                <a:solidFill>
                  <a:srgbClr val="007C83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025" b="1">
                <a:solidFill>
                  <a:srgbClr val="007C83"/>
                </a:solidFill>
                <a:latin typeface="Microsoft JhengHei"/>
                <a:ea typeface="Microsoft JhengHei"/>
                <a:cs typeface="Microsoft JhengHei"/>
              </a:rPr>
              <a:t>同樣的規則，為五個物件各產生一筆修改要求。</a:t>
            </a:r>
          </a:p>
        </p:txBody>
      </p:sp>
    </p:spTree>
    <p:extLst>
      <p:ext uri="{BB962C8B-B14F-4D97-AF65-F5344CB8AC3E}">
        <p14:creationId xmlns:p14="http://schemas.microsoft.com/office/powerpoint/2010/main" val="1517881951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708BCE7-F0DB-4B89-A015-CB8F0F074F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5750"/>
            <a:ext cx="10763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425" b="1">
                <a:solidFill>
                  <a:srgbClr val="007C83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1425" b="1">
                <a:solidFill>
                  <a:srgbClr val="007C83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1425" b="1">
                <a:solidFill>
                  <a:srgbClr val="007C83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1425" b="1">
                <a:solidFill>
                  <a:srgbClr val="007C83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1425" b="1">
                <a:solidFill>
                  <a:srgbClr val="007C83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1425" b="1">
                <a:solidFill>
                  <a:srgbClr val="007C83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1425" b="1">
                <a:solidFill>
                  <a:srgbClr val="007C83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1425" b="1">
                <a:solidFill>
                  <a:srgbClr val="007C83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1425" b="1">
                <a:solidFill>
                  <a:srgbClr val="007C83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1425" b="1">
                <a:solidFill>
                  <a:srgbClr val="007C83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1425" b="1">
                <a:solidFill>
                  <a:srgbClr val="007C83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425" b="1">
                <a:solidFill>
                  <a:srgbClr val="007C83"/>
                </a:solidFill>
                <a:latin typeface="Microsoft JhengHei"/>
                <a:ea typeface="Microsoft JhengHei"/>
                <a:cs typeface="Microsoft JhengHei"/>
              </a:rPr>
              <a:t>07  /  TOOLS/CALL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14C2203-56A0-487D-B731-9257CB5ACB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09625"/>
            <a:ext cx="109728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225" b="1">
                <a:solidFill>
                  <a:srgbClr val="132C44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3225" b="1">
                <a:solidFill>
                  <a:srgbClr val="132C44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3225" b="1">
                <a:solidFill>
                  <a:srgbClr val="132C44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3225" b="1">
                <a:solidFill>
                  <a:srgbClr val="132C44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3225" b="1">
                <a:solidFill>
                  <a:srgbClr val="132C44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3225" b="1">
                <a:solidFill>
                  <a:srgbClr val="132C44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3225" b="1">
                <a:solidFill>
                  <a:srgbClr val="132C44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3225" b="1">
                <a:solidFill>
                  <a:srgbClr val="132C44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3225" b="1">
                <a:solidFill>
                  <a:srgbClr val="132C44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3225" b="1">
                <a:solidFill>
                  <a:srgbClr val="132C44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3225" b="1">
                <a:solidFill>
                  <a:srgbClr val="132C44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3225" b="1">
                <a:solidFill>
                  <a:srgbClr val="132C44"/>
                </a:solidFill>
                <a:latin typeface="Microsoft JhengHei"/>
                <a:ea typeface="Microsoft JhengHei"/>
                <a:cs typeface="Microsoft JhengHei"/>
              </a:rPr>
              <a:t>Client 指定工具名稱與 arguments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16E1CB9-985D-40D4-865C-5322113F14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191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0">
                <a:solidFill>
                  <a:srgbClr val="4D6475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1200" b="0">
                <a:solidFill>
                  <a:srgbClr val="4D6475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1200" b="0">
                <a:solidFill>
                  <a:srgbClr val="4D6475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1200" b="0">
                <a:solidFill>
                  <a:srgbClr val="4D6475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1200" b="0">
                <a:solidFill>
                  <a:srgbClr val="4D6475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1200" b="0">
                <a:solidFill>
                  <a:srgbClr val="4D6475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1200" b="0">
                <a:solidFill>
                  <a:srgbClr val="4D6475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1200" b="0">
                <a:solidFill>
                  <a:srgbClr val="4D6475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1200" b="0">
                <a:solidFill>
                  <a:srgbClr val="4D6475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1200" b="0">
                <a:solidFill>
                  <a:srgbClr val="4D6475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4D647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00" b="0">
                <a:solidFill>
                  <a:srgbClr val="4D6475"/>
                </a:solidFill>
                <a:latin typeface="Microsoft JhengHei"/>
                <a:ea typeface="Microsoft JhengHei"/>
                <a:cs typeface="Microsoft JhengHei"/>
              </a:rPr>
              <a:t>EnergyPlus-MCP  ·  MCP 工具流程實作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144B8BF-D63F-4372-B84C-A61B36B68B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19850"/>
            <a:ext cx="6286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0">
                <a:solidFill>
                  <a:srgbClr val="4D6475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1200" b="0">
                <a:solidFill>
                  <a:srgbClr val="4D6475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1200" b="0">
                <a:solidFill>
                  <a:srgbClr val="4D6475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1200" b="0">
                <a:solidFill>
                  <a:srgbClr val="4D6475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1200" b="0">
                <a:solidFill>
                  <a:srgbClr val="4D6475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1200" b="0">
                <a:solidFill>
                  <a:srgbClr val="4D6475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1200" b="0">
                <a:solidFill>
                  <a:srgbClr val="4D6475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1200" b="0">
                <a:solidFill>
                  <a:srgbClr val="4D6475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1200" b="0">
                <a:solidFill>
                  <a:srgbClr val="4D6475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1200" b="0">
                <a:solidFill>
                  <a:srgbClr val="4D6475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4D647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00" b="0">
                <a:solidFill>
                  <a:srgbClr val="4D6475"/>
                </a:solidFill>
                <a:latin typeface="Microsoft JhengHei"/>
                <a:ea typeface="Microsoft JhengHei"/>
                <a:cs typeface="Microsoft JhengHei"/>
              </a:rPr>
              <a:t>11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B1730A7-EFCC-4239-8834-07CC102396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952625"/>
            <a:ext cx="10972800" cy="3190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5F6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75" b="0">
                <a:solidFill>
                  <a:srgbClr val="132C44"/>
                </a:solidFill>
                <a:latin typeface="Consolas"/>
                <a:ea typeface="Consolas"/>
                <a:cs typeface="Consolas"/>
              </a:defRPr>
            </a:defPPr>
            <a:lvl1pPr>
              <a:defRPr sz="2175" b="0">
                <a:solidFill>
                  <a:srgbClr val="132C44"/>
                </a:solidFill>
                <a:latin typeface="Consolas"/>
                <a:ea typeface="Consolas"/>
                <a:cs typeface="Consolas"/>
              </a:defRPr>
            </a:lvl1pPr>
            <a:lvl2pPr>
              <a:defRPr sz="2175" b="0">
                <a:solidFill>
                  <a:srgbClr val="132C44"/>
                </a:solidFill>
                <a:latin typeface="Consolas"/>
                <a:ea typeface="Consolas"/>
                <a:cs typeface="Consolas"/>
              </a:defRPr>
            </a:lvl2pPr>
            <a:lvl3pPr>
              <a:defRPr sz="2175" b="0">
                <a:solidFill>
                  <a:srgbClr val="132C44"/>
                </a:solidFill>
                <a:latin typeface="Consolas"/>
                <a:ea typeface="Consolas"/>
                <a:cs typeface="Consolas"/>
              </a:defRPr>
            </a:lvl3pPr>
            <a:lvl4pPr>
              <a:defRPr sz="2175" b="0">
                <a:solidFill>
                  <a:srgbClr val="132C44"/>
                </a:solidFill>
                <a:latin typeface="Consolas"/>
                <a:ea typeface="Consolas"/>
                <a:cs typeface="Consolas"/>
              </a:defRPr>
            </a:lvl4pPr>
            <a:lvl5pPr>
              <a:defRPr sz="2175" b="0">
                <a:solidFill>
                  <a:srgbClr val="132C44"/>
                </a:solidFill>
                <a:latin typeface="Consolas"/>
                <a:ea typeface="Consolas"/>
                <a:cs typeface="Consolas"/>
              </a:defRPr>
            </a:lvl5pPr>
            <a:lvl6pPr>
              <a:defRPr sz="2175" b="0">
                <a:solidFill>
                  <a:srgbClr val="132C44"/>
                </a:solidFill>
                <a:latin typeface="Consolas"/>
                <a:ea typeface="Consolas"/>
                <a:cs typeface="Consolas"/>
              </a:defRPr>
            </a:lvl6pPr>
            <a:lvl7pPr>
              <a:defRPr sz="2175" b="0">
                <a:solidFill>
                  <a:srgbClr val="132C44"/>
                </a:solidFill>
                <a:latin typeface="Consolas"/>
                <a:ea typeface="Consolas"/>
                <a:cs typeface="Consolas"/>
              </a:defRPr>
            </a:lvl7pPr>
            <a:lvl8pPr>
              <a:defRPr sz="2175" b="0">
                <a:solidFill>
                  <a:srgbClr val="132C44"/>
                </a:solidFill>
                <a:latin typeface="Consolas"/>
                <a:ea typeface="Consolas"/>
                <a:cs typeface="Consolas"/>
              </a:defRPr>
            </a:lvl8pPr>
            <a:lvl9pPr>
              <a:defRPr sz="2175" b="0">
                <a:solidFill>
                  <a:srgbClr val="132C44"/>
                </a:solidFill>
                <a:latin typeface="Consolas"/>
                <a:ea typeface="Consolas"/>
                <a:cs typeface="Consolas"/>
              </a:defRPr>
            </a:lvl9pPr>
          </a:lstStyle>
          <a:p xmlns:a="http://schemas.openxmlformats.org/drawingml/2006/main">
            <a:pPr>
              <a:defRPr sz="2175" b="0">
                <a:solidFill>
                  <a:srgbClr val="132C44"/>
                </a:solidFill>
                <a:latin typeface="Consolas"/>
                <a:ea typeface="Consolas"/>
                <a:cs typeface="Consolas"/>
              </a:defRPr>
            </a:pPr>
            <a:r>
              <a:rPr sz="2175" b="0">
                <a:solidFill>
                  <a:srgbClr val="132C44"/>
                </a:solidFill>
                <a:latin typeface="Consolas"/>
                <a:ea typeface="Consolas"/>
                <a:cs typeface="Consolas"/>
              </a:rPr>
              <a:t>arguments = {</a:t>
            </a:r>
          </a:p>
          <a:p xmlns:a="http://schemas.openxmlformats.org/drawingml/2006/main">
            <a:pPr>
              <a:defRPr sz="2175" b="0">
                <a:solidFill>
                  <a:srgbClr val="132C44"/>
                </a:solidFill>
                <a:latin typeface="Consolas"/>
                <a:ea typeface="Consolas"/>
                <a:cs typeface="Consolas"/>
              </a:defRPr>
            </a:pPr>
            <a:r>
              <a:rPr sz="2175" b="0">
                <a:solidFill>
                  <a:srgbClr val="132C44"/>
                </a:solidFill>
                <a:latin typeface="Consolas"/>
                <a:ea typeface="Consolas"/>
                <a:cs typeface="Consolas"/>
              </a:rPr>
              <a:t>    "idf_path": str(BASELINE),</a:t>
            </a:r>
          </a:p>
          <a:p xmlns:a="http://schemas.openxmlformats.org/drawingml/2006/main">
            <a:pPr>
              <a:defRPr sz="2175" b="0">
                <a:solidFill>
                  <a:srgbClr val="132C44"/>
                </a:solidFill>
                <a:latin typeface="Consolas"/>
                <a:ea typeface="Consolas"/>
                <a:cs typeface="Consolas"/>
              </a:defRPr>
            </a:pPr>
            <a:r>
              <a:rPr sz="2175" b="0">
                <a:solidFill>
                  <a:srgbClr val="132C44"/>
                </a:solidFill>
                <a:latin typeface="Consolas"/>
                <a:ea typeface="Consolas"/>
                <a:cs typeface="Consolas"/>
              </a:rPr>
              <a:t>    "modifications": mods,</a:t>
            </a:r>
          </a:p>
          <a:p xmlns:a="http://schemas.openxmlformats.org/drawingml/2006/main">
            <a:pPr>
              <a:defRPr sz="2175" b="0">
                <a:solidFill>
                  <a:srgbClr val="132C44"/>
                </a:solidFill>
                <a:latin typeface="Consolas"/>
                <a:ea typeface="Consolas"/>
                <a:cs typeface="Consolas"/>
              </a:defRPr>
            </a:pPr>
            <a:r>
              <a:rPr sz="2175" b="0">
                <a:solidFill>
                  <a:srgbClr val="132C44"/>
                </a:solidFill>
                <a:latin typeface="Consolas"/>
                <a:ea typeface="Consolas"/>
                <a:cs typeface="Consolas"/>
              </a:rPr>
              <a:t>    "output_path": str(MODIFIED)</a:t>
            </a:r>
          </a:p>
          <a:p xmlns:a="http://schemas.openxmlformats.org/drawingml/2006/main">
            <a:pPr>
              <a:defRPr sz="2175" b="0">
                <a:solidFill>
                  <a:srgbClr val="132C44"/>
                </a:solidFill>
                <a:latin typeface="Consolas"/>
                <a:ea typeface="Consolas"/>
                <a:cs typeface="Consolas"/>
              </a:defRPr>
            </a:pPr>
            <a:r>
              <a:rPr sz="2175" b="0">
                <a:solidFill>
                  <a:srgbClr val="132C44"/>
                </a:solidFill>
                <a:latin typeface="Consolas"/>
                <a:ea typeface="Consolas"/>
                <a:cs typeface="Consolas"/>
              </a:rPr>
              <a:t>}</a:t>
            </a:r>
          </a:p>
          <a:p xmlns:a="http://schemas.openxmlformats.org/drawingml/2006/main">
            <a:pPr>
              <a:defRPr sz="2175" b="0">
                <a:solidFill>
                  <a:srgbClr val="132C44"/>
                </a:solidFill>
                <a:latin typeface="Consolas"/>
                <a:ea typeface="Consolas"/>
                <a:cs typeface="Consolas"/>
              </a:defRPr>
            </a:pPr>
            <a:r>
              <a:rPr sz="2175" b="0">
                <a:solidFill>
                  <a:srgbClr val="132C44"/>
                </a:solidFill>
                <a:latin typeface="Consolas"/>
                <a:ea typeface="Consolas"/>
                <a:cs typeface="Consolas"/>
              </a:rPr>
              <a:t>result = await session.call_tool(</a:t>
            </a:r>
          </a:p>
          <a:p xmlns:a="http://schemas.openxmlformats.org/drawingml/2006/main">
            <a:pPr>
              <a:defRPr sz="2175" b="0">
                <a:solidFill>
                  <a:srgbClr val="132C44"/>
                </a:solidFill>
                <a:latin typeface="Consolas"/>
                <a:ea typeface="Consolas"/>
                <a:cs typeface="Consolas"/>
              </a:defRPr>
            </a:pPr>
            <a:r>
              <a:rPr sz="2175" b="0">
                <a:solidFill>
                  <a:srgbClr val="132C44"/>
                </a:solidFill>
                <a:latin typeface="Consolas"/>
                <a:ea typeface="Consolas"/>
                <a:cs typeface="Consolas"/>
              </a:rPr>
              <a:t>    "modify_lights", arguments</a:t>
            </a:r>
          </a:p>
          <a:p xmlns:a="http://schemas.openxmlformats.org/drawingml/2006/main">
            <a:pPr>
              <a:defRPr sz="2175" b="0">
                <a:solidFill>
                  <a:srgbClr val="132C44"/>
                </a:solidFill>
                <a:latin typeface="Consolas"/>
                <a:ea typeface="Consolas"/>
                <a:cs typeface="Consolas"/>
              </a:defRPr>
            </a:pPr>
            <a:r>
              <a:rPr sz="2175" b="0">
                <a:solidFill>
                  <a:srgbClr val="132C44"/>
                </a:solidFill>
                <a:latin typeface="Consolas"/>
                <a:ea typeface="Consolas"/>
                <a:cs typeface="Consolas"/>
              </a:rPr>
              <a:t>)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27FD172-4D57-41B4-9F8F-8CF5B3E352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81650"/>
            <a:ext cx="109728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025" b="1">
                <a:solidFill>
                  <a:srgbClr val="007C83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2025" b="1">
                <a:solidFill>
                  <a:srgbClr val="007C83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2025" b="1">
                <a:solidFill>
                  <a:srgbClr val="007C83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2025" b="1">
                <a:solidFill>
                  <a:srgbClr val="007C83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2025" b="1">
                <a:solidFill>
                  <a:srgbClr val="007C83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2025" b="1">
                <a:solidFill>
                  <a:srgbClr val="007C83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2025" b="1">
                <a:solidFill>
                  <a:srgbClr val="007C83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2025" b="1">
                <a:solidFill>
                  <a:srgbClr val="007C83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2025" b="1">
                <a:solidFill>
                  <a:srgbClr val="007C83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2025" b="1">
                <a:solidFill>
                  <a:srgbClr val="007C83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2025" b="1">
                <a:solidFill>
                  <a:srgbClr val="007C83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025" b="1">
                <a:solidFill>
                  <a:srgbClr val="007C83"/>
                </a:solidFill>
                <a:latin typeface="Microsoft JhengHei"/>
                <a:ea typeface="Microsoft JhengHei"/>
                <a:cs typeface="Microsoft JhengHei"/>
              </a:rPr>
              <a:t>發送參數與等待回覆由 SDK 處理，實際操作由 Server 執行。</a:t>
            </a:r>
          </a:p>
        </p:txBody>
      </p:sp>
    </p:spTree>
    <p:extLst>
      <p:ext uri="{BB962C8B-B14F-4D97-AF65-F5344CB8AC3E}">
        <p14:creationId xmlns:p14="http://schemas.microsoft.com/office/powerpoint/2010/main" val="1475389021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772999E-4F9C-419E-A5D5-9DA48CC396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5750"/>
            <a:ext cx="10763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425" b="1">
                <a:solidFill>
                  <a:srgbClr val="007C83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1425" b="1">
                <a:solidFill>
                  <a:srgbClr val="007C83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1425" b="1">
                <a:solidFill>
                  <a:srgbClr val="007C83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1425" b="1">
                <a:solidFill>
                  <a:srgbClr val="007C83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1425" b="1">
                <a:solidFill>
                  <a:srgbClr val="007C83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1425" b="1">
                <a:solidFill>
                  <a:srgbClr val="007C83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1425" b="1">
                <a:solidFill>
                  <a:srgbClr val="007C83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1425" b="1">
                <a:solidFill>
                  <a:srgbClr val="007C83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1425" b="1">
                <a:solidFill>
                  <a:srgbClr val="007C83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1425" b="1">
                <a:solidFill>
                  <a:srgbClr val="007C83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1425" b="1">
                <a:solidFill>
                  <a:srgbClr val="007C83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425" b="1">
                <a:solidFill>
                  <a:srgbClr val="007C83"/>
                </a:solidFill>
                <a:latin typeface="Microsoft JhengHei"/>
                <a:ea typeface="Microsoft JhengHei"/>
                <a:cs typeface="Microsoft JhengHei"/>
              </a:rPr>
              <a:t>08  /  SERVER 入口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BB351C8-4402-48D1-AE2A-1E13A48D91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09625"/>
            <a:ext cx="109728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225" b="1">
                <a:solidFill>
                  <a:srgbClr val="132C44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3225" b="1">
                <a:solidFill>
                  <a:srgbClr val="132C44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3225" b="1">
                <a:solidFill>
                  <a:srgbClr val="132C44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3225" b="1">
                <a:solidFill>
                  <a:srgbClr val="132C44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3225" b="1">
                <a:solidFill>
                  <a:srgbClr val="132C44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3225" b="1">
                <a:solidFill>
                  <a:srgbClr val="132C44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3225" b="1">
                <a:solidFill>
                  <a:srgbClr val="132C44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3225" b="1">
                <a:solidFill>
                  <a:srgbClr val="132C44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3225" b="1">
                <a:solidFill>
                  <a:srgbClr val="132C44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3225" b="1">
                <a:solidFill>
                  <a:srgbClr val="132C44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3225" b="1">
                <a:solidFill>
                  <a:srgbClr val="132C44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3225" b="1">
                <a:solidFill>
                  <a:srgbClr val="132C44"/>
                </a:solidFill>
                <a:latin typeface="Microsoft JhengHei"/>
                <a:ea typeface="Microsoft JhengHei"/>
                <a:cs typeface="Microsoft JhengHei"/>
              </a:rPr>
              <a:t>FastMCP 將呼叫分派到註冊函式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3FCCB10-C74A-40BF-AD30-E6381BF85E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191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0">
                <a:solidFill>
                  <a:srgbClr val="4D6475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1200" b="0">
                <a:solidFill>
                  <a:srgbClr val="4D6475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1200" b="0">
                <a:solidFill>
                  <a:srgbClr val="4D6475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1200" b="0">
                <a:solidFill>
                  <a:srgbClr val="4D6475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1200" b="0">
                <a:solidFill>
                  <a:srgbClr val="4D6475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1200" b="0">
                <a:solidFill>
                  <a:srgbClr val="4D6475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1200" b="0">
                <a:solidFill>
                  <a:srgbClr val="4D6475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1200" b="0">
                <a:solidFill>
                  <a:srgbClr val="4D6475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1200" b="0">
                <a:solidFill>
                  <a:srgbClr val="4D6475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1200" b="0">
                <a:solidFill>
                  <a:srgbClr val="4D6475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4D647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00" b="0">
                <a:solidFill>
                  <a:srgbClr val="4D6475"/>
                </a:solidFill>
                <a:latin typeface="Microsoft JhengHei"/>
                <a:ea typeface="Microsoft JhengHei"/>
                <a:cs typeface="Microsoft JhengHei"/>
              </a:rPr>
              <a:t>來源：server.py 358–441，等價流程簡化示意，非逐字原碼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BF6ADF6-5E4B-4CD8-9365-A7CDBA2041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19850"/>
            <a:ext cx="6286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0">
                <a:solidFill>
                  <a:srgbClr val="4D6475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1200" b="0">
                <a:solidFill>
                  <a:srgbClr val="4D6475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1200" b="0">
                <a:solidFill>
                  <a:srgbClr val="4D6475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1200" b="0">
                <a:solidFill>
                  <a:srgbClr val="4D6475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1200" b="0">
                <a:solidFill>
                  <a:srgbClr val="4D6475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1200" b="0">
                <a:solidFill>
                  <a:srgbClr val="4D6475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1200" b="0">
                <a:solidFill>
                  <a:srgbClr val="4D6475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1200" b="0">
                <a:solidFill>
                  <a:srgbClr val="4D6475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1200" b="0">
                <a:solidFill>
                  <a:srgbClr val="4D6475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1200" b="0">
                <a:solidFill>
                  <a:srgbClr val="4D6475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4D647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00" b="0">
                <a:solidFill>
                  <a:srgbClr val="4D6475"/>
                </a:solidFill>
                <a:latin typeface="Microsoft JhengHei"/>
                <a:ea typeface="Microsoft JhengHei"/>
                <a:cs typeface="Microsoft JhengHei"/>
              </a:rPr>
              <a:t>12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86F28BC-1C09-4125-AAB7-6EC96495EF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47875"/>
            <a:ext cx="10972800" cy="2857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5F6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250" b="0">
                <a:solidFill>
                  <a:srgbClr val="132C44"/>
                </a:solidFill>
                <a:latin typeface="Consolas"/>
                <a:ea typeface="Consolas"/>
                <a:cs typeface="Consolas"/>
              </a:defRPr>
            </a:defPPr>
            <a:lvl1pPr>
              <a:defRPr sz="2250" b="0">
                <a:solidFill>
                  <a:srgbClr val="132C44"/>
                </a:solidFill>
                <a:latin typeface="Consolas"/>
                <a:ea typeface="Consolas"/>
                <a:cs typeface="Consolas"/>
              </a:defRPr>
            </a:lvl1pPr>
            <a:lvl2pPr>
              <a:defRPr sz="2250" b="0">
                <a:solidFill>
                  <a:srgbClr val="132C44"/>
                </a:solidFill>
                <a:latin typeface="Consolas"/>
                <a:ea typeface="Consolas"/>
                <a:cs typeface="Consolas"/>
              </a:defRPr>
            </a:lvl2pPr>
            <a:lvl3pPr>
              <a:defRPr sz="2250" b="0">
                <a:solidFill>
                  <a:srgbClr val="132C44"/>
                </a:solidFill>
                <a:latin typeface="Consolas"/>
                <a:ea typeface="Consolas"/>
                <a:cs typeface="Consolas"/>
              </a:defRPr>
            </a:lvl3pPr>
            <a:lvl4pPr>
              <a:defRPr sz="2250" b="0">
                <a:solidFill>
                  <a:srgbClr val="132C44"/>
                </a:solidFill>
                <a:latin typeface="Consolas"/>
                <a:ea typeface="Consolas"/>
                <a:cs typeface="Consolas"/>
              </a:defRPr>
            </a:lvl4pPr>
            <a:lvl5pPr>
              <a:defRPr sz="2250" b="0">
                <a:solidFill>
                  <a:srgbClr val="132C44"/>
                </a:solidFill>
                <a:latin typeface="Consolas"/>
                <a:ea typeface="Consolas"/>
                <a:cs typeface="Consolas"/>
              </a:defRPr>
            </a:lvl5pPr>
            <a:lvl6pPr>
              <a:defRPr sz="2250" b="0">
                <a:solidFill>
                  <a:srgbClr val="132C44"/>
                </a:solidFill>
                <a:latin typeface="Consolas"/>
                <a:ea typeface="Consolas"/>
                <a:cs typeface="Consolas"/>
              </a:defRPr>
            </a:lvl6pPr>
            <a:lvl7pPr>
              <a:defRPr sz="2250" b="0">
                <a:solidFill>
                  <a:srgbClr val="132C44"/>
                </a:solidFill>
                <a:latin typeface="Consolas"/>
                <a:ea typeface="Consolas"/>
                <a:cs typeface="Consolas"/>
              </a:defRPr>
            </a:lvl7pPr>
            <a:lvl8pPr>
              <a:defRPr sz="2250" b="0">
                <a:solidFill>
                  <a:srgbClr val="132C44"/>
                </a:solidFill>
                <a:latin typeface="Consolas"/>
                <a:ea typeface="Consolas"/>
                <a:cs typeface="Consolas"/>
              </a:defRPr>
            </a:lvl8pPr>
            <a:lvl9pPr>
              <a:defRPr sz="2250" b="0">
                <a:solidFill>
                  <a:srgbClr val="132C44"/>
                </a:solidFill>
                <a:latin typeface="Consolas"/>
                <a:ea typeface="Consolas"/>
                <a:cs typeface="Consolas"/>
              </a:defRPr>
            </a:lvl9pPr>
          </a:lstStyle>
          <a:p xmlns:a="http://schemas.openxmlformats.org/drawingml/2006/main">
            <a:pPr>
              <a:defRPr sz="2250" b="0">
                <a:solidFill>
                  <a:srgbClr val="132C44"/>
                </a:solidFill>
                <a:latin typeface="Consolas"/>
                <a:ea typeface="Consolas"/>
                <a:cs typeface="Consolas"/>
              </a:defRPr>
            </a:pPr>
            <a:r>
              <a:rPr sz="2250" b="0">
                <a:solidFill>
                  <a:srgbClr val="132C44"/>
                </a:solidFill>
                <a:latin typeface="Consolas"/>
                <a:ea typeface="Consolas"/>
                <a:cs typeface="Consolas"/>
              </a:rPr>
              <a:t>@mcp.tool()</a:t>
            </a:r>
          </a:p>
          <a:p xmlns:a="http://schemas.openxmlformats.org/drawingml/2006/main">
            <a:pPr>
              <a:defRPr sz="2250" b="0">
                <a:solidFill>
                  <a:srgbClr val="132C44"/>
                </a:solidFill>
                <a:latin typeface="Consolas"/>
                <a:ea typeface="Consolas"/>
                <a:cs typeface="Consolas"/>
              </a:defRPr>
            </a:pPr>
            <a:r>
              <a:rPr sz="2250" b="0">
                <a:solidFill>
                  <a:srgbClr val="132C44"/>
                </a:solidFill>
                <a:latin typeface="Consolas"/>
                <a:ea typeface="Consolas"/>
                <a:cs typeface="Consolas"/>
              </a:rPr>
              <a:t>async def modify_lights(</a:t>
            </a:r>
          </a:p>
          <a:p xmlns:a="http://schemas.openxmlformats.org/drawingml/2006/main">
            <a:pPr>
              <a:defRPr sz="2250" b="0">
                <a:solidFill>
                  <a:srgbClr val="132C44"/>
                </a:solidFill>
                <a:latin typeface="Consolas"/>
                <a:ea typeface="Consolas"/>
                <a:cs typeface="Consolas"/>
              </a:defRPr>
            </a:pPr>
            <a:r>
              <a:rPr sz="2250" b="0">
                <a:solidFill>
                  <a:srgbClr val="132C44"/>
                </a:solidFill>
                <a:latin typeface="Consolas"/>
                <a:ea typeface="Consolas"/>
                <a:cs typeface="Consolas"/>
              </a:rPr>
              <a:t>    idf_path, modifications, output_path=None</a:t>
            </a:r>
          </a:p>
          <a:p xmlns:a="http://schemas.openxmlformats.org/drawingml/2006/main">
            <a:pPr>
              <a:defRPr sz="2250" b="0">
                <a:solidFill>
                  <a:srgbClr val="132C44"/>
                </a:solidFill>
                <a:latin typeface="Consolas"/>
                <a:ea typeface="Consolas"/>
                <a:cs typeface="Consolas"/>
              </a:defRPr>
            </a:pPr>
            <a:r>
              <a:rPr sz="2250" b="0">
                <a:solidFill>
                  <a:srgbClr val="132C44"/>
                </a:solidFill>
                <a:latin typeface="Consolas"/>
                <a:ea typeface="Consolas"/>
                <a:cs typeface="Consolas"/>
              </a:rPr>
              <a:t>):</a:t>
            </a:r>
          </a:p>
          <a:p xmlns:a="http://schemas.openxmlformats.org/drawingml/2006/main">
            <a:pPr>
              <a:defRPr sz="2250" b="0">
                <a:solidFill>
                  <a:srgbClr val="132C44"/>
                </a:solidFill>
                <a:latin typeface="Consolas"/>
                <a:ea typeface="Consolas"/>
                <a:cs typeface="Consolas"/>
              </a:defRPr>
            </a:pPr>
            <a:r>
              <a:rPr sz="2250" b="0">
                <a:solidFill>
                  <a:srgbClr val="132C44"/>
                </a:solidFill>
                <a:latin typeface="Consolas"/>
                <a:ea typeface="Consolas"/>
                <a:cs typeface="Consolas"/>
              </a:rPr>
              <a:t>    return ep_manager.modify_lights(</a:t>
            </a:r>
          </a:p>
          <a:p xmlns:a="http://schemas.openxmlformats.org/drawingml/2006/main">
            <a:pPr>
              <a:defRPr sz="2250" b="0">
                <a:solidFill>
                  <a:srgbClr val="132C44"/>
                </a:solidFill>
                <a:latin typeface="Consolas"/>
                <a:ea typeface="Consolas"/>
                <a:cs typeface="Consolas"/>
              </a:defRPr>
            </a:pPr>
            <a:r>
              <a:rPr sz="2250" b="0">
                <a:solidFill>
                  <a:srgbClr val="132C44"/>
                </a:solidFill>
                <a:latin typeface="Consolas"/>
                <a:ea typeface="Consolas"/>
                <a:cs typeface="Consolas"/>
              </a:rPr>
              <a:t>        idf_path, modifications, output_path</a:t>
            </a:r>
          </a:p>
          <a:p xmlns:a="http://schemas.openxmlformats.org/drawingml/2006/main">
            <a:pPr>
              <a:defRPr sz="2250" b="0">
                <a:solidFill>
                  <a:srgbClr val="132C44"/>
                </a:solidFill>
                <a:latin typeface="Consolas"/>
                <a:ea typeface="Consolas"/>
                <a:cs typeface="Consolas"/>
              </a:defRPr>
            </a:pPr>
            <a:r>
              <a:rPr sz="2250" b="0">
                <a:solidFill>
                  <a:srgbClr val="132C44"/>
                </a:solidFill>
                <a:latin typeface="Consolas"/>
                <a:ea typeface="Consolas"/>
                <a:cs typeface="Consolas"/>
              </a:rPr>
              <a:t>    )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209CA12-1DFD-4EDC-844A-C6753B324C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095875"/>
            <a:ext cx="109728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75" b="0">
                <a:solidFill>
                  <a:srgbClr val="132C44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2175" b="0">
                <a:solidFill>
                  <a:srgbClr val="132C44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2175" b="0">
                <a:solidFill>
                  <a:srgbClr val="132C44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2175" b="0">
                <a:solidFill>
                  <a:srgbClr val="132C44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2175" b="0">
                <a:solidFill>
                  <a:srgbClr val="132C44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2175" b="0">
                <a:solidFill>
                  <a:srgbClr val="132C44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2175" b="0">
                <a:solidFill>
                  <a:srgbClr val="132C44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2175" b="0">
                <a:solidFill>
                  <a:srgbClr val="132C44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2175" b="0">
                <a:solidFill>
                  <a:srgbClr val="132C44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2175" b="0">
                <a:solidFill>
                  <a:srgbClr val="132C44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2175" b="0">
                <a:solidFill>
                  <a:srgbClr val="132C44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175" b="0">
                <a:solidFill>
                  <a:srgbClr val="132C44"/>
                </a:solidFill>
                <a:latin typeface="Microsoft JhengHei"/>
                <a:ea typeface="Microsoft JhengHei"/>
                <a:cs typeface="Microsoft JhengHei"/>
              </a:rPr>
              <a:t>責任：註冊工具、接收參數、轉交執行。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8B61A1A-7DAA-450E-9DE7-C4D9B3666D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81650"/>
            <a:ext cx="109728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025" b="1">
                <a:solidFill>
                  <a:srgbClr val="007C83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2025" b="1">
                <a:solidFill>
                  <a:srgbClr val="007C83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2025" b="1">
                <a:solidFill>
                  <a:srgbClr val="007C83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2025" b="1">
                <a:solidFill>
                  <a:srgbClr val="007C83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2025" b="1">
                <a:solidFill>
                  <a:srgbClr val="007C83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2025" b="1">
                <a:solidFill>
                  <a:srgbClr val="007C83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2025" b="1">
                <a:solidFill>
                  <a:srgbClr val="007C83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2025" b="1">
                <a:solidFill>
                  <a:srgbClr val="007C83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2025" b="1">
                <a:solidFill>
                  <a:srgbClr val="007C83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2025" b="1">
                <a:solidFill>
                  <a:srgbClr val="007C83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2025" b="1">
                <a:solidFill>
                  <a:srgbClr val="007C83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025" b="1">
                <a:solidFill>
                  <a:srgbClr val="007C83"/>
                </a:solidFill>
                <a:latin typeface="Microsoft JhengHei"/>
                <a:ea typeface="Microsoft JhengHei"/>
                <a:cs typeface="Microsoft JhengHei"/>
              </a:rPr>
              <a:t>跨過協定邊界後，接著追蹤一般 Python 函式呼叫。</a:t>
            </a:r>
          </a:p>
        </p:txBody>
      </p:sp>
    </p:spTree>
    <p:extLst>
      <p:ext uri="{BB962C8B-B14F-4D97-AF65-F5344CB8AC3E}">
        <p14:creationId xmlns:p14="http://schemas.microsoft.com/office/powerpoint/2010/main" val="688435272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B83272B-6A37-48EA-8F56-D7D703A0A9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5750"/>
            <a:ext cx="10763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425" b="1">
                <a:solidFill>
                  <a:srgbClr val="007C83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1425" b="1">
                <a:solidFill>
                  <a:srgbClr val="007C83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1425" b="1">
                <a:solidFill>
                  <a:srgbClr val="007C83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1425" b="1">
                <a:solidFill>
                  <a:srgbClr val="007C83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1425" b="1">
                <a:solidFill>
                  <a:srgbClr val="007C83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1425" b="1">
                <a:solidFill>
                  <a:srgbClr val="007C83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1425" b="1">
                <a:solidFill>
                  <a:srgbClr val="007C83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1425" b="1">
                <a:solidFill>
                  <a:srgbClr val="007C83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1425" b="1">
                <a:solidFill>
                  <a:srgbClr val="007C83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1425" b="1">
                <a:solidFill>
                  <a:srgbClr val="007C83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1425" b="1">
                <a:solidFill>
                  <a:srgbClr val="007C83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425" b="1">
                <a:solidFill>
                  <a:srgbClr val="007C83"/>
                </a:solidFill>
                <a:latin typeface="Microsoft JhengHei"/>
                <a:ea typeface="Microsoft JhengHei"/>
                <a:cs typeface="Microsoft JhengHei"/>
              </a:rPr>
              <a:t>09  /  SERVER 內部執行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B7D1F94-4331-4764-822F-2DF25AAC36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09625"/>
            <a:ext cx="109728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225" b="1">
                <a:solidFill>
                  <a:srgbClr val="132C44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3225" b="1">
                <a:solidFill>
                  <a:srgbClr val="132C44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3225" b="1">
                <a:solidFill>
                  <a:srgbClr val="132C44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3225" b="1">
                <a:solidFill>
                  <a:srgbClr val="132C44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3225" b="1">
                <a:solidFill>
                  <a:srgbClr val="132C44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3225" b="1">
                <a:solidFill>
                  <a:srgbClr val="132C44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3225" b="1">
                <a:solidFill>
                  <a:srgbClr val="132C44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3225" b="1">
                <a:solidFill>
                  <a:srgbClr val="132C44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3225" b="1">
                <a:solidFill>
                  <a:srgbClr val="132C44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3225" b="1">
                <a:solidFill>
                  <a:srgbClr val="132C44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3225" b="1">
                <a:solidFill>
                  <a:srgbClr val="132C44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3225" b="1">
                <a:solidFill>
                  <a:srgbClr val="132C44"/>
                </a:solidFill>
                <a:latin typeface="Microsoft JhengHei"/>
                <a:ea typeface="Microsoft JhengHei"/>
                <a:cs typeface="Microsoft JhengHei"/>
              </a:rPr>
              <a:t>三段程式完成真正的修改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2AFE298-0BF7-432F-901A-E737A2DE27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191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0">
                <a:solidFill>
                  <a:srgbClr val="4D6475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1200" b="0">
                <a:solidFill>
                  <a:srgbClr val="4D6475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1200" b="0">
                <a:solidFill>
                  <a:srgbClr val="4D6475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1200" b="0">
                <a:solidFill>
                  <a:srgbClr val="4D6475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1200" b="0">
                <a:solidFill>
                  <a:srgbClr val="4D6475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1200" b="0">
                <a:solidFill>
                  <a:srgbClr val="4D6475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1200" b="0">
                <a:solidFill>
                  <a:srgbClr val="4D6475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1200" b="0">
                <a:solidFill>
                  <a:srgbClr val="4D6475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1200" b="0">
                <a:solidFill>
                  <a:srgbClr val="4D6475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1200" b="0">
                <a:solidFill>
                  <a:srgbClr val="4D6475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4D647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00" b="0">
                <a:solidFill>
                  <a:srgbClr val="4D6475"/>
                </a:solidFill>
                <a:latin typeface="Microsoft JhengHei"/>
                <a:ea typeface="Microsoft JhengHei"/>
                <a:cs typeface="Microsoft JhengHei"/>
              </a:rPr>
              <a:t>EnergyPlus-MCP  ·  MCP 工具流程實作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FA28D2C-9409-4B12-89C4-665883C0A8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19850"/>
            <a:ext cx="6286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0">
                <a:solidFill>
                  <a:srgbClr val="4D6475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1200" b="0">
                <a:solidFill>
                  <a:srgbClr val="4D6475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1200" b="0">
                <a:solidFill>
                  <a:srgbClr val="4D6475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1200" b="0">
                <a:solidFill>
                  <a:srgbClr val="4D6475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1200" b="0">
                <a:solidFill>
                  <a:srgbClr val="4D6475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1200" b="0">
                <a:solidFill>
                  <a:srgbClr val="4D6475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1200" b="0">
                <a:solidFill>
                  <a:srgbClr val="4D6475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1200" b="0">
                <a:solidFill>
                  <a:srgbClr val="4D6475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1200" b="0">
                <a:solidFill>
                  <a:srgbClr val="4D6475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1200" b="0">
                <a:solidFill>
                  <a:srgbClr val="4D6475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4D647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00" b="0">
                <a:solidFill>
                  <a:srgbClr val="4D6475"/>
                </a:solidFill>
                <a:latin typeface="Microsoft JhengHei"/>
                <a:ea typeface="Microsoft JhengHei"/>
                <a:cs typeface="Microsoft JhengHei"/>
              </a:rPr>
              <a:t>13</a:t>
            </a:r>
          </a:p>
        </p:txBody>
      </p:sp>
      <p:graphicFrame>
        <p:nvGraphicFrame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8847C5C-6EC9-420E-B060-F3F198F1A1EA}"/>
              </a:ext>
            </a:extLst>
          </p:cNvPr>
          <p:cNvGraphicFramePr/>
          <p:nvPr/>
        </p:nvGraphicFramePr>
        <p:xfrm>
          <a:off xmlns:a="http://schemas.openxmlformats.org/drawingml/2006/main" x="609600" y="2047875"/>
          <a:ext xmlns:a="http://schemas.openxmlformats.org/drawingml/2006/main" cx="10972800" cy="28575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3143250"/>
                <a:gridCol w="4857750"/>
                <a:gridCol w="2971800"/>
              </a:tblGrid>
              <a:tr h="714375"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位置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D9E4E8"/>
                      </a:solidFill>
                      <a:prstDash val="solid"/>
                    </a:lnL>
                    <a:lnR w="9525">
                      <a:solidFill>
                        <a:srgbClr val="D9E4E8"/>
                      </a:solidFill>
                      <a:prstDash val="solid"/>
                    </a:lnR>
                    <a:lnT w="9525">
                      <a:solidFill>
                        <a:srgbClr val="D9E4E8"/>
                      </a:solidFill>
                      <a:prstDash val="solid"/>
                    </a:lnT>
                    <a:lnB w="9525">
                      <a:solidFill>
                        <a:srgbClr val="D9E4E8"/>
                      </a:solidFill>
                      <a:prstDash val="solid"/>
                    </a:lnB>
                    <a:solidFill>
                      <a:srgbClr val="132C4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操作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9E4E8"/>
                      </a:solidFill>
                      <a:prstDash val="solid"/>
                    </a:lnR>
                    <a:lnT w="9525">
                      <a:solidFill>
                        <a:srgbClr val="D9E4E8"/>
                      </a:solidFill>
                      <a:prstDash val="solid"/>
                    </a:lnT>
                    <a:lnB w="9525">
                      <a:solidFill>
                        <a:srgbClr val="D9E4E8"/>
                      </a:solidFill>
                      <a:prstDash val="solid"/>
                    </a:lnB>
                    <a:solidFill>
                      <a:srgbClr val="132C4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結果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9E4E8"/>
                      </a:solidFill>
                      <a:prstDash val="solid"/>
                    </a:lnR>
                    <a:lnT w="9525">
                      <a:solidFill>
                        <a:srgbClr val="D9E4E8"/>
                      </a:solidFill>
                      <a:prstDash val="solid"/>
                    </a:lnT>
                    <a:lnB w="9525">
                      <a:solidFill>
                        <a:srgbClr val="D9E4E8"/>
                      </a:solidFill>
                      <a:prstDash val="solid"/>
                    </a:lnB>
                    <a:solidFill>
                      <a:srgbClr val="132C44"/>
                    </a:solidFill>
                  </a:tcPr>
                </a:tc>
              </a:tr>
              <a:tr h="714375"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32C44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EnergyPlusManager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D9E4E8"/>
                      </a:solidFill>
                      <a:prstDash val="solid"/>
                    </a:lnL>
                    <a:lnR w="9525">
                      <a:solidFill>
                        <a:srgbClr val="D9E4E8"/>
                      </a:solidFill>
                      <a:prstDash val="solid"/>
                    </a:lnR>
                    <a:lnB w="9525">
                      <a:solidFill>
                        <a:srgbClr val="D9E4E8"/>
                      </a:solidFill>
                      <a:prstDash val="solid"/>
                    </a:lnB>
                    <a:solidFill>
                      <a:srgbClr val="EEF5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32C44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路徑解析、格式檢查、安排輸出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9E4E8"/>
                      </a:solidFill>
                      <a:prstDash val="solid"/>
                    </a:lnR>
                    <a:lnB w="9525">
                      <a:solidFill>
                        <a:srgbClr val="D9E4E8"/>
                      </a:solidFill>
                      <a:prstDash val="solid"/>
                    </a:lnB>
                    <a:solidFill>
                      <a:srgbClr val="EEF5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32C44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可執行的修改要求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9E4E8"/>
                      </a:solidFill>
                      <a:prstDash val="solid"/>
                    </a:lnR>
                    <a:lnB w="9525">
                      <a:solidFill>
                        <a:srgbClr val="D9E4E8"/>
                      </a:solidFill>
                      <a:prstDash val="solid"/>
                    </a:lnB>
                    <a:solidFill>
                      <a:srgbClr val="EEF5F6"/>
                    </a:solidFill>
                  </a:tcPr>
                </a:tc>
              </a:tr>
              <a:tr h="714375"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32C44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LightsManager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D9E4E8"/>
                      </a:solidFill>
                      <a:prstDash val="solid"/>
                    </a:lnL>
                    <a:lnR w="9525">
                      <a:solidFill>
                        <a:srgbClr val="D9E4E8"/>
                      </a:solidFill>
                      <a:prstDash val="solid"/>
                    </a:lnR>
                    <a:lnB w="9525">
                      <a:solidFill>
                        <a:srgbClr val="D9E4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32C44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選物件，setattr 寫入新值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9E4E8"/>
                      </a:solidFill>
                      <a:prstDash val="solid"/>
                    </a:lnR>
                    <a:lnB w="9525">
                      <a:solidFill>
                        <a:srgbClr val="D9E4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32C44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記憶體中的模型改變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9E4E8"/>
                      </a:solidFill>
                      <a:prstDash val="solid"/>
                    </a:lnR>
                    <a:lnB w="9525">
                      <a:solidFill>
                        <a:srgbClr val="D9E4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714375"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32C44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eppy：idf.save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D9E4E8"/>
                      </a:solidFill>
                      <a:prstDash val="solid"/>
                    </a:lnL>
                    <a:lnR w="9525">
                      <a:solidFill>
                        <a:srgbClr val="D9E4E8"/>
                      </a:solidFill>
                      <a:prstDash val="solid"/>
                    </a:lnR>
                    <a:lnB w="9525">
                      <a:solidFill>
                        <a:srgbClr val="D9E4E8"/>
                      </a:solidFill>
                      <a:prstDash val="solid"/>
                    </a:lnB>
                    <a:solidFill>
                      <a:srgbClr val="EEF5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32C44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儲存到 output_path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9E4E8"/>
                      </a:solidFill>
                      <a:prstDash val="solid"/>
                    </a:lnR>
                    <a:lnB w="9525">
                      <a:solidFill>
                        <a:srgbClr val="D9E4E8"/>
                      </a:solidFill>
                      <a:prstDash val="solid"/>
                    </a:lnB>
                    <a:solidFill>
                      <a:srgbClr val="EEF5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32C44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磁碟上的新 IDF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9E4E8"/>
                      </a:solidFill>
                      <a:prstDash val="solid"/>
                    </a:lnR>
                    <a:lnB w="9525">
                      <a:solidFill>
                        <a:srgbClr val="D9E4E8"/>
                      </a:solidFill>
                      <a:prstDash val="solid"/>
                    </a:lnB>
                    <a:solidFill>
                      <a:srgbClr val="EEF5F6"/>
                    </a:solidFill>
                  </a:tcPr>
                </a:tc>
              </a:tr>
            </a:tbl>
          </a:graphicData>
        </a:graphic>
      </p:graphicFrame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780CB84-4A46-409A-9F8C-7B14706615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81650"/>
            <a:ext cx="109728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025" b="1">
                <a:solidFill>
                  <a:srgbClr val="007C83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2025" b="1">
                <a:solidFill>
                  <a:srgbClr val="007C83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2025" b="1">
                <a:solidFill>
                  <a:srgbClr val="007C83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2025" b="1">
                <a:solidFill>
                  <a:srgbClr val="007C83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2025" b="1">
                <a:solidFill>
                  <a:srgbClr val="007C83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2025" b="1">
                <a:solidFill>
                  <a:srgbClr val="007C83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2025" b="1">
                <a:solidFill>
                  <a:srgbClr val="007C83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2025" b="1">
                <a:solidFill>
                  <a:srgbClr val="007C83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2025" b="1">
                <a:solidFill>
                  <a:srgbClr val="007C83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2025" b="1">
                <a:solidFill>
                  <a:srgbClr val="007C83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2025" b="1">
                <a:solidFill>
                  <a:srgbClr val="007C83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025" b="1">
                <a:solidFill>
                  <a:srgbClr val="007C83"/>
                </a:solidFill>
                <a:latin typeface="Microsoft JhengHei"/>
                <a:ea typeface="Microsoft JhengHei"/>
                <a:cs typeface="Microsoft JhengHei"/>
              </a:rPr>
              <a:t>本次改檔不需執行模擬引擎；能耗計算是另一個工具任務。</a:t>
            </a:r>
          </a:p>
        </p:txBody>
      </p:sp>
    </p:spTree>
    <p:extLst>
      <p:ext uri="{BB962C8B-B14F-4D97-AF65-F5344CB8AC3E}">
        <p14:creationId xmlns:p14="http://schemas.microsoft.com/office/powerpoint/2010/main" val="1162085238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E6083CE-8175-4178-BCB5-9A632052D4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5750"/>
            <a:ext cx="10763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425" b="1">
                <a:solidFill>
                  <a:srgbClr val="007C83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1425" b="1">
                <a:solidFill>
                  <a:srgbClr val="007C83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1425" b="1">
                <a:solidFill>
                  <a:srgbClr val="007C83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1425" b="1">
                <a:solidFill>
                  <a:srgbClr val="007C83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1425" b="1">
                <a:solidFill>
                  <a:srgbClr val="007C83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1425" b="1">
                <a:solidFill>
                  <a:srgbClr val="007C83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1425" b="1">
                <a:solidFill>
                  <a:srgbClr val="007C83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1425" b="1">
                <a:solidFill>
                  <a:srgbClr val="007C83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1425" b="1">
                <a:solidFill>
                  <a:srgbClr val="007C83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1425" b="1">
                <a:solidFill>
                  <a:srgbClr val="007C83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1425" b="1">
                <a:solidFill>
                  <a:srgbClr val="007C83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425" b="1">
                <a:solidFill>
                  <a:srgbClr val="007C83"/>
                </a:solidFill>
                <a:latin typeface="Microsoft JhengHei"/>
                <a:ea typeface="Microsoft JhengHei"/>
                <a:cs typeface="Microsoft JhengHei"/>
              </a:rPr>
              <a:t>SERVER 核心程式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3A4B5E5-7D00-4658-AE4B-3A68A22797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09625"/>
            <a:ext cx="109728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225" b="1">
                <a:solidFill>
                  <a:srgbClr val="132C44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3225" b="1">
                <a:solidFill>
                  <a:srgbClr val="132C44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3225" b="1">
                <a:solidFill>
                  <a:srgbClr val="132C44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3225" b="1">
                <a:solidFill>
                  <a:srgbClr val="132C44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3225" b="1">
                <a:solidFill>
                  <a:srgbClr val="132C44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3225" b="1">
                <a:solidFill>
                  <a:srgbClr val="132C44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3225" b="1">
                <a:solidFill>
                  <a:srgbClr val="132C44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3225" b="1">
                <a:solidFill>
                  <a:srgbClr val="132C44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3225" b="1">
                <a:solidFill>
                  <a:srgbClr val="132C44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3225" b="1">
                <a:solidFill>
                  <a:srgbClr val="132C44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3225" b="1">
                <a:solidFill>
                  <a:srgbClr val="132C44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3225" b="1">
                <a:solidFill>
                  <a:srgbClr val="132C44"/>
                </a:solidFill>
                <a:latin typeface="Microsoft JhengHei"/>
                <a:ea typeface="Microsoft JhengHei"/>
                <a:cs typeface="Microsoft JhengHei"/>
              </a:rPr>
              <a:t>照明修改的兩個關鍵動作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F7B65B4-8CA6-4FA0-AAF2-E506E20788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191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0">
                <a:solidFill>
                  <a:srgbClr val="4D6475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1200" b="0">
                <a:solidFill>
                  <a:srgbClr val="4D6475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1200" b="0">
                <a:solidFill>
                  <a:srgbClr val="4D6475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1200" b="0">
                <a:solidFill>
                  <a:srgbClr val="4D6475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1200" b="0">
                <a:solidFill>
                  <a:srgbClr val="4D6475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1200" b="0">
                <a:solidFill>
                  <a:srgbClr val="4D6475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1200" b="0">
                <a:solidFill>
                  <a:srgbClr val="4D6475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1200" b="0">
                <a:solidFill>
                  <a:srgbClr val="4D6475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1200" b="0">
                <a:solidFill>
                  <a:srgbClr val="4D6475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1200" b="0">
                <a:solidFill>
                  <a:srgbClr val="4D6475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4D647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00" b="0">
                <a:solidFill>
                  <a:srgbClr val="4D6475"/>
                </a:solidFill>
                <a:latin typeface="Microsoft JhengHei"/>
                <a:ea typeface="Microsoft JhengHei"/>
                <a:cs typeface="Microsoft JhengHei"/>
              </a:rPr>
              <a:t>來源：lights_utils.py，不同位置節錄；完整流程見附錄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6F6A78F-E945-42A9-95D2-6E8AA5EF33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19850"/>
            <a:ext cx="6286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0">
                <a:solidFill>
                  <a:srgbClr val="4D6475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1200" b="0">
                <a:solidFill>
                  <a:srgbClr val="4D6475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1200" b="0">
                <a:solidFill>
                  <a:srgbClr val="4D6475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1200" b="0">
                <a:solidFill>
                  <a:srgbClr val="4D6475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1200" b="0">
                <a:solidFill>
                  <a:srgbClr val="4D6475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1200" b="0">
                <a:solidFill>
                  <a:srgbClr val="4D6475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1200" b="0">
                <a:solidFill>
                  <a:srgbClr val="4D6475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1200" b="0">
                <a:solidFill>
                  <a:srgbClr val="4D6475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1200" b="0">
                <a:solidFill>
                  <a:srgbClr val="4D6475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1200" b="0">
                <a:solidFill>
                  <a:srgbClr val="4D6475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4D647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00" b="0">
                <a:solidFill>
                  <a:srgbClr val="4D6475"/>
                </a:solidFill>
                <a:latin typeface="Microsoft JhengHei"/>
                <a:ea typeface="Microsoft JhengHei"/>
                <a:cs typeface="Microsoft JhengHei"/>
              </a:rPr>
              <a:t>14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79DE4E1-889F-4397-8FC3-100B4647AC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95500"/>
            <a:ext cx="10972800" cy="2619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5F6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75" b="0">
                <a:solidFill>
                  <a:srgbClr val="132C44"/>
                </a:solidFill>
                <a:latin typeface="Consolas"/>
                <a:ea typeface="Consolas"/>
                <a:cs typeface="Consolas"/>
              </a:defRPr>
            </a:defPPr>
            <a:lvl1pPr>
              <a:defRPr sz="2175" b="0">
                <a:solidFill>
                  <a:srgbClr val="132C44"/>
                </a:solidFill>
                <a:latin typeface="Consolas"/>
                <a:ea typeface="Consolas"/>
                <a:cs typeface="Consolas"/>
              </a:defRPr>
            </a:lvl1pPr>
            <a:lvl2pPr>
              <a:defRPr sz="2175" b="0">
                <a:solidFill>
                  <a:srgbClr val="132C44"/>
                </a:solidFill>
                <a:latin typeface="Consolas"/>
                <a:ea typeface="Consolas"/>
                <a:cs typeface="Consolas"/>
              </a:defRPr>
            </a:lvl2pPr>
            <a:lvl3pPr>
              <a:defRPr sz="2175" b="0">
                <a:solidFill>
                  <a:srgbClr val="132C44"/>
                </a:solidFill>
                <a:latin typeface="Consolas"/>
                <a:ea typeface="Consolas"/>
                <a:cs typeface="Consolas"/>
              </a:defRPr>
            </a:lvl3pPr>
            <a:lvl4pPr>
              <a:defRPr sz="2175" b="0">
                <a:solidFill>
                  <a:srgbClr val="132C44"/>
                </a:solidFill>
                <a:latin typeface="Consolas"/>
                <a:ea typeface="Consolas"/>
                <a:cs typeface="Consolas"/>
              </a:defRPr>
            </a:lvl4pPr>
            <a:lvl5pPr>
              <a:defRPr sz="2175" b="0">
                <a:solidFill>
                  <a:srgbClr val="132C44"/>
                </a:solidFill>
                <a:latin typeface="Consolas"/>
                <a:ea typeface="Consolas"/>
                <a:cs typeface="Consolas"/>
              </a:defRPr>
            </a:lvl5pPr>
            <a:lvl6pPr>
              <a:defRPr sz="2175" b="0">
                <a:solidFill>
                  <a:srgbClr val="132C44"/>
                </a:solidFill>
                <a:latin typeface="Consolas"/>
                <a:ea typeface="Consolas"/>
                <a:cs typeface="Consolas"/>
              </a:defRPr>
            </a:lvl6pPr>
            <a:lvl7pPr>
              <a:defRPr sz="2175" b="0">
                <a:solidFill>
                  <a:srgbClr val="132C44"/>
                </a:solidFill>
                <a:latin typeface="Consolas"/>
                <a:ea typeface="Consolas"/>
                <a:cs typeface="Consolas"/>
              </a:defRPr>
            </a:lvl7pPr>
            <a:lvl8pPr>
              <a:defRPr sz="2175" b="0">
                <a:solidFill>
                  <a:srgbClr val="132C44"/>
                </a:solidFill>
                <a:latin typeface="Consolas"/>
                <a:ea typeface="Consolas"/>
                <a:cs typeface="Consolas"/>
              </a:defRPr>
            </a:lvl8pPr>
            <a:lvl9pPr>
              <a:defRPr sz="2175" b="0">
                <a:solidFill>
                  <a:srgbClr val="132C44"/>
                </a:solidFill>
                <a:latin typeface="Consolas"/>
                <a:ea typeface="Consolas"/>
                <a:cs typeface="Consolas"/>
              </a:defRPr>
            </a:lvl9pPr>
          </a:lstStyle>
          <a:p xmlns:a="http://schemas.openxmlformats.org/drawingml/2006/main">
            <a:pPr>
              <a:defRPr sz="2175" b="0">
                <a:solidFill>
                  <a:srgbClr val="132C44"/>
                </a:solidFill>
                <a:latin typeface="Consolas"/>
                <a:ea typeface="Consolas"/>
                <a:cs typeface="Consolas"/>
              </a:defRPr>
            </a:pPr>
            <a:r>
              <a:rPr sz="2175" b="0">
                <a:solidFill>
                  <a:srgbClr val="132C44"/>
                </a:solidFill>
                <a:latin typeface="Consolas"/>
                <a:ea typeface="Consolas"/>
                <a:cs typeface="Consolas"/>
              </a:rPr>
              <a:t># 已選中目標物件並驗證欄位後</a:t>
            </a:r>
          </a:p>
          <a:p xmlns:a="http://schemas.openxmlformats.org/drawingml/2006/main">
            <a:pPr>
              <a:defRPr sz="2175" b="0">
                <a:solidFill>
                  <a:srgbClr val="132C44"/>
                </a:solidFill>
                <a:latin typeface="Consolas"/>
                <a:ea typeface="Consolas"/>
                <a:cs typeface="Consolas"/>
              </a:defRPr>
            </a:pPr>
            <a:r>
              <a:rPr sz="2175" b="0">
                <a:solidFill>
                  <a:srgbClr val="132C44"/>
                </a:solidFill>
                <a:latin typeface="Consolas"/>
                <a:ea typeface="Consolas"/>
                <a:cs typeface="Consolas"/>
              </a:rPr>
              <a:t>old_value = getattr(lights_obj, field_name, "")</a:t>
            </a:r>
          </a:p>
          <a:p xmlns:a="http://schemas.openxmlformats.org/drawingml/2006/main">
            <a:pPr>
              <a:defRPr sz="2175" b="0">
                <a:solidFill>
                  <a:srgbClr val="132C44"/>
                </a:solidFill>
                <a:latin typeface="Consolas"/>
                <a:ea typeface="Consolas"/>
                <a:cs typeface="Consolas"/>
              </a:defRPr>
            </a:pPr>
            <a:r>
              <a:rPr sz="2175" b="0">
                <a:solidFill>
                  <a:srgbClr val="132C44"/>
                </a:solidFill>
                <a:latin typeface="Consolas"/>
                <a:ea typeface="Consolas"/>
                <a:cs typeface="Consolas"/>
              </a:rPr>
              <a:t>setattr(lights_obj, field_name, new_value)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175" b="0">
                <a:solidFill>
                  <a:srgbClr val="132C44"/>
                </a:solidFill>
                <a:latin typeface="Consolas"/>
                <a:ea typeface="Consolas"/>
                <a:cs typeface="Consolas"/>
              </a:defRPr>
            </a:pPr>
            <a:r>
              <a:rPr sz="2175" b="0">
                <a:solidFill>
                  <a:srgbClr val="132C44"/>
                </a:solidFill>
                <a:latin typeface="Consolas"/>
                <a:ea typeface="Consolas"/>
                <a:cs typeface="Consolas"/>
              </a:rPr>
              <a:t># 外層完成所有修改後</a:t>
            </a:r>
          </a:p>
          <a:p xmlns:a="http://schemas.openxmlformats.org/drawingml/2006/main">
            <a:pPr>
              <a:defRPr sz="2175" b="0">
                <a:solidFill>
                  <a:srgbClr val="132C44"/>
                </a:solidFill>
                <a:latin typeface="Consolas"/>
                <a:ea typeface="Consolas"/>
                <a:cs typeface="Consolas"/>
              </a:defRPr>
            </a:pPr>
            <a:r>
              <a:rPr sz="2175" b="0">
                <a:solidFill>
                  <a:srgbClr val="132C44"/>
                </a:solidFill>
                <a:latin typeface="Consolas"/>
                <a:ea typeface="Consolas"/>
                <a:cs typeface="Consolas"/>
              </a:rPr>
              <a:t>idf.save(output_path)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2AF8092-8740-4C4C-AC4E-69B11A5AA1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81650"/>
            <a:ext cx="109728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025" b="1">
                <a:solidFill>
                  <a:srgbClr val="007C83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2025" b="1">
                <a:solidFill>
                  <a:srgbClr val="007C83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2025" b="1">
                <a:solidFill>
                  <a:srgbClr val="007C83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2025" b="1">
                <a:solidFill>
                  <a:srgbClr val="007C83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2025" b="1">
                <a:solidFill>
                  <a:srgbClr val="007C83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2025" b="1">
                <a:solidFill>
                  <a:srgbClr val="007C83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2025" b="1">
                <a:solidFill>
                  <a:srgbClr val="007C83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2025" b="1">
                <a:solidFill>
                  <a:srgbClr val="007C83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2025" b="1">
                <a:solidFill>
                  <a:srgbClr val="007C83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2025" b="1">
                <a:solidFill>
                  <a:srgbClr val="007C83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2025" b="1">
                <a:solidFill>
                  <a:srgbClr val="007C83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025" b="1">
                <a:solidFill>
                  <a:srgbClr val="007C83"/>
                </a:solidFill>
                <a:latin typeface="Microsoft JhengHei"/>
                <a:ea typeface="Microsoft JhengHei"/>
                <a:cs typeface="Microsoft JhengHei"/>
              </a:rPr>
              <a:t>MCP 傳參數；Python／eppy 執行改檔。</a:t>
            </a:r>
          </a:p>
        </p:txBody>
      </p:sp>
    </p:spTree>
    <p:extLst>
      <p:ext uri="{BB962C8B-B14F-4D97-AF65-F5344CB8AC3E}">
        <p14:creationId xmlns:p14="http://schemas.microsoft.com/office/powerpoint/2010/main" val="715118477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78606E1-4E7D-4545-AEEC-F1C9B8EBCD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5750"/>
            <a:ext cx="10763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425" b="1">
                <a:solidFill>
                  <a:srgbClr val="007C83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1425" b="1">
                <a:solidFill>
                  <a:srgbClr val="007C83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1425" b="1">
                <a:solidFill>
                  <a:srgbClr val="007C83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1425" b="1">
                <a:solidFill>
                  <a:srgbClr val="007C83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1425" b="1">
                <a:solidFill>
                  <a:srgbClr val="007C83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1425" b="1">
                <a:solidFill>
                  <a:srgbClr val="007C83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1425" b="1">
                <a:solidFill>
                  <a:srgbClr val="007C83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1425" b="1">
                <a:solidFill>
                  <a:srgbClr val="007C83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1425" b="1">
                <a:solidFill>
                  <a:srgbClr val="007C83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1425" b="1">
                <a:solidFill>
                  <a:srgbClr val="007C83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1425" b="1">
                <a:solidFill>
                  <a:srgbClr val="007C83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425" b="1">
                <a:solidFill>
                  <a:srgbClr val="007C83"/>
                </a:solidFill>
                <a:latin typeface="Microsoft JhengHei"/>
                <a:ea typeface="Microsoft JhengHei"/>
                <a:cs typeface="Microsoft JhengHei"/>
              </a:rPr>
              <a:t>10  /  三層驗證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6DC8990-CED5-4CC2-A796-53C11994E0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09625"/>
            <a:ext cx="109728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225" b="1">
                <a:solidFill>
                  <a:srgbClr val="132C44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3225" b="1">
                <a:solidFill>
                  <a:srgbClr val="132C44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3225" b="1">
                <a:solidFill>
                  <a:srgbClr val="132C44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3225" b="1">
                <a:solidFill>
                  <a:srgbClr val="132C44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3225" b="1">
                <a:solidFill>
                  <a:srgbClr val="132C44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3225" b="1">
                <a:solidFill>
                  <a:srgbClr val="132C44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3225" b="1">
                <a:solidFill>
                  <a:srgbClr val="132C44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3225" b="1">
                <a:solidFill>
                  <a:srgbClr val="132C44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3225" b="1">
                <a:solidFill>
                  <a:srgbClr val="132C44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3225" b="1">
                <a:solidFill>
                  <a:srgbClr val="132C44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3225" b="1">
                <a:solidFill>
                  <a:srgbClr val="132C44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3225" b="1">
                <a:solidFill>
                  <a:srgbClr val="132C44"/>
                </a:solidFill>
                <a:latin typeface="Microsoft JhengHei"/>
                <a:ea typeface="Microsoft JhengHei"/>
                <a:cs typeface="Microsoft JhengHei"/>
              </a:rPr>
              <a:t>回覆正常，不足以證明改對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3D39F76-F627-4A7A-84CE-FFF909B97A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191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0">
                <a:solidFill>
                  <a:srgbClr val="4D6475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1200" b="0">
                <a:solidFill>
                  <a:srgbClr val="4D6475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1200" b="0">
                <a:solidFill>
                  <a:srgbClr val="4D6475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1200" b="0">
                <a:solidFill>
                  <a:srgbClr val="4D6475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1200" b="0">
                <a:solidFill>
                  <a:srgbClr val="4D6475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1200" b="0">
                <a:solidFill>
                  <a:srgbClr val="4D6475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1200" b="0">
                <a:solidFill>
                  <a:srgbClr val="4D6475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1200" b="0">
                <a:solidFill>
                  <a:srgbClr val="4D6475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1200" b="0">
                <a:solidFill>
                  <a:srgbClr val="4D6475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1200" b="0">
                <a:solidFill>
                  <a:srgbClr val="4D6475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4D647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00" b="0">
                <a:solidFill>
                  <a:srgbClr val="4D6475"/>
                </a:solidFill>
                <a:latin typeface="Microsoft JhengHei"/>
                <a:ea typeface="Microsoft JhengHei"/>
                <a:cs typeface="Microsoft JhengHei"/>
              </a:rPr>
              <a:t>EnergyPlus-MCP  ·  MCP 工具流程實作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BE75084-094C-4AFD-9B84-404F13A11E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19850"/>
            <a:ext cx="6286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0">
                <a:solidFill>
                  <a:srgbClr val="4D6475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1200" b="0">
                <a:solidFill>
                  <a:srgbClr val="4D6475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1200" b="0">
                <a:solidFill>
                  <a:srgbClr val="4D6475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1200" b="0">
                <a:solidFill>
                  <a:srgbClr val="4D6475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1200" b="0">
                <a:solidFill>
                  <a:srgbClr val="4D6475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1200" b="0">
                <a:solidFill>
                  <a:srgbClr val="4D6475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1200" b="0">
                <a:solidFill>
                  <a:srgbClr val="4D6475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1200" b="0">
                <a:solidFill>
                  <a:srgbClr val="4D6475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1200" b="0">
                <a:solidFill>
                  <a:srgbClr val="4D6475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1200" b="0">
                <a:solidFill>
                  <a:srgbClr val="4D6475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4D647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00" b="0">
                <a:solidFill>
                  <a:srgbClr val="4D6475"/>
                </a:solidFill>
                <a:latin typeface="Microsoft JhengHei"/>
                <a:ea typeface="Microsoft JhengHei"/>
                <a:cs typeface="Microsoft JhengHei"/>
              </a:rPr>
              <a:t>15</a:t>
            </a:r>
          </a:p>
        </p:txBody>
      </p:sp>
      <p:graphicFrame>
        <p:nvGraphicFrame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D2DEB49-C761-4239-9910-A2BAF07FE0DA}"/>
              </a:ext>
            </a:extLst>
          </p:cNvPr>
          <p:cNvGraphicFramePr/>
          <p:nvPr/>
        </p:nvGraphicFramePr>
        <p:xfrm>
          <a:off xmlns:a="http://schemas.openxmlformats.org/drawingml/2006/main" x="609600" y="2000250"/>
          <a:ext xmlns:a="http://schemas.openxmlformats.org/drawingml/2006/main" cx="10972800" cy="28575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3143250"/>
                <a:gridCol w="7829550"/>
              </a:tblGrid>
              <a:tr h="714375">
                <a:tc>
                  <a:txBody>
                    <a:bodyPr/>
                    <a:lstStyle/>
                    <a:p>
                      <a:r>
                        <a:rPr sz="1950" b="1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層級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D9E4E8"/>
                      </a:solidFill>
                      <a:prstDash val="solid"/>
                    </a:lnL>
                    <a:lnR w="9525">
                      <a:solidFill>
                        <a:srgbClr val="D9E4E8"/>
                      </a:solidFill>
                      <a:prstDash val="solid"/>
                    </a:lnR>
                    <a:lnT w="9525">
                      <a:solidFill>
                        <a:srgbClr val="D9E4E8"/>
                      </a:solidFill>
                      <a:prstDash val="solid"/>
                    </a:lnT>
                    <a:lnB w="9525">
                      <a:solidFill>
                        <a:srgbClr val="D9E4E8"/>
                      </a:solidFill>
                      <a:prstDash val="solid"/>
                    </a:lnB>
                    <a:solidFill>
                      <a:srgbClr val="132C4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1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檢查內容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9E4E8"/>
                      </a:solidFill>
                      <a:prstDash val="solid"/>
                    </a:lnR>
                    <a:lnT w="9525">
                      <a:solidFill>
                        <a:srgbClr val="D9E4E8"/>
                      </a:solidFill>
                      <a:prstDash val="solid"/>
                    </a:lnT>
                    <a:lnB w="9525">
                      <a:solidFill>
                        <a:srgbClr val="D9E4E8"/>
                      </a:solidFill>
                      <a:prstDash val="solid"/>
                    </a:lnB>
                    <a:solidFill>
                      <a:srgbClr val="132C44"/>
                    </a:solidFill>
                  </a:tcPr>
                </a:tc>
              </a:tr>
              <a:tr h="714375"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132C44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通訊／呼叫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D9E4E8"/>
                      </a:solidFill>
                      <a:prstDash val="solid"/>
                    </a:lnL>
                    <a:lnR w="9525">
                      <a:solidFill>
                        <a:srgbClr val="D9E4E8"/>
                      </a:solidFill>
                      <a:prstDash val="solid"/>
                    </a:lnR>
                    <a:lnB w="9525">
                      <a:solidFill>
                        <a:srgbClr val="D9E4E8"/>
                      </a:solidFill>
                      <a:prstDash val="solid"/>
                    </a:lnB>
                    <a:solidFill>
                      <a:srgbClr val="EEF5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132C44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正常回覆，isError 未為 true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9E4E8"/>
                      </a:solidFill>
                      <a:prstDash val="solid"/>
                    </a:lnR>
                    <a:lnB w="9525">
                      <a:solidFill>
                        <a:srgbClr val="D9E4E8"/>
                      </a:solidFill>
                      <a:prstDash val="solid"/>
                    </a:lnB>
                    <a:solidFill>
                      <a:srgbClr val="EEF5F6"/>
                    </a:solidFill>
                  </a:tcPr>
                </a:tc>
              </a:tr>
              <a:tr h="714375"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132C44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工具結果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D9E4E8"/>
                      </a:solidFill>
                      <a:prstDash val="solid"/>
                    </a:lnL>
                    <a:lnR w="9525">
                      <a:solidFill>
                        <a:srgbClr val="D9E4E8"/>
                      </a:solidFill>
                      <a:prstDash val="solid"/>
                    </a:lnR>
                    <a:lnB w="9525">
                      <a:solidFill>
                        <a:srgbClr val="D9E4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132C44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success、errors、修改數量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9E4E8"/>
                      </a:solidFill>
                      <a:prstDash val="solid"/>
                    </a:lnR>
                    <a:lnB w="9525">
                      <a:solidFill>
                        <a:srgbClr val="D9E4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714375"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132C44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檔案產物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D9E4E8"/>
                      </a:solidFill>
                      <a:prstDash val="solid"/>
                    </a:lnL>
                    <a:lnR w="9525">
                      <a:solidFill>
                        <a:srgbClr val="D9E4E8"/>
                      </a:solidFill>
                      <a:prstDash val="solid"/>
                    </a:lnR>
                    <a:lnB w="9525">
                      <a:solidFill>
                        <a:srgbClr val="D9E4E8"/>
                      </a:solidFill>
                      <a:prstDash val="solid"/>
                    </a:lnB>
                    <a:solidFill>
                      <a:srgbClr val="EEF5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132C44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原檔 hash、新檔逐物件逐欄位比較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9E4E8"/>
                      </a:solidFill>
                      <a:prstDash val="solid"/>
                    </a:lnR>
                    <a:lnB w="9525">
                      <a:solidFill>
                        <a:srgbClr val="D9E4E8"/>
                      </a:solidFill>
                      <a:prstDash val="solid"/>
                    </a:lnB>
                    <a:solidFill>
                      <a:srgbClr val="EEF5F6"/>
                    </a:solidFill>
                  </a:tcPr>
                </a:tc>
              </a:tr>
            </a:tbl>
          </a:graphicData>
        </a:graphic>
      </p:graphicFrame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E76F471-2258-4E4C-A2DC-DBF4C19B25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81650"/>
            <a:ext cx="109728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025" b="1">
                <a:solidFill>
                  <a:srgbClr val="007C83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2025" b="1">
                <a:solidFill>
                  <a:srgbClr val="007C83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2025" b="1">
                <a:solidFill>
                  <a:srgbClr val="007C83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2025" b="1">
                <a:solidFill>
                  <a:srgbClr val="007C83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2025" b="1">
                <a:solidFill>
                  <a:srgbClr val="007C83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2025" b="1">
                <a:solidFill>
                  <a:srgbClr val="007C83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2025" b="1">
                <a:solidFill>
                  <a:srgbClr val="007C83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2025" b="1">
                <a:solidFill>
                  <a:srgbClr val="007C83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2025" b="1">
                <a:solidFill>
                  <a:srgbClr val="007C83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2025" b="1">
                <a:solidFill>
                  <a:srgbClr val="007C83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2025" b="1">
                <a:solidFill>
                  <a:srgbClr val="007C83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025" b="1">
                <a:solidFill>
                  <a:srgbClr val="007C83"/>
                </a:solidFill>
                <a:latin typeface="Microsoft JhengHei"/>
                <a:ea typeface="Microsoft JhengHei"/>
                <a:cs typeface="Microsoft JhengHei"/>
              </a:rPr>
              <a:t>以實際產物確認任務，不只接受工具的成功訊息。</a:t>
            </a:r>
          </a:p>
        </p:txBody>
      </p:sp>
    </p:spTree>
    <p:extLst>
      <p:ext uri="{BB962C8B-B14F-4D97-AF65-F5344CB8AC3E}">
        <p14:creationId xmlns:p14="http://schemas.microsoft.com/office/powerpoint/2010/main" val="1616414238"/>
      </p:ext>
    </p:extLst>
  </p:cSld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4AFB2EE-7625-41B3-9E21-7DBD2EA41F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5750"/>
            <a:ext cx="10763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425" b="1">
                <a:solidFill>
                  <a:srgbClr val="007C83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1425" b="1">
                <a:solidFill>
                  <a:srgbClr val="007C83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1425" b="1">
                <a:solidFill>
                  <a:srgbClr val="007C83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1425" b="1">
                <a:solidFill>
                  <a:srgbClr val="007C83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1425" b="1">
                <a:solidFill>
                  <a:srgbClr val="007C83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1425" b="1">
                <a:solidFill>
                  <a:srgbClr val="007C83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1425" b="1">
                <a:solidFill>
                  <a:srgbClr val="007C83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1425" b="1">
                <a:solidFill>
                  <a:srgbClr val="007C83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1425" b="1">
                <a:solidFill>
                  <a:srgbClr val="007C83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1425" b="1">
                <a:solidFill>
                  <a:srgbClr val="007C83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1425" b="1">
                <a:solidFill>
                  <a:srgbClr val="007C83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425" b="1">
                <a:solidFill>
                  <a:srgbClr val="007C83"/>
                </a:solidFill>
                <a:latin typeface="Microsoft JhengHei"/>
                <a:ea typeface="Microsoft JhengHei"/>
                <a:cs typeface="Microsoft JhengHei"/>
              </a:rPr>
              <a:t>11  /  本機實測結果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7569876-5DD3-497B-9F0A-80C86F4E28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09625"/>
            <a:ext cx="109728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225" b="1">
                <a:solidFill>
                  <a:srgbClr val="132C44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3225" b="1">
                <a:solidFill>
                  <a:srgbClr val="132C44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3225" b="1">
                <a:solidFill>
                  <a:srgbClr val="132C44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3225" b="1">
                <a:solidFill>
                  <a:srgbClr val="132C44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3225" b="1">
                <a:solidFill>
                  <a:srgbClr val="132C44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3225" b="1">
                <a:solidFill>
                  <a:srgbClr val="132C44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3225" b="1">
                <a:solidFill>
                  <a:srgbClr val="132C44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3225" b="1">
                <a:solidFill>
                  <a:srgbClr val="132C44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3225" b="1">
                <a:solidFill>
                  <a:srgbClr val="132C44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3225" b="1">
                <a:solidFill>
                  <a:srgbClr val="132C44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3225" b="1">
                <a:solidFill>
                  <a:srgbClr val="132C44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3225" b="1">
                <a:solidFill>
                  <a:srgbClr val="132C44"/>
                </a:solidFill>
                <a:latin typeface="Microsoft JhengHei"/>
                <a:ea typeface="Microsoft JhengHei"/>
                <a:cs typeface="Microsoft JhengHei"/>
              </a:rPr>
              <a:t>五個物件都變成原值的 70%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9A9BD72-3351-4A21-B9F4-E238061E10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191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0">
                <a:solidFill>
                  <a:srgbClr val="4D6475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1200" b="0">
                <a:solidFill>
                  <a:srgbClr val="4D6475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1200" b="0">
                <a:solidFill>
                  <a:srgbClr val="4D6475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1200" b="0">
                <a:solidFill>
                  <a:srgbClr val="4D6475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1200" b="0">
                <a:solidFill>
                  <a:srgbClr val="4D6475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1200" b="0">
                <a:solidFill>
                  <a:srgbClr val="4D6475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1200" b="0">
                <a:solidFill>
                  <a:srgbClr val="4D6475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1200" b="0">
                <a:solidFill>
                  <a:srgbClr val="4D6475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1200" b="0">
                <a:solidFill>
                  <a:srgbClr val="4D6475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1200" b="0">
                <a:solidFill>
                  <a:srgbClr val="4D6475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4D647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00" b="0">
                <a:solidFill>
                  <a:srgbClr val="4D6475"/>
                </a:solidFill>
                <a:latin typeface="Microsoft JhengHei"/>
                <a:ea typeface="Microsoft JhengHei"/>
                <a:cs typeface="Microsoft JhengHei"/>
              </a:rPr>
              <a:t>來源：本機 IDF 獨立讀回比較；單位 W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8190BFA-566C-491F-BCB9-FE95E348DA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19850"/>
            <a:ext cx="6286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0">
                <a:solidFill>
                  <a:srgbClr val="4D6475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1200" b="0">
                <a:solidFill>
                  <a:srgbClr val="4D6475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1200" b="0">
                <a:solidFill>
                  <a:srgbClr val="4D6475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1200" b="0">
                <a:solidFill>
                  <a:srgbClr val="4D6475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1200" b="0">
                <a:solidFill>
                  <a:srgbClr val="4D6475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1200" b="0">
                <a:solidFill>
                  <a:srgbClr val="4D6475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1200" b="0">
                <a:solidFill>
                  <a:srgbClr val="4D6475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1200" b="0">
                <a:solidFill>
                  <a:srgbClr val="4D6475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1200" b="0">
                <a:solidFill>
                  <a:srgbClr val="4D6475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1200" b="0">
                <a:solidFill>
                  <a:srgbClr val="4D6475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4D647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00" b="0">
                <a:solidFill>
                  <a:srgbClr val="4D6475"/>
                </a:solidFill>
                <a:latin typeface="Microsoft JhengHei"/>
                <a:ea typeface="Microsoft JhengHei"/>
                <a:cs typeface="Microsoft JhengHei"/>
              </a:rPr>
              <a:t>16</a:t>
            </a:r>
          </a:p>
        </p:txBody>
      </p:sp>
      <p:graphicFrame>
        <p:nvGraphicFrame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CF3715B-B4C4-4319-AEEA-39A3BDCDD413}"/>
              </a:ext>
            </a:extLst>
          </p:cNvPr>
          <p:cNvGraphicFramePr/>
          <p:nvPr/>
        </p:nvGraphicFramePr>
        <p:xfrm>
          <a:off xmlns:a="http://schemas.openxmlformats.org/drawingml/2006/main" x="609600" y="1828800"/>
          <a:ext xmlns:a="http://schemas.openxmlformats.org/drawingml/2006/main" cx="10972800" cy="34861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4095750"/>
                <a:gridCol w="2286000"/>
                <a:gridCol w="2571750"/>
                <a:gridCol w="2019300"/>
              </a:tblGrid>
              <a:tr h="498021">
                <a:tc>
                  <a:txBody>
                    <a:bodyPr/>
                    <a:lstStyle/>
                    <a:p>
                      <a:r>
                        <a:rPr sz="1950" b="1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物件所屬區域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D9E4E8"/>
                      </a:solidFill>
                      <a:prstDash val="solid"/>
                    </a:lnL>
                    <a:lnR w="9525">
                      <a:solidFill>
                        <a:srgbClr val="D9E4E8"/>
                      </a:solidFill>
                      <a:prstDash val="solid"/>
                    </a:lnR>
                    <a:lnT w="9525">
                      <a:solidFill>
                        <a:srgbClr val="D9E4E8"/>
                      </a:solidFill>
                      <a:prstDash val="solid"/>
                    </a:lnT>
                    <a:lnB w="9525">
                      <a:solidFill>
                        <a:srgbClr val="D9E4E8"/>
                      </a:solidFill>
                      <a:prstDash val="solid"/>
                    </a:lnB>
                    <a:solidFill>
                      <a:srgbClr val="132C4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1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原始值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9E4E8"/>
                      </a:solidFill>
                      <a:prstDash val="solid"/>
                    </a:lnR>
                    <a:lnT w="9525">
                      <a:solidFill>
                        <a:srgbClr val="D9E4E8"/>
                      </a:solidFill>
                      <a:prstDash val="solid"/>
                    </a:lnT>
                    <a:lnB w="9525">
                      <a:solidFill>
                        <a:srgbClr val="D9E4E8"/>
                      </a:solidFill>
                      <a:prstDash val="solid"/>
                    </a:lnB>
                    <a:solidFill>
                      <a:srgbClr val="132C4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1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修改後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9E4E8"/>
                      </a:solidFill>
                      <a:prstDash val="solid"/>
                    </a:lnR>
                    <a:lnT w="9525">
                      <a:solidFill>
                        <a:srgbClr val="D9E4E8"/>
                      </a:solidFill>
                      <a:prstDash val="solid"/>
                    </a:lnT>
                    <a:lnB w="9525">
                      <a:solidFill>
                        <a:srgbClr val="D9E4E8"/>
                      </a:solidFill>
                      <a:prstDash val="solid"/>
                    </a:lnB>
                    <a:solidFill>
                      <a:srgbClr val="132C4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1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比例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9E4E8"/>
                      </a:solidFill>
                      <a:prstDash val="solid"/>
                    </a:lnR>
                    <a:lnT w="9525">
                      <a:solidFill>
                        <a:srgbClr val="D9E4E8"/>
                      </a:solidFill>
                      <a:prstDash val="solid"/>
                    </a:lnT>
                    <a:lnB w="9525">
                      <a:solidFill>
                        <a:srgbClr val="D9E4E8"/>
                      </a:solidFill>
                      <a:prstDash val="solid"/>
                    </a:lnB>
                    <a:solidFill>
                      <a:srgbClr val="132C44"/>
                    </a:solidFill>
                  </a:tcPr>
                </a:tc>
              </a:tr>
              <a:tr h="498021"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132C44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SPACE1-1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D9E4E8"/>
                      </a:solidFill>
                      <a:prstDash val="solid"/>
                    </a:lnL>
                    <a:lnR w="9525">
                      <a:solidFill>
                        <a:srgbClr val="D9E4E8"/>
                      </a:solidFill>
                      <a:prstDash val="solid"/>
                    </a:lnR>
                    <a:lnB w="9525">
                      <a:solidFill>
                        <a:srgbClr val="D9E4E8"/>
                      </a:solidFill>
                      <a:prstDash val="solid"/>
                    </a:lnB>
                    <a:solidFill>
                      <a:srgbClr val="EEF5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132C44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1584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9E4E8"/>
                      </a:solidFill>
                      <a:prstDash val="solid"/>
                    </a:lnR>
                    <a:lnB w="9525">
                      <a:solidFill>
                        <a:srgbClr val="D9E4E8"/>
                      </a:solidFill>
                      <a:prstDash val="solid"/>
                    </a:lnB>
                    <a:solidFill>
                      <a:srgbClr val="EEF5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132C44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1108.8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9E4E8"/>
                      </a:solidFill>
                      <a:prstDash val="solid"/>
                    </a:lnR>
                    <a:lnB w="9525">
                      <a:solidFill>
                        <a:srgbClr val="D9E4E8"/>
                      </a:solidFill>
                      <a:prstDash val="solid"/>
                    </a:lnB>
                    <a:solidFill>
                      <a:srgbClr val="EEF5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132C44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70%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9E4E8"/>
                      </a:solidFill>
                      <a:prstDash val="solid"/>
                    </a:lnR>
                    <a:lnB w="9525">
                      <a:solidFill>
                        <a:srgbClr val="D9E4E8"/>
                      </a:solidFill>
                      <a:prstDash val="solid"/>
                    </a:lnB>
                    <a:solidFill>
                      <a:srgbClr val="EEF5F6"/>
                    </a:solidFill>
                  </a:tcPr>
                </a:tc>
              </a:tr>
              <a:tr h="498021"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132C44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SPACE2-1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D9E4E8"/>
                      </a:solidFill>
                      <a:prstDash val="solid"/>
                    </a:lnL>
                    <a:lnR w="9525">
                      <a:solidFill>
                        <a:srgbClr val="D9E4E8"/>
                      </a:solidFill>
                      <a:prstDash val="solid"/>
                    </a:lnR>
                    <a:lnB w="9525">
                      <a:solidFill>
                        <a:srgbClr val="D9E4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132C44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684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9E4E8"/>
                      </a:solidFill>
                      <a:prstDash val="solid"/>
                    </a:lnR>
                    <a:lnB w="9525">
                      <a:solidFill>
                        <a:srgbClr val="D9E4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132C44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478.8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9E4E8"/>
                      </a:solidFill>
                      <a:prstDash val="solid"/>
                    </a:lnR>
                    <a:lnB w="9525">
                      <a:solidFill>
                        <a:srgbClr val="D9E4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132C44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70%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9E4E8"/>
                      </a:solidFill>
                      <a:prstDash val="solid"/>
                    </a:lnR>
                    <a:lnB w="9525">
                      <a:solidFill>
                        <a:srgbClr val="D9E4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498021"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132C44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SPACE3-1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D9E4E8"/>
                      </a:solidFill>
                      <a:prstDash val="solid"/>
                    </a:lnL>
                    <a:lnR w="9525">
                      <a:solidFill>
                        <a:srgbClr val="D9E4E8"/>
                      </a:solidFill>
                      <a:prstDash val="solid"/>
                    </a:lnR>
                    <a:lnB w="9525">
                      <a:solidFill>
                        <a:srgbClr val="D9E4E8"/>
                      </a:solidFill>
                      <a:prstDash val="solid"/>
                    </a:lnB>
                    <a:solidFill>
                      <a:srgbClr val="EEF5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132C44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1584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9E4E8"/>
                      </a:solidFill>
                      <a:prstDash val="solid"/>
                    </a:lnR>
                    <a:lnB w="9525">
                      <a:solidFill>
                        <a:srgbClr val="D9E4E8"/>
                      </a:solidFill>
                      <a:prstDash val="solid"/>
                    </a:lnB>
                    <a:solidFill>
                      <a:srgbClr val="EEF5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132C44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1108.8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9E4E8"/>
                      </a:solidFill>
                      <a:prstDash val="solid"/>
                    </a:lnR>
                    <a:lnB w="9525">
                      <a:solidFill>
                        <a:srgbClr val="D9E4E8"/>
                      </a:solidFill>
                      <a:prstDash val="solid"/>
                    </a:lnB>
                    <a:solidFill>
                      <a:srgbClr val="EEF5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132C44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70%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9E4E8"/>
                      </a:solidFill>
                      <a:prstDash val="solid"/>
                    </a:lnR>
                    <a:lnB w="9525">
                      <a:solidFill>
                        <a:srgbClr val="D9E4E8"/>
                      </a:solidFill>
                      <a:prstDash val="solid"/>
                    </a:lnB>
                    <a:solidFill>
                      <a:srgbClr val="EEF5F6"/>
                    </a:solidFill>
                  </a:tcPr>
                </a:tc>
              </a:tr>
              <a:tr h="498021"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132C44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SPACE4-1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D9E4E8"/>
                      </a:solidFill>
                      <a:prstDash val="solid"/>
                    </a:lnL>
                    <a:lnR w="9525">
                      <a:solidFill>
                        <a:srgbClr val="D9E4E8"/>
                      </a:solidFill>
                      <a:prstDash val="solid"/>
                    </a:lnR>
                    <a:lnB w="9525">
                      <a:solidFill>
                        <a:srgbClr val="D9E4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132C44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684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9E4E8"/>
                      </a:solidFill>
                      <a:prstDash val="solid"/>
                    </a:lnR>
                    <a:lnB w="9525">
                      <a:solidFill>
                        <a:srgbClr val="D9E4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132C44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478.8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9E4E8"/>
                      </a:solidFill>
                      <a:prstDash val="solid"/>
                    </a:lnR>
                    <a:lnB w="9525">
                      <a:solidFill>
                        <a:srgbClr val="D9E4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132C44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70%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9E4E8"/>
                      </a:solidFill>
                      <a:prstDash val="solid"/>
                    </a:lnR>
                    <a:lnB w="9525">
                      <a:solidFill>
                        <a:srgbClr val="D9E4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498021"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132C44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SPACE5-1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D9E4E8"/>
                      </a:solidFill>
                      <a:prstDash val="solid"/>
                    </a:lnL>
                    <a:lnR w="9525">
                      <a:solidFill>
                        <a:srgbClr val="D9E4E8"/>
                      </a:solidFill>
                      <a:prstDash val="solid"/>
                    </a:lnR>
                    <a:lnB w="9525">
                      <a:solidFill>
                        <a:srgbClr val="D9E4E8"/>
                      </a:solidFill>
                      <a:prstDash val="solid"/>
                    </a:lnB>
                    <a:solidFill>
                      <a:srgbClr val="EEF5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132C44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2964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9E4E8"/>
                      </a:solidFill>
                      <a:prstDash val="solid"/>
                    </a:lnR>
                    <a:lnB w="9525">
                      <a:solidFill>
                        <a:srgbClr val="D9E4E8"/>
                      </a:solidFill>
                      <a:prstDash val="solid"/>
                    </a:lnB>
                    <a:solidFill>
                      <a:srgbClr val="EEF5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132C44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2074.8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9E4E8"/>
                      </a:solidFill>
                      <a:prstDash val="solid"/>
                    </a:lnR>
                    <a:lnB w="9525">
                      <a:solidFill>
                        <a:srgbClr val="D9E4E8"/>
                      </a:solidFill>
                      <a:prstDash val="solid"/>
                    </a:lnB>
                    <a:solidFill>
                      <a:srgbClr val="EEF5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132C44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70%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9E4E8"/>
                      </a:solidFill>
                      <a:prstDash val="solid"/>
                    </a:lnR>
                    <a:lnB w="9525">
                      <a:solidFill>
                        <a:srgbClr val="D9E4E8"/>
                      </a:solidFill>
                      <a:prstDash val="solid"/>
                    </a:lnB>
                    <a:solidFill>
                      <a:srgbClr val="EEF5F6"/>
                    </a:solidFill>
                  </a:tcPr>
                </a:tc>
              </a:tr>
              <a:tr h="498021"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132C44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合計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D9E4E8"/>
                      </a:solidFill>
                      <a:prstDash val="solid"/>
                    </a:lnL>
                    <a:lnR w="9525">
                      <a:solidFill>
                        <a:srgbClr val="D9E4E8"/>
                      </a:solidFill>
                      <a:prstDash val="solid"/>
                    </a:lnR>
                    <a:lnB w="9525">
                      <a:solidFill>
                        <a:srgbClr val="D9E4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132C44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7500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9E4E8"/>
                      </a:solidFill>
                      <a:prstDash val="solid"/>
                    </a:lnR>
                    <a:lnB w="9525">
                      <a:solidFill>
                        <a:srgbClr val="D9E4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132C44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5250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9E4E8"/>
                      </a:solidFill>
                      <a:prstDash val="solid"/>
                    </a:lnR>
                    <a:lnB w="9525">
                      <a:solidFill>
                        <a:srgbClr val="D9E4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132C44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70%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9E4E8"/>
                      </a:solidFill>
                      <a:prstDash val="solid"/>
                    </a:lnR>
                    <a:lnB w="9525">
                      <a:solidFill>
                        <a:srgbClr val="D9E4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00F3E29-F561-4657-895A-3A707EFD09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81650"/>
            <a:ext cx="109728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025" b="1">
                <a:solidFill>
                  <a:srgbClr val="007C83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2025" b="1">
                <a:solidFill>
                  <a:srgbClr val="007C83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2025" b="1">
                <a:solidFill>
                  <a:srgbClr val="007C83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2025" b="1">
                <a:solidFill>
                  <a:srgbClr val="007C83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2025" b="1">
                <a:solidFill>
                  <a:srgbClr val="007C83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2025" b="1">
                <a:solidFill>
                  <a:srgbClr val="007C83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2025" b="1">
                <a:solidFill>
                  <a:srgbClr val="007C83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2025" b="1">
                <a:solidFill>
                  <a:srgbClr val="007C83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2025" b="1">
                <a:solidFill>
                  <a:srgbClr val="007C83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2025" b="1">
                <a:solidFill>
                  <a:srgbClr val="007C83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2025" b="1">
                <a:solidFill>
                  <a:srgbClr val="007C83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025" b="1">
                <a:solidFill>
                  <a:srgbClr val="007C83"/>
                </a:solidFill>
                <a:latin typeface="Microsoft JhengHei"/>
                <a:ea typeface="Microsoft JhengHei"/>
                <a:cs typeface="Microsoft JhengHei"/>
              </a:rPr>
              <a:t>僅 5 個指定欄位改變，其他欄位與原始檔保持不變。</a:t>
            </a:r>
          </a:p>
        </p:txBody>
      </p:sp>
    </p:spTree>
    <p:extLst>
      <p:ext uri="{BB962C8B-B14F-4D97-AF65-F5344CB8AC3E}">
        <p14:creationId xmlns:p14="http://schemas.microsoft.com/office/powerpoint/2010/main" val="833666008"/>
      </p:ext>
    </p:extLst>
  </p:cSld>
</p:sld>
</file>

<file path=ppt/slides/slide1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9929A7B-6E9C-403E-9269-406DCE5586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5750"/>
            <a:ext cx="10763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425" b="1">
                <a:solidFill>
                  <a:srgbClr val="007C83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1425" b="1">
                <a:solidFill>
                  <a:srgbClr val="007C83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1425" b="1">
                <a:solidFill>
                  <a:srgbClr val="007C83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1425" b="1">
                <a:solidFill>
                  <a:srgbClr val="007C83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1425" b="1">
                <a:solidFill>
                  <a:srgbClr val="007C83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1425" b="1">
                <a:solidFill>
                  <a:srgbClr val="007C83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1425" b="1">
                <a:solidFill>
                  <a:srgbClr val="007C83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1425" b="1">
                <a:solidFill>
                  <a:srgbClr val="007C83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1425" b="1">
                <a:solidFill>
                  <a:srgbClr val="007C83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1425" b="1">
                <a:solidFill>
                  <a:srgbClr val="007C83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1425" b="1">
                <a:solidFill>
                  <a:srgbClr val="007C83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425" b="1">
                <a:solidFill>
                  <a:srgbClr val="007C83"/>
                </a:solidFill>
                <a:latin typeface="Microsoft JhengHei"/>
                <a:ea typeface="Microsoft JhengHei"/>
                <a:cs typeface="Microsoft JhengHei"/>
              </a:rPr>
              <a:t>12  /  NOTEBOOK 示範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C03B89B-9AC9-4835-B95E-92F5EEC93E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09625"/>
            <a:ext cx="109728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225" b="1">
                <a:solidFill>
                  <a:srgbClr val="132C44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3225" b="1">
                <a:solidFill>
                  <a:srgbClr val="132C44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3225" b="1">
                <a:solidFill>
                  <a:srgbClr val="132C44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3225" b="1">
                <a:solidFill>
                  <a:srgbClr val="132C44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3225" b="1">
                <a:solidFill>
                  <a:srgbClr val="132C44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3225" b="1">
                <a:solidFill>
                  <a:srgbClr val="132C44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3225" b="1">
                <a:solidFill>
                  <a:srgbClr val="132C44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3225" b="1">
                <a:solidFill>
                  <a:srgbClr val="132C44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3225" b="1">
                <a:solidFill>
                  <a:srgbClr val="132C44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3225" b="1">
                <a:solidFill>
                  <a:srgbClr val="132C44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3225" b="1">
                <a:solidFill>
                  <a:srgbClr val="132C44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3225" b="1">
                <a:solidFill>
                  <a:srgbClr val="132C44"/>
                </a:solidFill>
                <a:latin typeface="Microsoft JhengHei"/>
                <a:ea typeface="Microsoft JhengHei"/>
                <a:cs typeface="Microsoft JhengHei"/>
              </a:rPr>
              <a:t>展示證據時，依序看三份輸出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764FBA5-F76A-4076-8B07-ED4191579B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191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0">
                <a:solidFill>
                  <a:srgbClr val="4D6475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1200" b="0">
                <a:solidFill>
                  <a:srgbClr val="4D6475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1200" b="0">
                <a:solidFill>
                  <a:srgbClr val="4D6475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1200" b="0">
                <a:solidFill>
                  <a:srgbClr val="4D6475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1200" b="0">
                <a:solidFill>
                  <a:srgbClr val="4D6475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1200" b="0">
                <a:solidFill>
                  <a:srgbClr val="4D6475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1200" b="0">
                <a:solidFill>
                  <a:srgbClr val="4D6475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1200" b="0">
                <a:solidFill>
                  <a:srgbClr val="4D6475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1200" b="0">
                <a:solidFill>
                  <a:srgbClr val="4D6475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1200" b="0">
                <a:solidFill>
                  <a:srgbClr val="4D6475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4D647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00" b="0">
                <a:solidFill>
                  <a:srgbClr val="4D6475"/>
                </a:solidFill>
                <a:latin typeface="Microsoft JhengHei"/>
                <a:ea typeface="Microsoft JhengHei"/>
                <a:cs typeface="Microsoft JhengHei"/>
              </a:rPr>
              <a:t>EnergyPlus-MCP  ·  MCP 工具流程實作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E3280FB-A91C-4901-B3EC-A168638A5E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19850"/>
            <a:ext cx="6286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0">
                <a:solidFill>
                  <a:srgbClr val="4D6475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1200" b="0">
                <a:solidFill>
                  <a:srgbClr val="4D6475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1200" b="0">
                <a:solidFill>
                  <a:srgbClr val="4D6475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1200" b="0">
                <a:solidFill>
                  <a:srgbClr val="4D6475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1200" b="0">
                <a:solidFill>
                  <a:srgbClr val="4D6475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1200" b="0">
                <a:solidFill>
                  <a:srgbClr val="4D6475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1200" b="0">
                <a:solidFill>
                  <a:srgbClr val="4D6475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1200" b="0">
                <a:solidFill>
                  <a:srgbClr val="4D6475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1200" b="0">
                <a:solidFill>
                  <a:srgbClr val="4D6475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1200" b="0">
                <a:solidFill>
                  <a:srgbClr val="4D6475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4D647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00" b="0">
                <a:solidFill>
                  <a:srgbClr val="4D6475"/>
                </a:solidFill>
                <a:latin typeface="Microsoft JhengHei"/>
                <a:ea typeface="Microsoft JhengHei"/>
                <a:cs typeface="Microsoft JhengHei"/>
              </a:rPr>
              <a:t>17</a:t>
            </a:r>
          </a:p>
        </p:txBody>
      </p:sp>
      <p:graphicFrame>
        <p:nvGraphicFrame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DB8C466-F9ED-4FCD-AF27-9E407D145BDD}"/>
              </a:ext>
            </a:extLst>
          </p:cNvPr>
          <p:cNvGraphicFramePr/>
          <p:nvPr/>
        </p:nvGraphicFramePr>
        <p:xfrm>
          <a:off xmlns:a="http://schemas.openxmlformats.org/drawingml/2006/main" x="609600" y="2000250"/>
          <a:ext xmlns:a="http://schemas.openxmlformats.org/drawingml/2006/main" cx="10972800" cy="28575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4476750"/>
                <a:gridCol w="6496050"/>
              </a:tblGrid>
              <a:tr h="714375">
                <a:tc>
                  <a:txBody>
                    <a:bodyPr/>
                    <a:lstStyle/>
                    <a:p>
                      <a:r>
                        <a:rPr sz="1950" b="1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證據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D9E4E8"/>
                      </a:solidFill>
                      <a:prstDash val="solid"/>
                    </a:lnL>
                    <a:lnR w="9525">
                      <a:solidFill>
                        <a:srgbClr val="D9E4E8"/>
                      </a:solidFill>
                      <a:prstDash val="solid"/>
                    </a:lnR>
                    <a:lnT w="9525">
                      <a:solidFill>
                        <a:srgbClr val="D9E4E8"/>
                      </a:solidFill>
                      <a:prstDash val="solid"/>
                    </a:lnT>
                    <a:lnB w="9525">
                      <a:solidFill>
                        <a:srgbClr val="D9E4E8"/>
                      </a:solidFill>
                      <a:prstDash val="solid"/>
                    </a:lnB>
                    <a:solidFill>
                      <a:srgbClr val="132C4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1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要指出什麼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9E4E8"/>
                      </a:solidFill>
                      <a:prstDash val="solid"/>
                    </a:lnR>
                    <a:lnT w="9525">
                      <a:solidFill>
                        <a:srgbClr val="D9E4E8"/>
                      </a:solidFill>
                      <a:prstDash val="solid"/>
                    </a:lnT>
                    <a:lnB w="9525">
                      <a:solidFill>
                        <a:srgbClr val="D9E4E8"/>
                      </a:solidFill>
                      <a:prstDash val="solid"/>
                    </a:lnB>
                    <a:solidFill>
                      <a:srgbClr val="132C44"/>
                    </a:solidFill>
                  </a:tcPr>
                </a:tc>
              </a:tr>
              <a:tr h="714375"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132C44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工具發現與 schema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D9E4E8"/>
                      </a:solidFill>
                      <a:prstDash val="solid"/>
                    </a:lnL>
                    <a:lnR w="9525">
                      <a:solidFill>
                        <a:srgbClr val="D9E4E8"/>
                      </a:solidFill>
                      <a:prstDash val="solid"/>
                    </a:lnR>
                    <a:lnB w="9525">
                      <a:solidFill>
                        <a:srgbClr val="D9E4E8"/>
                      </a:solidFill>
                      <a:prstDash val="solid"/>
                    </a:lnB>
                    <a:solidFill>
                      <a:srgbClr val="EEF5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132C44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modify_lights 的名稱、說明與必填欄位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9E4E8"/>
                      </a:solidFill>
                      <a:prstDash val="solid"/>
                    </a:lnR>
                    <a:lnB w="9525">
                      <a:solidFill>
                        <a:srgbClr val="D9E4E8"/>
                      </a:solidFill>
                      <a:prstDash val="solid"/>
                    </a:lnB>
                    <a:solidFill>
                      <a:srgbClr val="EEF5F6"/>
                    </a:solidFill>
                  </a:tcPr>
                </a:tc>
              </a:tr>
              <a:tr h="714375"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132C44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實際呼叫紀錄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D9E4E8"/>
                      </a:solidFill>
                      <a:prstDash val="solid"/>
                    </a:lnL>
                    <a:lnR w="9525">
                      <a:solidFill>
                        <a:srgbClr val="D9E4E8"/>
                      </a:solidFill>
                      <a:prstDash val="solid"/>
                    </a:lnR>
                    <a:lnB w="9525">
                      <a:solidFill>
                        <a:srgbClr val="D9E4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132C44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傳入五筆修改，檢查工具回覆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9E4E8"/>
                      </a:solidFill>
                      <a:prstDash val="solid"/>
                    </a:lnR>
                    <a:lnB w="9525">
                      <a:solidFill>
                        <a:srgbClr val="D9E4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714375"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132C44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獨立檔案比較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D9E4E8"/>
                      </a:solidFill>
                      <a:prstDash val="solid"/>
                    </a:lnL>
                    <a:lnR w="9525">
                      <a:solidFill>
                        <a:srgbClr val="D9E4E8"/>
                      </a:solidFill>
                      <a:prstDash val="solid"/>
                    </a:lnR>
                    <a:lnB w="9525">
                      <a:solidFill>
                        <a:srgbClr val="D9E4E8"/>
                      </a:solidFill>
                      <a:prstDash val="solid"/>
                    </a:lnB>
                    <a:solidFill>
                      <a:srgbClr val="EEF5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132C44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只改五個欄位，逐筆核對 0.7 倍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9E4E8"/>
                      </a:solidFill>
                      <a:prstDash val="solid"/>
                    </a:lnR>
                    <a:lnB w="9525">
                      <a:solidFill>
                        <a:srgbClr val="D9E4E8"/>
                      </a:solidFill>
                      <a:prstDash val="solid"/>
                    </a:lnB>
                    <a:solidFill>
                      <a:srgbClr val="EEF5F6"/>
                    </a:solidFill>
                  </a:tcPr>
                </a:tc>
              </a:tr>
            </a:tbl>
          </a:graphicData>
        </a:graphic>
      </p:graphicFrame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FA22395-62BF-40D5-B096-463564668F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81650"/>
            <a:ext cx="109728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025" b="1">
                <a:solidFill>
                  <a:srgbClr val="007C83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2025" b="1">
                <a:solidFill>
                  <a:srgbClr val="007C83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2025" b="1">
                <a:solidFill>
                  <a:srgbClr val="007C83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2025" b="1">
                <a:solidFill>
                  <a:srgbClr val="007C83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2025" b="1">
                <a:solidFill>
                  <a:srgbClr val="007C83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2025" b="1">
                <a:solidFill>
                  <a:srgbClr val="007C83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2025" b="1">
                <a:solidFill>
                  <a:srgbClr val="007C83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2025" b="1">
                <a:solidFill>
                  <a:srgbClr val="007C83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2025" b="1">
                <a:solidFill>
                  <a:srgbClr val="007C83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2025" b="1">
                <a:solidFill>
                  <a:srgbClr val="007C83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2025" b="1">
                <a:solidFill>
                  <a:srgbClr val="007C83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025" b="1">
                <a:solidFill>
                  <a:srgbClr val="007C83"/>
                </a:solidFill>
                <a:latin typeface="Microsoft JhengHei"/>
                <a:ea typeface="Microsoft JhengHei"/>
                <a:cs typeface="Microsoft JhengHei"/>
              </a:rPr>
              <a:t>每一個結論都能回到 JSON 紀錄或 IDF 產物檢查。</a:t>
            </a:r>
          </a:p>
        </p:txBody>
      </p:sp>
    </p:spTree>
    <p:extLst>
      <p:ext uri="{BB962C8B-B14F-4D97-AF65-F5344CB8AC3E}">
        <p14:creationId xmlns:p14="http://schemas.microsoft.com/office/powerpoint/2010/main" val="1249801196"/>
      </p:ext>
    </p:extLst>
  </p:cSld>
</p:sld>
</file>

<file path=ppt/slides/slide1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70A45C3-90EA-4C84-AD10-1233371BCF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5750"/>
            <a:ext cx="10763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425" b="1">
                <a:solidFill>
                  <a:srgbClr val="007C83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1425" b="1">
                <a:solidFill>
                  <a:srgbClr val="007C83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1425" b="1">
                <a:solidFill>
                  <a:srgbClr val="007C83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1425" b="1">
                <a:solidFill>
                  <a:srgbClr val="007C83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1425" b="1">
                <a:solidFill>
                  <a:srgbClr val="007C83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1425" b="1">
                <a:solidFill>
                  <a:srgbClr val="007C83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1425" b="1">
                <a:solidFill>
                  <a:srgbClr val="007C83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1425" b="1">
                <a:solidFill>
                  <a:srgbClr val="007C83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1425" b="1">
                <a:solidFill>
                  <a:srgbClr val="007C83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1425" b="1">
                <a:solidFill>
                  <a:srgbClr val="007C83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1425" b="1">
                <a:solidFill>
                  <a:srgbClr val="007C83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425" b="1">
                <a:solidFill>
                  <a:srgbClr val="007C83"/>
                </a:solidFill>
                <a:latin typeface="Microsoft JhengHei"/>
                <a:ea typeface="Microsoft JhengHei"/>
                <a:cs typeface="Microsoft JhengHei"/>
              </a:rPr>
              <a:t>13  /  證據範圍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2284160-6585-46BC-88D4-5CF1865D1E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09625"/>
            <a:ext cx="109728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225" b="1">
                <a:solidFill>
                  <a:srgbClr val="132C44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3225" b="1">
                <a:solidFill>
                  <a:srgbClr val="132C44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3225" b="1">
                <a:solidFill>
                  <a:srgbClr val="132C44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3225" b="1">
                <a:solidFill>
                  <a:srgbClr val="132C44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3225" b="1">
                <a:solidFill>
                  <a:srgbClr val="132C44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3225" b="1">
                <a:solidFill>
                  <a:srgbClr val="132C44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3225" b="1">
                <a:solidFill>
                  <a:srgbClr val="132C44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3225" b="1">
                <a:solidFill>
                  <a:srgbClr val="132C44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3225" b="1">
                <a:solidFill>
                  <a:srgbClr val="132C44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3225" b="1">
                <a:solidFill>
                  <a:srgbClr val="132C44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3225" b="1">
                <a:solidFill>
                  <a:srgbClr val="132C44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3225" b="1">
                <a:solidFill>
                  <a:srgbClr val="132C44"/>
                </a:solidFill>
                <a:latin typeface="Microsoft JhengHei"/>
                <a:ea typeface="Microsoft JhengHei"/>
                <a:cs typeface="Microsoft JhengHei"/>
              </a:rPr>
              <a:t>這次驗證工具鏈，AI 能力仍待評測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0E77B3E-5AB6-45EF-9430-24ABADBFA1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191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0">
                <a:solidFill>
                  <a:srgbClr val="4D6475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1200" b="0">
                <a:solidFill>
                  <a:srgbClr val="4D6475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1200" b="0">
                <a:solidFill>
                  <a:srgbClr val="4D6475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1200" b="0">
                <a:solidFill>
                  <a:srgbClr val="4D6475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1200" b="0">
                <a:solidFill>
                  <a:srgbClr val="4D6475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1200" b="0">
                <a:solidFill>
                  <a:srgbClr val="4D6475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1200" b="0">
                <a:solidFill>
                  <a:srgbClr val="4D6475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1200" b="0">
                <a:solidFill>
                  <a:srgbClr val="4D6475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1200" b="0">
                <a:solidFill>
                  <a:srgbClr val="4D6475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1200" b="0">
                <a:solidFill>
                  <a:srgbClr val="4D6475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4D647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00" b="0">
                <a:solidFill>
                  <a:srgbClr val="4D6475"/>
                </a:solidFill>
                <a:latin typeface="Microsoft JhengHei"/>
                <a:ea typeface="Microsoft JhengHei"/>
                <a:cs typeface="Microsoft JhengHei"/>
              </a:rPr>
              <a:t>EnergyPlus-MCP  ·  MCP 工具流程實作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2DE990C-6D23-4814-8B17-7F18C660CB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19850"/>
            <a:ext cx="6286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0">
                <a:solidFill>
                  <a:srgbClr val="4D6475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1200" b="0">
                <a:solidFill>
                  <a:srgbClr val="4D6475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1200" b="0">
                <a:solidFill>
                  <a:srgbClr val="4D6475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1200" b="0">
                <a:solidFill>
                  <a:srgbClr val="4D6475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1200" b="0">
                <a:solidFill>
                  <a:srgbClr val="4D6475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1200" b="0">
                <a:solidFill>
                  <a:srgbClr val="4D6475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1200" b="0">
                <a:solidFill>
                  <a:srgbClr val="4D6475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1200" b="0">
                <a:solidFill>
                  <a:srgbClr val="4D6475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1200" b="0">
                <a:solidFill>
                  <a:srgbClr val="4D6475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1200" b="0">
                <a:solidFill>
                  <a:srgbClr val="4D6475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4D647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00" b="0">
                <a:solidFill>
                  <a:srgbClr val="4D6475"/>
                </a:solidFill>
                <a:latin typeface="Microsoft JhengHei"/>
                <a:ea typeface="Microsoft JhengHei"/>
                <a:cs typeface="Microsoft JhengHei"/>
              </a:rPr>
              <a:t>18</a:t>
            </a:r>
          </a:p>
        </p:txBody>
      </p:sp>
      <p:graphicFrame>
        <p:nvGraphicFrame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10E40B1-5D3E-4B17-A03C-0ACE8A17DE09}"/>
              </a:ext>
            </a:extLst>
          </p:cNvPr>
          <p:cNvGraphicFramePr/>
          <p:nvPr/>
        </p:nvGraphicFramePr>
        <p:xfrm>
          <a:off xmlns:a="http://schemas.openxmlformats.org/drawingml/2006/main" x="609600" y="1952625"/>
          <a:ext xmlns:a="http://schemas.openxmlformats.org/drawingml/2006/main" cx="10972800" cy="3190875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5486400"/>
                <a:gridCol w="5486400"/>
              </a:tblGrid>
              <a:tr h="638175">
                <a:tc>
                  <a:txBody>
                    <a:bodyPr/>
                    <a:lstStyle/>
                    <a:p>
                      <a:r>
                        <a:rPr sz="1950" b="1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本次已有證據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D9E4E8"/>
                      </a:solidFill>
                      <a:prstDash val="solid"/>
                    </a:lnL>
                    <a:lnR w="9525">
                      <a:solidFill>
                        <a:srgbClr val="D9E4E8"/>
                      </a:solidFill>
                      <a:prstDash val="solid"/>
                    </a:lnR>
                    <a:lnT w="9525">
                      <a:solidFill>
                        <a:srgbClr val="D9E4E8"/>
                      </a:solidFill>
                      <a:prstDash val="solid"/>
                    </a:lnT>
                    <a:lnB w="9525">
                      <a:solidFill>
                        <a:srgbClr val="D9E4E8"/>
                      </a:solidFill>
                      <a:prstDash val="solid"/>
                    </a:lnB>
                    <a:solidFill>
                      <a:srgbClr val="132C4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1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需要另外設計實驗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9E4E8"/>
                      </a:solidFill>
                      <a:prstDash val="solid"/>
                    </a:lnR>
                    <a:lnT w="9525">
                      <a:solidFill>
                        <a:srgbClr val="D9E4E8"/>
                      </a:solidFill>
                      <a:prstDash val="solid"/>
                    </a:lnT>
                    <a:lnB w="9525">
                      <a:solidFill>
                        <a:srgbClr val="D9E4E8"/>
                      </a:solidFill>
                      <a:prstDash val="solid"/>
                    </a:lnB>
                    <a:solidFill>
                      <a:srgbClr val="132C44"/>
                    </a:solidFill>
                  </a:tcPr>
                </a:tc>
              </a:tr>
              <a:tr h="638175"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132C44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MCP 初始化與工具發現成功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D9E4E8"/>
                      </a:solidFill>
                      <a:prstDash val="solid"/>
                    </a:lnL>
                    <a:lnR w="9525">
                      <a:solidFill>
                        <a:srgbClr val="D9E4E8"/>
                      </a:solidFill>
                      <a:prstDash val="solid"/>
                    </a:lnR>
                    <a:lnB w="9525">
                      <a:solidFill>
                        <a:srgbClr val="D9E4E8"/>
                      </a:solidFill>
                      <a:prstDash val="solid"/>
                    </a:lnB>
                    <a:solidFill>
                      <a:srgbClr val="EEF5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132C44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LLM 能否選對工具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9E4E8"/>
                      </a:solidFill>
                      <a:prstDash val="solid"/>
                    </a:lnR>
                    <a:lnB w="9525">
                      <a:solidFill>
                        <a:srgbClr val="D9E4E8"/>
                      </a:solidFill>
                      <a:prstDash val="solid"/>
                    </a:lnB>
                    <a:solidFill>
                      <a:srgbClr val="EEF5F6"/>
                    </a:solidFill>
                  </a:tcPr>
                </a:tc>
              </a:tr>
              <a:tr h="638175"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132C44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參數傳到 Server 並執行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D9E4E8"/>
                      </a:solidFill>
                      <a:prstDash val="solid"/>
                    </a:lnL>
                    <a:lnR w="9525">
                      <a:solidFill>
                        <a:srgbClr val="D9E4E8"/>
                      </a:solidFill>
                      <a:prstDash val="solid"/>
                    </a:lnR>
                    <a:lnB w="9525">
                      <a:solidFill>
                        <a:srgbClr val="D9E4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132C44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LLM 能否穩定組對參數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9E4E8"/>
                      </a:solidFill>
                      <a:prstDash val="solid"/>
                    </a:lnR>
                    <a:lnB w="9525">
                      <a:solidFill>
                        <a:srgbClr val="D9E4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638175"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132C44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修改產物符合五筆要求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D9E4E8"/>
                      </a:solidFill>
                      <a:prstDash val="solid"/>
                    </a:lnL>
                    <a:lnR w="9525">
                      <a:solidFill>
                        <a:srgbClr val="D9E4E8"/>
                      </a:solidFill>
                      <a:prstDash val="solid"/>
                    </a:lnR>
                    <a:lnB w="9525">
                      <a:solidFill>
                        <a:srgbClr val="D9E4E8"/>
                      </a:solidFill>
                      <a:prstDash val="solid"/>
                    </a:lnB>
                    <a:solidFill>
                      <a:srgbClr val="EEF5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132C44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不同任務與錯誤情境的成功率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9E4E8"/>
                      </a:solidFill>
                      <a:prstDash val="solid"/>
                    </a:lnR>
                    <a:lnB w="9525">
                      <a:solidFill>
                        <a:srgbClr val="D9E4E8"/>
                      </a:solidFill>
                      <a:prstDash val="solid"/>
                    </a:lnB>
                    <a:solidFill>
                      <a:srgbClr val="EEF5F6"/>
                    </a:solidFill>
                  </a:tcPr>
                </a:tc>
              </a:tr>
              <a:tr h="638175"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132C44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原始檔與其他欄位未變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D9E4E8"/>
                      </a:solidFill>
                      <a:prstDash val="solid"/>
                    </a:lnL>
                    <a:lnR w="9525">
                      <a:solidFill>
                        <a:srgbClr val="D9E4E8"/>
                      </a:solidFill>
                      <a:prstDash val="solid"/>
                    </a:lnR>
                    <a:lnB w="9525">
                      <a:solidFill>
                        <a:srgbClr val="D9E4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132C44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是否找到最佳節能策略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9E4E8"/>
                      </a:solidFill>
                      <a:prstDash val="solid"/>
                    </a:lnR>
                    <a:lnB w="9525">
                      <a:solidFill>
                        <a:srgbClr val="D9E4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9102D5E-E3F7-43D3-BB35-35B7DEB99C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81650"/>
            <a:ext cx="109728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025" b="1">
                <a:solidFill>
                  <a:srgbClr val="007C83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2025" b="1">
                <a:solidFill>
                  <a:srgbClr val="007C83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2025" b="1">
                <a:solidFill>
                  <a:srgbClr val="007C83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2025" b="1">
                <a:solidFill>
                  <a:srgbClr val="007C83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2025" b="1">
                <a:solidFill>
                  <a:srgbClr val="007C83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2025" b="1">
                <a:solidFill>
                  <a:srgbClr val="007C83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2025" b="1">
                <a:solidFill>
                  <a:srgbClr val="007C83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2025" b="1">
                <a:solidFill>
                  <a:srgbClr val="007C83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2025" b="1">
                <a:solidFill>
                  <a:srgbClr val="007C83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2025" b="1">
                <a:solidFill>
                  <a:srgbClr val="007C83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2025" b="1">
                <a:solidFill>
                  <a:srgbClr val="007C83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025" b="1">
                <a:solidFill>
                  <a:srgbClr val="007C83"/>
                </a:solidFill>
                <a:latin typeface="Microsoft JhengHei"/>
                <a:ea typeface="Microsoft JhengHei"/>
                <a:cs typeface="Microsoft JhengHei"/>
              </a:rPr>
              <a:t>MCP 統一工具介面；可靠性仍需要測試與驗證。</a:t>
            </a:r>
          </a:p>
        </p:txBody>
      </p:sp>
    </p:spTree>
    <p:extLst>
      <p:ext uri="{BB962C8B-B14F-4D97-AF65-F5344CB8AC3E}">
        <p14:creationId xmlns:p14="http://schemas.microsoft.com/office/powerpoint/2010/main" val="578064051"/>
      </p:ext>
    </p:extLst>
  </p:cSld>
</p:sld>
</file>

<file path=ppt/slides/slide1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164EB6F-5100-484F-9A31-AF232313DC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5750"/>
            <a:ext cx="10763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425" b="1">
                <a:solidFill>
                  <a:srgbClr val="007C83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1425" b="1">
                <a:solidFill>
                  <a:srgbClr val="007C83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1425" b="1">
                <a:solidFill>
                  <a:srgbClr val="007C83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1425" b="1">
                <a:solidFill>
                  <a:srgbClr val="007C83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1425" b="1">
                <a:solidFill>
                  <a:srgbClr val="007C83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1425" b="1">
                <a:solidFill>
                  <a:srgbClr val="007C83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1425" b="1">
                <a:solidFill>
                  <a:srgbClr val="007C83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1425" b="1">
                <a:solidFill>
                  <a:srgbClr val="007C83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1425" b="1">
                <a:solidFill>
                  <a:srgbClr val="007C83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1425" b="1">
                <a:solidFill>
                  <a:srgbClr val="007C83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1425" b="1">
                <a:solidFill>
                  <a:srgbClr val="007C83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425" b="1">
                <a:solidFill>
                  <a:srgbClr val="007C83"/>
                </a:solidFill>
                <a:latin typeface="Microsoft JhengHei"/>
                <a:ea typeface="Microsoft JhengHei"/>
                <a:cs typeface="Microsoft JhengHei"/>
              </a:rPr>
              <a:t>14  /  討論與延伸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12D5F26-0AD1-439F-ABBF-ADEAA255D0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09625"/>
            <a:ext cx="109728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225" b="1">
                <a:solidFill>
                  <a:srgbClr val="132C44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3225" b="1">
                <a:solidFill>
                  <a:srgbClr val="132C44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3225" b="1">
                <a:solidFill>
                  <a:srgbClr val="132C44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3225" b="1">
                <a:solidFill>
                  <a:srgbClr val="132C44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3225" b="1">
                <a:solidFill>
                  <a:srgbClr val="132C44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3225" b="1">
                <a:solidFill>
                  <a:srgbClr val="132C44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3225" b="1">
                <a:solidFill>
                  <a:srgbClr val="132C44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3225" b="1">
                <a:solidFill>
                  <a:srgbClr val="132C44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3225" b="1">
                <a:solidFill>
                  <a:srgbClr val="132C44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3225" b="1">
                <a:solidFill>
                  <a:srgbClr val="132C44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3225" b="1">
                <a:solidFill>
                  <a:srgbClr val="132C44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3225" b="1">
                <a:solidFill>
                  <a:srgbClr val="132C44"/>
                </a:solidFill>
                <a:latin typeface="Microsoft JhengHei"/>
                <a:ea typeface="Microsoft JhengHei"/>
                <a:cs typeface="Microsoft JhengHei"/>
              </a:rPr>
              <a:t>研究重點可放在介面與可靠性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24CC050-C718-4A62-AC1A-01D69E172E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191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0">
                <a:solidFill>
                  <a:srgbClr val="4D6475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1200" b="0">
                <a:solidFill>
                  <a:srgbClr val="4D6475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1200" b="0">
                <a:solidFill>
                  <a:srgbClr val="4D6475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1200" b="0">
                <a:solidFill>
                  <a:srgbClr val="4D6475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1200" b="0">
                <a:solidFill>
                  <a:srgbClr val="4D6475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1200" b="0">
                <a:solidFill>
                  <a:srgbClr val="4D6475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1200" b="0">
                <a:solidFill>
                  <a:srgbClr val="4D6475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1200" b="0">
                <a:solidFill>
                  <a:srgbClr val="4D6475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1200" b="0">
                <a:solidFill>
                  <a:srgbClr val="4D6475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1200" b="0">
                <a:solidFill>
                  <a:srgbClr val="4D6475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4D647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00" b="0">
                <a:solidFill>
                  <a:srgbClr val="4D6475"/>
                </a:solidFill>
                <a:latin typeface="Microsoft JhengHei"/>
                <a:ea typeface="Microsoft JhengHei"/>
                <a:cs typeface="Microsoft JhengHei"/>
              </a:rPr>
              <a:t>EnergyPlus-MCP  ·  MCP 工具流程實作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C43FECD-5214-4439-A262-357587D924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19850"/>
            <a:ext cx="6286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0">
                <a:solidFill>
                  <a:srgbClr val="4D6475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1200" b="0">
                <a:solidFill>
                  <a:srgbClr val="4D6475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1200" b="0">
                <a:solidFill>
                  <a:srgbClr val="4D6475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1200" b="0">
                <a:solidFill>
                  <a:srgbClr val="4D6475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1200" b="0">
                <a:solidFill>
                  <a:srgbClr val="4D6475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1200" b="0">
                <a:solidFill>
                  <a:srgbClr val="4D6475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1200" b="0">
                <a:solidFill>
                  <a:srgbClr val="4D6475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1200" b="0">
                <a:solidFill>
                  <a:srgbClr val="4D6475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1200" b="0">
                <a:solidFill>
                  <a:srgbClr val="4D6475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1200" b="0">
                <a:solidFill>
                  <a:srgbClr val="4D6475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4D647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00" b="0">
                <a:solidFill>
                  <a:srgbClr val="4D6475"/>
                </a:solidFill>
                <a:latin typeface="Microsoft JhengHei"/>
                <a:ea typeface="Microsoft JhengHei"/>
                <a:cs typeface="Microsoft JhengHei"/>
              </a:rPr>
              <a:t>19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C4BB7C5-26C7-4708-998F-257ED78CF5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47875"/>
            <a:ext cx="109728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400" b="0">
                <a:solidFill>
                  <a:srgbClr val="132C44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2400" b="0">
                <a:solidFill>
                  <a:srgbClr val="132C44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2400" b="0">
                <a:solidFill>
                  <a:srgbClr val="132C44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2400" b="0">
                <a:solidFill>
                  <a:srgbClr val="132C44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2400" b="0">
                <a:solidFill>
                  <a:srgbClr val="132C44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2400" b="0">
                <a:solidFill>
                  <a:srgbClr val="132C44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2400" b="0">
                <a:solidFill>
                  <a:srgbClr val="132C44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2400" b="0">
                <a:solidFill>
                  <a:srgbClr val="132C44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2400" b="0">
                <a:solidFill>
                  <a:srgbClr val="132C44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2400" b="0">
                <a:solidFill>
                  <a:srgbClr val="132C44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2400" b="0">
                <a:solidFill>
                  <a:srgbClr val="132C44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400" b="0">
                <a:solidFill>
                  <a:srgbClr val="132C44"/>
                </a:solidFill>
                <a:latin typeface="Microsoft JhengHei"/>
                <a:ea typeface="Microsoft JhengHei"/>
                <a:cs typeface="Microsoft JhengHei"/>
              </a:rPr>
              <a:t>問題一：更完整的巢狀 Schema，能提早攔截哪些錯誤？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F9E63DE-223A-4192-BC9B-395BD40C64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143250"/>
            <a:ext cx="109728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400" b="0">
                <a:solidFill>
                  <a:srgbClr val="132C44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2400" b="0">
                <a:solidFill>
                  <a:srgbClr val="132C44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2400" b="0">
                <a:solidFill>
                  <a:srgbClr val="132C44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2400" b="0">
                <a:solidFill>
                  <a:srgbClr val="132C44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2400" b="0">
                <a:solidFill>
                  <a:srgbClr val="132C44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2400" b="0">
                <a:solidFill>
                  <a:srgbClr val="132C44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2400" b="0">
                <a:solidFill>
                  <a:srgbClr val="132C44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2400" b="0">
                <a:solidFill>
                  <a:srgbClr val="132C44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2400" b="0">
                <a:solidFill>
                  <a:srgbClr val="132C44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2400" b="0">
                <a:solidFill>
                  <a:srgbClr val="132C44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2400" b="0">
                <a:solidFill>
                  <a:srgbClr val="132C44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400" b="0">
                <a:solidFill>
                  <a:srgbClr val="132C44"/>
                </a:solidFill>
                <a:latin typeface="Microsoft JhengHei"/>
                <a:ea typeface="Microsoft JhengHei"/>
                <a:cs typeface="Microsoft JhengHei"/>
              </a:rPr>
              <a:t>問題二：工具回報成功時，產物是否一定符合任務？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9502427-A1DA-4F29-9638-6459827999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38625"/>
            <a:ext cx="109728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400" b="0">
                <a:solidFill>
                  <a:srgbClr val="132C44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2400" b="0">
                <a:solidFill>
                  <a:srgbClr val="132C44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2400" b="0">
                <a:solidFill>
                  <a:srgbClr val="132C44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2400" b="0">
                <a:solidFill>
                  <a:srgbClr val="132C44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2400" b="0">
                <a:solidFill>
                  <a:srgbClr val="132C44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2400" b="0">
                <a:solidFill>
                  <a:srgbClr val="132C44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2400" b="0">
                <a:solidFill>
                  <a:srgbClr val="132C44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2400" b="0">
                <a:solidFill>
                  <a:srgbClr val="132C44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2400" b="0">
                <a:solidFill>
                  <a:srgbClr val="132C44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2400" b="0">
                <a:solidFill>
                  <a:srgbClr val="132C44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2400" b="0">
                <a:solidFill>
                  <a:srgbClr val="132C44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400" b="0">
                <a:solidFill>
                  <a:srgbClr val="132C44"/>
                </a:solidFill>
                <a:latin typeface="Microsoft JhengHei"/>
                <a:ea typeface="Microsoft JhengHei"/>
                <a:cs typeface="Microsoft JhengHei"/>
              </a:rPr>
              <a:t>問題三：加入 LLM 後，錯誤來自選工具、參數還是執行？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1831CC5-9893-42A1-819D-6BD0DC0B61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81650"/>
            <a:ext cx="109728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025" b="1">
                <a:solidFill>
                  <a:srgbClr val="007C83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2025" b="1">
                <a:solidFill>
                  <a:srgbClr val="007C83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2025" b="1">
                <a:solidFill>
                  <a:srgbClr val="007C83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2025" b="1">
                <a:solidFill>
                  <a:srgbClr val="007C83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2025" b="1">
                <a:solidFill>
                  <a:srgbClr val="007C83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2025" b="1">
                <a:solidFill>
                  <a:srgbClr val="007C83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2025" b="1">
                <a:solidFill>
                  <a:srgbClr val="007C83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2025" b="1">
                <a:solidFill>
                  <a:srgbClr val="007C83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2025" b="1">
                <a:solidFill>
                  <a:srgbClr val="007C83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2025" b="1">
                <a:solidFill>
                  <a:srgbClr val="007C83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2025" b="1">
                <a:solidFill>
                  <a:srgbClr val="007C83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025" b="1">
                <a:solidFill>
                  <a:srgbClr val="007C83"/>
                </a:solidFill>
                <a:latin typeface="Microsoft JhengHei"/>
                <a:ea typeface="Microsoft JhengHei"/>
                <a:cs typeface="Microsoft JhengHei"/>
              </a:rPr>
              <a:t>用同一套工具與可核對任務，逐層測試成功與失敗。</a:t>
            </a:r>
          </a:p>
        </p:txBody>
      </p:sp>
    </p:spTree>
    <p:extLst>
      <p:ext uri="{BB962C8B-B14F-4D97-AF65-F5344CB8AC3E}">
        <p14:creationId xmlns:p14="http://schemas.microsoft.com/office/powerpoint/2010/main" val="768403083"/>
      </p:ext>
    </p:extLst>
  </p:cSld>
</p:sld>
</file>

<file path=ppt/slides/slide2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7BF8770-AA77-4BD0-BF88-850B156BFC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5750"/>
            <a:ext cx="10763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425" b="1">
                <a:solidFill>
                  <a:srgbClr val="007C83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1425" b="1">
                <a:solidFill>
                  <a:srgbClr val="007C83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1425" b="1">
                <a:solidFill>
                  <a:srgbClr val="007C83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1425" b="1">
                <a:solidFill>
                  <a:srgbClr val="007C83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1425" b="1">
                <a:solidFill>
                  <a:srgbClr val="007C83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1425" b="1">
                <a:solidFill>
                  <a:srgbClr val="007C83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1425" b="1">
                <a:solidFill>
                  <a:srgbClr val="007C83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1425" b="1">
                <a:solidFill>
                  <a:srgbClr val="007C83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1425" b="1">
                <a:solidFill>
                  <a:srgbClr val="007C83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1425" b="1">
                <a:solidFill>
                  <a:srgbClr val="007C83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1425" b="1">
                <a:solidFill>
                  <a:srgbClr val="007C83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425" b="1">
                <a:solidFill>
                  <a:srgbClr val="007C83"/>
                </a:solidFill>
                <a:latin typeface="Microsoft JhengHei"/>
                <a:ea typeface="Microsoft JhengHei"/>
                <a:cs typeface="Microsoft JhengHei"/>
              </a:rPr>
              <a:t>附錄 A  /  論文架構對照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5AED69E-D72D-4B03-9736-EAA0A96874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09625"/>
            <a:ext cx="109728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225" b="1">
                <a:solidFill>
                  <a:srgbClr val="132C44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3225" b="1">
                <a:solidFill>
                  <a:srgbClr val="132C44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3225" b="1">
                <a:solidFill>
                  <a:srgbClr val="132C44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3225" b="1">
                <a:solidFill>
                  <a:srgbClr val="132C44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3225" b="1">
                <a:solidFill>
                  <a:srgbClr val="132C44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3225" b="1">
                <a:solidFill>
                  <a:srgbClr val="132C44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3225" b="1">
                <a:solidFill>
                  <a:srgbClr val="132C44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3225" b="1">
                <a:solidFill>
                  <a:srgbClr val="132C44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3225" b="1">
                <a:solidFill>
                  <a:srgbClr val="132C44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3225" b="1">
                <a:solidFill>
                  <a:srgbClr val="132C44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3225" b="1">
                <a:solidFill>
                  <a:srgbClr val="132C44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3225" b="1">
                <a:solidFill>
                  <a:srgbClr val="132C44"/>
                </a:solidFill>
                <a:latin typeface="Microsoft JhengHei"/>
                <a:ea typeface="Microsoft JhengHei"/>
                <a:cs typeface="Microsoft JhengHei"/>
              </a:rPr>
              <a:t>五個架構區塊如何對回程式？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DAF7C3E-7B6B-4349-AB2B-ABB0212C8C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191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0">
                <a:solidFill>
                  <a:srgbClr val="4D6475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1200" b="0">
                <a:solidFill>
                  <a:srgbClr val="4D6475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1200" b="0">
                <a:solidFill>
                  <a:srgbClr val="4D6475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1200" b="0">
                <a:solidFill>
                  <a:srgbClr val="4D6475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1200" b="0">
                <a:solidFill>
                  <a:srgbClr val="4D6475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1200" b="0">
                <a:solidFill>
                  <a:srgbClr val="4D6475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1200" b="0">
                <a:solidFill>
                  <a:srgbClr val="4D6475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1200" b="0">
                <a:solidFill>
                  <a:srgbClr val="4D6475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1200" b="0">
                <a:solidFill>
                  <a:srgbClr val="4D6475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1200" b="0">
                <a:solidFill>
                  <a:srgbClr val="4D6475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4D647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00" b="0">
                <a:solidFill>
                  <a:srgbClr val="4D6475"/>
                </a:solidFill>
                <a:latin typeface="Microsoft JhengHei"/>
                <a:ea typeface="Microsoft JhengHei"/>
                <a:cs typeface="Microsoft JhengHei"/>
              </a:rPr>
              <a:t>EnergyPlus-MCP  ·  MCP 工具流程實作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E4F9B90-5D35-4273-A827-EE00AB82DF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19850"/>
            <a:ext cx="6286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0">
                <a:solidFill>
                  <a:srgbClr val="4D6475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1200" b="0">
                <a:solidFill>
                  <a:srgbClr val="4D6475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1200" b="0">
                <a:solidFill>
                  <a:srgbClr val="4D6475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1200" b="0">
                <a:solidFill>
                  <a:srgbClr val="4D6475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1200" b="0">
                <a:solidFill>
                  <a:srgbClr val="4D6475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1200" b="0">
                <a:solidFill>
                  <a:srgbClr val="4D6475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1200" b="0">
                <a:solidFill>
                  <a:srgbClr val="4D6475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1200" b="0">
                <a:solidFill>
                  <a:srgbClr val="4D6475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1200" b="0">
                <a:solidFill>
                  <a:srgbClr val="4D6475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1200" b="0">
                <a:solidFill>
                  <a:srgbClr val="4D6475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4D647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00" b="0">
                <a:solidFill>
                  <a:srgbClr val="4D6475"/>
                </a:solidFill>
                <a:latin typeface="Microsoft JhengHei"/>
                <a:ea typeface="Microsoft JhengHei"/>
                <a:cs typeface="Microsoft JhengHei"/>
              </a:rPr>
              <a:t>20</a:t>
            </a:r>
          </a:p>
        </p:txBody>
      </p:sp>
      <p:graphicFrame>
        <p:nvGraphicFrame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2899ADC-EB06-4F8E-9DCA-108465F15570}"/>
              </a:ext>
            </a:extLst>
          </p:cNvPr>
          <p:cNvGraphicFramePr/>
          <p:nvPr/>
        </p:nvGraphicFramePr>
        <p:xfrm>
          <a:off xmlns:a="http://schemas.openxmlformats.org/drawingml/2006/main" x="609600" y="1905000"/>
          <a:ext xmlns:a="http://schemas.openxmlformats.org/drawingml/2006/main" cx="10972800" cy="35242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4572000"/>
                <a:gridCol w="6400800"/>
              </a:tblGrid>
              <a:tr h="587375"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論文區塊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D9E4E8"/>
                      </a:solidFill>
                      <a:prstDash val="solid"/>
                    </a:lnL>
                    <a:lnR w="9525">
                      <a:solidFill>
                        <a:srgbClr val="D9E4E8"/>
                      </a:solidFill>
                      <a:prstDash val="solid"/>
                    </a:lnR>
                    <a:lnT w="9525">
                      <a:solidFill>
                        <a:srgbClr val="D9E4E8"/>
                      </a:solidFill>
                      <a:prstDash val="solid"/>
                    </a:lnT>
                    <a:lnB w="9525">
                      <a:solidFill>
                        <a:srgbClr val="D9E4E8"/>
                      </a:solidFill>
                      <a:prstDash val="solid"/>
                    </a:lnB>
                    <a:solidFill>
                      <a:srgbClr val="132C4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本案例責任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9E4E8"/>
                      </a:solidFill>
                      <a:prstDash val="solid"/>
                    </a:lnR>
                    <a:lnT w="9525">
                      <a:solidFill>
                        <a:srgbClr val="D9E4E8"/>
                      </a:solidFill>
                      <a:prstDash val="solid"/>
                    </a:lnT>
                    <a:lnB w="9525">
                      <a:solidFill>
                        <a:srgbClr val="D9E4E8"/>
                      </a:solidFill>
                      <a:prstDash val="solid"/>
                    </a:lnB>
                    <a:solidFill>
                      <a:srgbClr val="132C44"/>
                    </a:solidFill>
                  </a:tcPr>
                </a:tc>
              </a:tr>
              <a:tr h="587375"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32C44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MCP Client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D9E4E8"/>
                      </a:solidFill>
                      <a:prstDash val="solid"/>
                    </a:lnL>
                    <a:lnR w="9525">
                      <a:solidFill>
                        <a:srgbClr val="D9E4E8"/>
                      </a:solidFill>
                      <a:prstDash val="solid"/>
                    </a:lnR>
                    <a:lnB w="9525">
                      <a:solidFill>
                        <a:srgbClr val="D9E4E8"/>
                      </a:solidFill>
                      <a:prstDash val="solid"/>
                    </a:lnB>
                    <a:solidFill>
                      <a:srgbClr val="EEF5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32C44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Python 的 ClientSession 發送要求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9E4E8"/>
                      </a:solidFill>
                      <a:prstDash val="solid"/>
                    </a:lnR>
                    <a:lnB w="9525">
                      <a:solidFill>
                        <a:srgbClr val="D9E4E8"/>
                      </a:solidFill>
                      <a:prstDash val="solid"/>
                    </a:lnB>
                    <a:solidFill>
                      <a:srgbClr val="EEF5F6"/>
                    </a:solidFill>
                  </a:tcPr>
                </a:tc>
              </a:tr>
              <a:tr h="587375"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32C44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MCP Protocol Layer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D9E4E8"/>
                      </a:solidFill>
                      <a:prstDash val="solid"/>
                    </a:lnL>
                    <a:lnR w="9525">
                      <a:solidFill>
                        <a:srgbClr val="D9E4E8"/>
                      </a:solidFill>
                      <a:prstDash val="solid"/>
                    </a:lnR>
                    <a:lnB w="9525">
                      <a:solidFill>
                        <a:srgbClr val="D9E4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32C44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FastMCP 與 @mcp.tool()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9E4E8"/>
                      </a:solidFill>
                      <a:prstDash val="solid"/>
                    </a:lnR>
                    <a:lnB w="9525">
                      <a:solidFill>
                        <a:srgbClr val="D9E4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87375"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32C44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Orchestration Layer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D9E4E8"/>
                      </a:solidFill>
                      <a:prstDash val="solid"/>
                    </a:lnL>
                    <a:lnR w="9525">
                      <a:solidFill>
                        <a:srgbClr val="D9E4E8"/>
                      </a:solidFill>
                      <a:prstDash val="solid"/>
                    </a:lnR>
                    <a:lnB w="9525">
                      <a:solidFill>
                        <a:srgbClr val="D9E4E8"/>
                      </a:solidFill>
                      <a:prstDash val="solid"/>
                    </a:lnB>
                    <a:solidFill>
                      <a:srgbClr val="EEF5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32C44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EnergyPlusManager 與設定模組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9E4E8"/>
                      </a:solidFill>
                      <a:prstDash val="solid"/>
                    </a:lnR>
                    <a:lnB w="9525">
                      <a:solidFill>
                        <a:srgbClr val="D9E4E8"/>
                      </a:solidFill>
                      <a:prstDash val="solid"/>
                    </a:lnB>
                    <a:solidFill>
                      <a:srgbClr val="EEF5F6"/>
                    </a:solidFill>
                  </a:tcPr>
                </a:tc>
              </a:tr>
              <a:tr h="587375"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32C44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Tools Layer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D9E4E8"/>
                      </a:solidFill>
                      <a:prstDash val="solid"/>
                    </a:lnL>
                    <a:lnR w="9525">
                      <a:solidFill>
                        <a:srgbClr val="D9E4E8"/>
                      </a:solidFill>
                      <a:prstDash val="solid"/>
                    </a:lnR>
                    <a:lnB w="9525">
                      <a:solidFill>
                        <a:srgbClr val="D9E4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32C44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LightsManager 選物件與改欄位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9E4E8"/>
                      </a:solidFill>
                      <a:prstDash val="solid"/>
                    </a:lnR>
                    <a:lnB w="9525">
                      <a:solidFill>
                        <a:srgbClr val="D9E4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87375"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32C44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Integration Layer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D9E4E8"/>
                      </a:solidFill>
                      <a:prstDash val="solid"/>
                    </a:lnL>
                    <a:lnR w="9525">
                      <a:solidFill>
                        <a:srgbClr val="D9E4E8"/>
                      </a:solidFill>
                      <a:prstDash val="solid"/>
                    </a:lnR>
                    <a:lnB w="9525">
                      <a:solidFill>
                        <a:srgbClr val="D9E4E8"/>
                      </a:solidFill>
                      <a:prstDash val="solid"/>
                    </a:lnB>
                    <a:solidFill>
                      <a:srgbClr val="EEF5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32C44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eppy、IDF 檔案；模擬時另用引擎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9E4E8"/>
                      </a:solidFill>
                      <a:prstDash val="solid"/>
                    </a:lnR>
                    <a:lnB w="9525">
                      <a:solidFill>
                        <a:srgbClr val="D9E4E8"/>
                      </a:solidFill>
                      <a:prstDash val="solid"/>
                    </a:lnB>
                    <a:solidFill>
                      <a:srgbClr val="EEF5F6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852622458"/>
      </p:ext>
    </p:extLst>
  </p:cSld>
</p:sld>
</file>

<file path=ppt/slides/slide2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40DBD3E-C1D5-4CA8-A2BD-2067F81C5C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5750"/>
            <a:ext cx="10763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425" b="1">
                <a:solidFill>
                  <a:srgbClr val="007C83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1425" b="1">
                <a:solidFill>
                  <a:srgbClr val="007C83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1425" b="1">
                <a:solidFill>
                  <a:srgbClr val="007C83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1425" b="1">
                <a:solidFill>
                  <a:srgbClr val="007C83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1425" b="1">
                <a:solidFill>
                  <a:srgbClr val="007C83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1425" b="1">
                <a:solidFill>
                  <a:srgbClr val="007C83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1425" b="1">
                <a:solidFill>
                  <a:srgbClr val="007C83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1425" b="1">
                <a:solidFill>
                  <a:srgbClr val="007C83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1425" b="1">
                <a:solidFill>
                  <a:srgbClr val="007C83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1425" b="1">
                <a:solidFill>
                  <a:srgbClr val="007C83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1425" b="1">
                <a:solidFill>
                  <a:srgbClr val="007C83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425" b="1">
                <a:solidFill>
                  <a:srgbClr val="007C83"/>
                </a:solidFill>
                <a:latin typeface="Microsoft JhengHei"/>
                <a:ea typeface="Microsoft JhengHei"/>
                <a:cs typeface="Microsoft JhengHei"/>
              </a:rPr>
              <a:t>附錄 B  /  來源索引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72C414C-2B1F-4548-A2AF-BFF0C07257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09625"/>
            <a:ext cx="109728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225" b="1">
                <a:solidFill>
                  <a:srgbClr val="132C44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3225" b="1">
                <a:solidFill>
                  <a:srgbClr val="132C44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3225" b="1">
                <a:solidFill>
                  <a:srgbClr val="132C44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3225" b="1">
                <a:solidFill>
                  <a:srgbClr val="132C44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3225" b="1">
                <a:solidFill>
                  <a:srgbClr val="132C44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3225" b="1">
                <a:solidFill>
                  <a:srgbClr val="132C44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3225" b="1">
                <a:solidFill>
                  <a:srgbClr val="132C44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3225" b="1">
                <a:solidFill>
                  <a:srgbClr val="132C44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3225" b="1">
                <a:solidFill>
                  <a:srgbClr val="132C44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3225" b="1">
                <a:solidFill>
                  <a:srgbClr val="132C44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3225" b="1">
                <a:solidFill>
                  <a:srgbClr val="132C44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3225" b="1">
                <a:solidFill>
                  <a:srgbClr val="132C44"/>
                </a:solidFill>
                <a:latin typeface="Microsoft JhengHei"/>
                <a:ea typeface="Microsoft JhengHei"/>
                <a:cs typeface="Microsoft JhengHei"/>
              </a:rPr>
              <a:t>重現版本與查閱來源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73A87F4-93B7-4EAE-BABF-EE0E02C8C6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191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0">
                <a:solidFill>
                  <a:srgbClr val="4D6475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1200" b="0">
                <a:solidFill>
                  <a:srgbClr val="4D6475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1200" b="0">
                <a:solidFill>
                  <a:srgbClr val="4D6475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1200" b="0">
                <a:solidFill>
                  <a:srgbClr val="4D6475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1200" b="0">
                <a:solidFill>
                  <a:srgbClr val="4D6475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1200" b="0">
                <a:solidFill>
                  <a:srgbClr val="4D6475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1200" b="0">
                <a:solidFill>
                  <a:srgbClr val="4D6475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1200" b="0">
                <a:solidFill>
                  <a:srgbClr val="4D6475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1200" b="0">
                <a:solidFill>
                  <a:srgbClr val="4D6475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1200" b="0">
                <a:solidFill>
                  <a:srgbClr val="4D6475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4D647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00" b="0">
                <a:solidFill>
                  <a:srgbClr val="4D6475"/>
                </a:solidFill>
                <a:latin typeface="Microsoft JhengHei"/>
                <a:ea typeface="Microsoft JhengHei"/>
                <a:cs typeface="Microsoft JhengHei"/>
              </a:rPr>
              <a:t>EnergyPlus-MCP  ·  MCP 工具流程實作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0816913-76C6-446B-929C-308C0D8248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19850"/>
            <a:ext cx="6286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0">
                <a:solidFill>
                  <a:srgbClr val="4D6475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1200" b="0">
                <a:solidFill>
                  <a:srgbClr val="4D6475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1200" b="0">
                <a:solidFill>
                  <a:srgbClr val="4D6475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1200" b="0">
                <a:solidFill>
                  <a:srgbClr val="4D6475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1200" b="0">
                <a:solidFill>
                  <a:srgbClr val="4D6475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1200" b="0">
                <a:solidFill>
                  <a:srgbClr val="4D6475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1200" b="0">
                <a:solidFill>
                  <a:srgbClr val="4D6475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1200" b="0">
                <a:solidFill>
                  <a:srgbClr val="4D6475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1200" b="0">
                <a:solidFill>
                  <a:srgbClr val="4D6475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1200" b="0">
                <a:solidFill>
                  <a:srgbClr val="4D6475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4D647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00" b="0">
                <a:solidFill>
                  <a:srgbClr val="4D6475"/>
                </a:solidFill>
                <a:latin typeface="Microsoft JhengHei"/>
                <a:ea typeface="Microsoft JhengHei"/>
                <a:cs typeface="Microsoft JhengHei"/>
              </a:rPr>
              <a:t>21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930E193-1F24-4A89-9C2A-761B6FEEEA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952625"/>
            <a:ext cx="109728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75" b="0">
                <a:solidFill>
                  <a:srgbClr val="132C44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2175" b="0">
                <a:solidFill>
                  <a:srgbClr val="132C44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2175" b="0">
                <a:solidFill>
                  <a:srgbClr val="132C44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2175" b="0">
                <a:solidFill>
                  <a:srgbClr val="132C44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2175" b="0">
                <a:solidFill>
                  <a:srgbClr val="132C44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2175" b="0">
                <a:solidFill>
                  <a:srgbClr val="132C44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2175" b="0">
                <a:solidFill>
                  <a:srgbClr val="132C44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2175" b="0">
                <a:solidFill>
                  <a:srgbClr val="132C44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2175" b="0">
                <a:solidFill>
                  <a:srgbClr val="132C44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2175" b="0">
                <a:solidFill>
                  <a:srgbClr val="132C44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2175" b="0">
                <a:solidFill>
                  <a:srgbClr val="132C44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175" b="0">
                <a:solidFill>
                  <a:srgbClr val="132C44"/>
                </a:solidFill>
                <a:latin typeface="Microsoft JhengHei"/>
                <a:ea typeface="Microsoft JhengHei"/>
                <a:cs typeface="Microsoft JhengHei"/>
              </a:rPr>
              <a:t>論文：SoftwareX 32 (2025), 102367</a:t>
            </a:r>
          </a:p>
          <a:p xmlns:a="http://schemas.openxmlformats.org/drawingml/2006/main">
            <a:pPr>
              <a:defRPr sz="2175" b="0">
                <a:solidFill>
                  <a:srgbClr val="132C44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175" b="0">
                <a:solidFill>
                  <a:srgbClr val="132C44"/>
                </a:solidFill>
                <a:latin typeface="Microsoft JhengHei"/>
                <a:ea typeface="Microsoft JhengHei"/>
                <a:cs typeface="Microsoft JhengHei"/>
              </a:rPr>
              <a:t>DOI：10.1016/j.softx.2025.102367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63B0264-1B01-40E4-840F-976FAC41F7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190875"/>
            <a:ext cx="109728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75" b="0">
                <a:solidFill>
                  <a:srgbClr val="132C44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2175" b="0">
                <a:solidFill>
                  <a:srgbClr val="132C44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2175" b="0">
                <a:solidFill>
                  <a:srgbClr val="132C44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2175" b="0">
                <a:solidFill>
                  <a:srgbClr val="132C44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2175" b="0">
                <a:solidFill>
                  <a:srgbClr val="132C44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2175" b="0">
                <a:solidFill>
                  <a:srgbClr val="132C44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2175" b="0">
                <a:solidFill>
                  <a:srgbClr val="132C44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2175" b="0">
                <a:solidFill>
                  <a:srgbClr val="132C44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2175" b="0">
                <a:solidFill>
                  <a:srgbClr val="132C44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2175" b="0">
                <a:solidFill>
                  <a:srgbClr val="132C44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2175" b="0">
                <a:solidFill>
                  <a:srgbClr val="132C44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175" b="0">
                <a:solidFill>
                  <a:srgbClr val="132C44"/>
                </a:solidFill>
                <a:latin typeface="Microsoft JhengHei"/>
                <a:ea typeface="Microsoft JhengHei"/>
                <a:cs typeface="Microsoft JhengHei"/>
              </a:rPr>
              <a:t>程式：LBNL-ETA / EnergyPlus-MCP</a:t>
            </a:r>
          </a:p>
          <a:p xmlns:a="http://schemas.openxmlformats.org/drawingml/2006/main">
            <a:pPr>
              <a:defRPr sz="2175" b="0">
                <a:solidFill>
                  <a:srgbClr val="132C44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175" b="0">
                <a:solidFill>
                  <a:srgbClr val="132C44"/>
                </a:solidFill>
                <a:latin typeface="Microsoft JhengHei"/>
                <a:ea typeface="Microsoft JhengHei"/>
                <a:cs typeface="Microsoft JhengHei"/>
              </a:rPr>
              <a:t>固定 commit：5a7d3bb1d2e5…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F62A884-4CB3-45E2-B066-4AA1F86FC6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429125"/>
            <a:ext cx="109728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75" b="0">
                <a:solidFill>
                  <a:srgbClr val="132C44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2175" b="0">
                <a:solidFill>
                  <a:srgbClr val="132C44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2175" b="0">
                <a:solidFill>
                  <a:srgbClr val="132C44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2175" b="0">
                <a:solidFill>
                  <a:srgbClr val="132C44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2175" b="0">
                <a:solidFill>
                  <a:srgbClr val="132C44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2175" b="0">
                <a:solidFill>
                  <a:srgbClr val="132C44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2175" b="0">
                <a:solidFill>
                  <a:srgbClr val="132C44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2175" b="0">
                <a:solidFill>
                  <a:srgbClr val="132C44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2175" b="0">
                <a:solidFill>
                  <a:srgbClr val="132C44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2175" b="0">
                <a:solidFill>
                  <a:srgbClr val="132C44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2175" b="0">
                <a:solidFill>
                  <a:srgbClr val="132C44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175" b="0">
                <a:solidFill>
                  <a:srgbClr val="132C44"/>
                </a:solidFill>
                <a:latin typeface="Microsoft JhengHei"/>
                <a:ea typeface="Microsoft JhengHei"/>
                <a:cs typeface="Microsoft JhengHei"/>
              </a:rPr>
              <a:t>實測：Python 3.12.13、MCP SDK 1.27.0</a:t>
            </a:r>
          </a:p>
          <a:p xmlns:a="http://schemas.openxmlformats.org/drawingml/2006/main">
            <a:pPr>
              <a:defRPr sz="2175" b="0">
                <a:solidFill>
                  <a:srgbClr val="132C44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175" b="0">
                <a:solidFill>
                  <a:srgbClr val="132C44"/>
                </a:solidFill>
                <a:latin typeface="Microsoft JhengHei"/>
                <a:ea typeface="Microsoft JhengHei"/>
                <a:cs typeface="Microsoft JhengHei"/>
              </a:rPr>
              <a:t>協商協定：2025-11-25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C87952A-DF7C-4F97-A50A-6A31211099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81650"/>
            <a:ext cx="109728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025" b="1">
                <a:solidFill>
                  <a:srgbClr val="007C83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2025" b="1">
                <a:solidFill>
                  <a:srgbClr val="007C83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2025" b="1">
                <a:solidFill>
                  <a:srgbClr val="007C83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2025" b="1">
                <a:solidFill>
                  <a:srgbClr val="007C83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2025" b="1">
                <a:solidFill>
                  <a:srgbClr val="007C83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2025" b="1">
                <a:solidFill>
                  <a:srgbClr val="007C83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2025" b="1">
                <a:solidFill>
                  <a:srgbClr val="007C83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2025" b="1">
                <a:solidFill>
                  <a:srgbClr val="007C83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2025" b="1">
                <a:solidFill>
                  <a:srgbClr val="007C83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2025" b="1">
                <a:solidFill>
                  <a:srgbClr val="007C83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2025" b="1">
                <a:solidFill>
                  <a:srgbClr val="007C83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025" b="1">
                <a:solidFill>
                  <a:srgbClr val="007C83"/>
                </a:solidFill>
                <a:latin typeface="Microsoft JhengHei"/>
                <a:ea typeface="Microsoft JhengHei"/>
                <a:cs typeface="Microsoft JhengHei"/>
              </a:rPr>
              <a:t>完整連結、原始碼行號與解說放在備忘稿及 Notebook。</a:t>
            </a:r>
          </a:p>
        </p:txBody>
      </p:sp>
    </p:spTree>
    <p:extLst>
      <p:ext uri="{BB962C8B-B14F-4D97-AF65-F5344CB8AC3E}">
        <p14:creationId xmlns:p14="http://schemas.microsoft.com/office/powerpoint/2010/main" val="729008744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2026-10-18T22:47:07.1780000Z</dcterms:created>
  <dcterms:modified xsi:type="dcterms:W3CDTF">2026-10-18T22:47:07.1780000Z</dcterms:modified>
</coreProperties>
</file>