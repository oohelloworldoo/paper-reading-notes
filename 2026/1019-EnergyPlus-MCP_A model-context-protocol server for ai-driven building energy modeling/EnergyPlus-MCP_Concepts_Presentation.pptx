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58" r:id="rId5"/>
    <p:sldId id="267" r:id="rId6"/>
    <p:sldId id="266" r:id="rId7"/>
    <p:sldId id="259" r:id="rId8"/>
    <p:sldId id="260" r:id="rId9"/>
    <p:sldId id="262" r:id="rId10"/>
    <p:sldId id="268" r:id="rId11"/>
    <p:sldId id="261" r:id="rId12"/>
    <p:sldId id="263" r:id="rId13"/>
    <p:sldId id="26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C01DA-322B-8A54-7AEE-BBEF3C6A28BC}" v="146" dt="2026-10-19T04:50:3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今天報告這篇論文，我著重理解 MCP 在其中如何作用：誰決定工具與參數，誰傳送要求，以及誰真正執行。這次先講概念與論文架構，下次再介紹程式、實驗設定與驗證結果。來源：https://doi.org/10.1016/j.softx.2025.102367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EnergyPlus 原本就能模擬建築能源使用，但使用者仍需處理模型載入、檢查、修改、模擬與結果分析。本文主要提出 EnergyPlus-MCP 這套軟體，將相關操作公開為 MCP 工具，讓相容應用整合。</a:t>
            </a:r>
          </a:p>
          <a:p>
            <a:r>
              <a:t>BEM 是 Building Energy Modeling，指建築能耗建模與分析的工作方法，不是另一套必須搭配 EnergyPlus 的軟體。EnergyPlus 是可用於此工作的模擬引擎。</a:t>
            </a:r>
          </a:p>
          <a:p>
            <a:r>
              <a:t>報告範圍是理解這個介面如何運作，不在本次報告節能數據或完整實驗重現。來源：論文 Abstract、Introduction、Section 2。https://doi.org/10.1016/j.softx.2025.102367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D5E1-B369-08C5-CB49-C2E4F906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A5592-C495-0C12-476C-8ACE45BA6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36A5E-0B29-F01F-3725-4C69FB65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EnergyPlus 原本就能模擬建築能源使用，但使用者仍需處理模型載入、檢查、修改、模擬與結果分析。本文主要提出 EnergyPlus-MCP 這套軟體，將相關操作公開為 MCP 工具，讓相容應用整合。</a:t>
            </a:r>
          </a:p>
          <a:p>
            <a:r>
              <a:t>BEM 是 Building Energy Modeling，指建築能耗建模與分析的工作方法，不是另一套必須搭配 EnergyPlus 的軟體。EnergyPlus 是可用於此工作的模擬引擎。</a:t>
            </a:r>
          </a:p>
          <a:p>
            <a:r>
              <a:t>報告範圍是理解這個介面如何運作，不在本次報告節能數據或完整實驗重現。來源：論文 Abstract、Introduction、Section 2。https://doi.org/10.1016/j.softx.2025.102367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13A46-9092-E58D-913B-C47E2836C1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8484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 全名 Model Context Protocol。它是一套協定，規範 client 與 server 如何初始化、描述能力、發現工具、發出呼叫與回傳結果。這次聚焦 tools 功能，並不表示 MCP 只有工具。</a:t>
            </a:r>
          </a:p>
          <a:p>
            <a:r>
              <a:t>MCP 本身不會接收使用者指令後自行推理；真正收送訊息的是 client 和 server。它也不是必須登入的網站或操作畫面。使用者介面由應用程式提供。</a:t>
            </a:r>
          </a:p>
          <a:p>
            <a:r>
              <a:t>來源：https://modelcontextprotocol.io/specification/2025-11-25/server/tools；https://modelcontextprotocol.io/specification/2025-11-25/basic/lifecycle。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先指左右兩個例子：左邊是假設的天氣 Server，右邊是論文的 EnergyPlus-MCP Server。為了保持範例短，使用 inspect_lights 檢查照明；modify_lights 也使用同一種呼叫結構，只是參數更多。</a:t>
            </a:r>
          </a:p>
          <a:p>
            <a:r>
              <a:t>兩者都用 method: tools/call，params 裡都放 name 和 arguments。不同的是工具名稱及領域參數。天氣工具需要城市，照明檢查需要模型路徑。Client 已各自連到對應 Server，並非將同一要求廣播給所有 Server。</a:t>
            </a:r>
          </a:p>
          <a:p>
            <a:r>
              <a:t>這就是共同通訊規範的具體意義：應用可用共同的訊息結構呼叫不同領域工具，但仍需理解各工具參數，亦不代表工具會自動互相合作。</a:t>
            </a:r>
          </a:p>
          <a:p>
            <a:r>
              <a:t>畫面是教學示意，省略 JSON-RPC 的 jsonrpc 與 id 欄位；不是封包擷取或本次執行紀錄。get_weather 是假想工具，inspect_lights 為作者實際工具，model.idf 是示意路徑。來源：MCP tools 規範；作者 server.py 的 inspect_lights。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1517-15E9-67B8-3E31-A565817E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837A8-B33E-1F9D-D572-0CFB0E06A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CA9D3-7542-6B61-86EE-50757AE7C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Host 是應用程式，並不是 LLM 本身。它整合互動、工具連線與執行流程；其中的 client 管理與 server 的 MCP 連線。Server 公開工具並執行要求。</a:t>
            </a:r>
          </a:p>
          <a:p>
            <a:r>
              <a:t>論文圖 1 將 IDE、AI 助手與新 BEM 應用概括放在 Clients 區塊。講解時可區分完整應用 Host 與內部連線元件 Client，避免把模型和應用混為一談。</a:t>
            </a:r>
          </a:p>
          <a:p>
            <a:r>
              <a:t>FastMCP 是作者用來建構 server 的框架。它負責協定與工具分派，modify_lights 等才是工具。來源：論文 Section 2.1、Fig.1；作者 server.py。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572D5-D16C-39FE-E3F5-4DCF2DDF05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4109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Host 是應用程式，並不是 LLM 本身。它整合互動、工具連線與執行流程；其中的 client 管理與 server 的 MCP 連線。Server 公開工具並執行要求。</a:t>
            </a:r>
          </a:p>
          <a:p>
            <a:r>
              <a:t>論文圖 1 將 IDE、AI 助手與新 BEM 應用概括放在 Clients 區塊。講解時可區分完整應用 Host 與內部連線元件 Client，避免把模型和應用混為一談。</a:t>
            </a:r>
          </a:p>
          <a:p>
            <a:r>
              <a:t>FastMCP 是作者用來建構 server 的框架。它負責協定與工具分派，modify_lights 等才是工具。來源：論文 Section 2.1、Fig.1；作者 server.py。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針對「Host 把結果交給 Client」這個說法，應修正成 Host 把工具呼叫要求交給 Client，其中包含工具名稱與參數。真正執行後的結果才由 Server 回傳。</a:t>
            </a:r>
          </a:p>
          <a:p>
            <a:r>
              <a:t>固定 Python 流程可以事先指定工具和參數。若整合 LLM，應用把使用者要求、工具描述與相關上下文提供給模型，讓模型提出工具與參數建議，再由 Host 按規則管理是否執行。不是只有一段 prompt 就必然知道所有工具，也不是模型直接操作 MCP 傳輸。</a:t>
            </a:r>
          </a:p>
          <a:p>
            <a:r>
              <a:t>來源：MCP tools 規範；本文的 AI 助手整合方式。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使用者可以用自然語言說：檢查 model.idf 的照明。Host 的固定程式或 LLM 準備工具名稱 inspect_lights，及參數 idf_path=model.idf。Host 再使用 MCP Client SDK 發送工具呼叫。</a:t>
            </a:r>
          </a:p>
          <a:p>
            <a:r>
              <a:t>左邊是操作內容，右邊是用於解釋的完整 JSON-RPC 請求示意。Client SDK 負責組成和序列化協定訊息，包含 jsonrpc、id、method 與 params。id=7 只是示意，實際由 SDK 管理；這不是封包擷取，也沒有重跑實驗。</a:t>
            </a:r>
          </a:p>
          <a:p>
            <a:r>
              <a:t>要區分兩種規格：工具參數應符合 inputSchema，MCP 訊息則需符合協定。Client 可以協助組訊息，但不會自動把不存在的模型路徑或錯誤工具選擇修正。Server 收到後仍會檢查與執行。</a:t>
            </a:r>
          </a:p>
          <a:p>
            <a:r>
              <a:t>來源：MCP tools 規範、本文 inspect_lights 工具、教學 ClientSession 呼叫方式。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EnergyPlus-MCP 是整個伺服器軟體的名稱，FastMCP 是它採用的框架。因此說 Server 收到要求，是從整體系統角度說；說 FastMCP 接收與解析，是指出具體負責這項工作的組件。不是先有另一個獨立 EnergyPlus-MCP 接收站，再轉送到外面的 FastMCP。</a:t>
            </a:r>
          </a:p>
          <a:p>
            <a:r>
              <a:t>Client 的 tools/call 進入 Server，FastMCP 的工具路由找到已註冊的 inspect_lights 函式，再交給 Manager 與領域程式讀 IDF，最後把結果經協定回傳。Server 的各組件並不是彼此都用 MCP 溝通；工具之後是一般 Python 呼叫。</a:t>
            </a:r>
          </a:p>
          <a:p>
            <a:r>
              <a:t>FastMCP 會處理協定與分派，但不負責理解所有建築物件或模擬物理。EnergyPlus 是模擬引擎；BEM 是建模與分析工作方法。來源：作者 server.py 的 FastMCP 初始化及 mcp.tool 註冊；論文 Fig.1、Section 2.1。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Client 先完成初始化，協商版本與能力。接著 tools/list 取得工具的名稱、描述和 inputSchema。這是描述工具如何使用，不是把工具原始碼下載回來。</a:t>
            </a:r>
          </a:p>
          <a:p>
            <a:r>
              <a:t>應用準備具體參數後，Client 用 tools/call 發送工具名稱與參數。Server 執行後回傳結果或錯誤資訊。這些名稱可以作為理解協定的標記，不必在這次報告逐行講 SDK。</a:t>
            </a:r>
          </a:p>
          <a:p>
            <a:r>
              <a:t>inputSchema 描述資料型別與格式，但無法單靠格式保證任務完成。來源：https://modelcontextprotocol.io/specification/2025-11-25/server/tools；https://modelcontextprotocol.io/specification/2025-11-25/basic/lifecycle。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EnergyPlus-MCP Server 與 EnergyPlus 引擎是分開的程式。FastMCP 和 EnergyPlusManager 在 Server 這一側，不是包含在 EnergyPlus 引擎內。</a:t>
            </a:r>
          </a:p>
          <a:p>
            <a:r>
              <a:t>模型檢查或修改可以由領域程式與 eppy 讀寫 IDF 完成。需要能耗計算時，Server 的模擬工具才啟動 EnergyPlus，提供模型與氣象資料，並取得執行狀態與輸出。</a:t>
            </a:r>
          </a:p>
          <a:p>
            <a:r>
              <a:t>這是責任區分，這次不展示模擬數值。論文的 orchestration layer 對應 Manager，tools layer 對應領域操作，integration layer 對應檔案與引擎整合。來源：論文 Section 2.1、Fig.1；作者 energyplus_tools.py。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收尾可以說：Host 準備工具與參數，Client 經 MCP 發送，Server 使用 FastMCP 分派，再由領域程式完成實際操作並回傳。MCP 的價值在共同工具介面，並不自動保證模型理解正確或工具操作成功。</a:t>
            </a:r>
          </a:p>
          <a:p>
            <a:r>
              <a:t>論文透過這套介面讓 AI 應用可以參與 EnergyPlus 工作流程。這次先理解機制；下次再用實作驗證呼叫、修改與讀回結果。此頁沒有宣稱本次完成新的實驗。</a:t>
            </a:r>
          </a:p>
          <a:p>
            <a:r>
              <a:t>主要來源：https://doi.org/10.1016/j.softx.2025.102367</a:t>
            </a:r>
          </a:p>
          <a:p>
            <a:r>
              <a:t>https://github.com/LBNL-ETA/EnergyPlus-MCP/tree/5a7d3bb1d2e537ba329d3412c8b79d22cedd7c70</a:t>
            </a:r>
          </a:p>
          <a:p>
            <a:r>
              <a:t>https://modelcontextprotocol.io/specification/2025-11-25/server/tools</a:t>
            </a:r>
          </a:p>
          <a:p>
            <a:r>
              <a:t>https://modelcontextprotocol.io/specification/2025-11-25/basic/lifecycle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EC7498E-A005-43DE-BAF9-CD5F2F9A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3E679B7-2F81-4EAD-9985-F1EF6BAAF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C5AF609-2EFD-458C-B132-984D8614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160D0A-696A-4DD8-8F0F-23CEA7B3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968F1C7-9918-46BB-B3F0-056AD23F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2A5A7CB-1CE3-48FD-8B08-0A9A92C0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274678E-EBB0-4CDE-864B-95F5185CE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6012BDA-57CB-4FAA-8196-550330032F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A324B2-CBB0-4502-992E-275C9D29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181E29F-9287-4730-B06B-A702811B5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DE8775A-600E-4DC2-BB78-925CC97EC01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PAPER PRESENTATION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33B694-88AF-49EB-A79D-6C389DEE48C9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EnergyPlus-MCP: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ECDC5-7E12-4916-B191-975E34125E93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A model-context-protocol server</a:t>
            </a:r>
          </a:p>
          <a:p>
            <a:pPr>
              <a:def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for ai-driven building energy modeling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B1E1C5-F36C-4FBA-B529-3BF11E36E69A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Han Li, Yujie Xu, Tianzhen Hong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2D503-5183-40CD-907E-1091B813A281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SoftwareX 32 (2025), 102367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FF05B8-701E-463E-BB29-F902BD596E9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DOI: 10.1016/j.softx.2025.102367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995D5F-1058-41B9-B443-00B3C36B680D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1542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10D5713-8737-4982-9B18-46BE1C7BF01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01  /  研究背景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9E7D3-5F2A-44EE-A8FA-8176FC47D99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論文要改善的操作流程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953776-1DE4-4A9F-AA0B-424A447000F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FEF297-0319-49E9-B88E-2610552B2E3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5E1640-051C-4DF4-87DD-CBD5507920E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BEM：建立建築模型，分析能源使用的工作與方法。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D3266-544F-4097-B44C-0354F727D336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EnergyPlus：執行建築能源模擬的引擎。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4EA58F-4514-41F7-9DBA-104CE9EB1742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EnergyPlus-MCP：將模型操作與模擬公開為工具。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717B7C-B5DF-4ED1-84D1-16D15E8AFABF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本文關注 AI 應用如何操作既有專業軟體。</a:t>
            </a:r>
          </a:p>
        </p:txBody>
      </p:sp>
    </p:spTree>
    <p:extLst>
      <p:ext uri="{BB962C8B-B14F-4D97-AF65-F5344CB8AC3E}">
        <p14:creationId xmlns:p14="http://schemas.microsoft.com/office/powerpoint/2010/main" val="97417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1CCB5-8A43-8D58-D81C-A34A11EC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1948243-D986-643A-4671-6587A3805AC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01  /  研究背景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79741A-347F-4538-C6C1-0D9012A2179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200"/>
              <a:t>動機與方法</a:t>
            </a:r>
            <a:endParaRPr lang="zh-TW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6FAF38-1B9A-B278-3A8A-8F30BA46CEA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E51FEA-9F2C-6C71-66D8-FBD7D1579711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0D0FD6-A1B3-9DA8-A9A4-3B254E189896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00"/>
              <a:t>動機: 讓 AI 應用標準化工具去執行模擬建築能耗</a:t>
            </a:r>
            <a:endParaRPr lang="zh-TW" altLang="en-US" sz="2300" dirty="0"/>
          </a:p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 altLang="en-US" sz="2300" dirty="0"/>
          </a:p>
          <a:p>
            <a:pPr>
              <a:defRPr sz="23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00"/>
              <a:t>方法:使用 MCP 協定與Energyplus-MCP提出請求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3191EA-B115-4A15-F689-500C60FAD3CE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本文關注 AI 應用如何操作既有專業軟體。</a:t>
            </a:r>
          </a:p>
        </p:txBody>
      </p:sp>
    </p:spTree>
    <p:extLst>
      <p:ext uri="{BB962C8B-B14F-4D97-AF65-F5344CB8AC3E}">
        <p14:creationId xmlns:p14="http://schemas.microsoft.com/office/powerpoint/2010/main" val="159551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D7850A-5C8B-449E-B6B4-9D070594A3C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02  /  MODEL CONTEXT PROTOCOL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F8B5D9-B1DB-4D04-B69A-19910B4D833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MCP 提供共同的通訊規範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466BDB-BF58-4A48-8630-2B28D45D87E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798D46-4BAD-4253-98B7-74E865827FA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ECC608-3084-4157-B5B7-F0FD94B29BDC}"/>
              </a:ext>
            </a:extLst>
          </p:cNvPr>
          <p:cNvGraphicFramePr/>
          <p:nvPr/>
        </p:nvGraphicFramePr>
        <p:xfrm>
          <a:off x="609600" y="2000250"/>
          <a:ext cx="10972800" cy="304800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共同規範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解決的問題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初始化與能力交換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雙方支援什麼？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工具描述與參數格式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有哪些工具？需要哪些資料？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工具呼叫與結果回傳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如何發送要求、取得回覆？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D3FE244-C26C-418E-A2B5-75E0FC8F54AA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統一通訊方式；各領域工具仍有自己的參數與實作。</a:t>
            </a:r>
          </a:p>
        </p:txBody>
      </p:sp>
    </p:spTree>
    <p:extLst>
      <p:ext uri="{BB962C8B-B14F-4D97-AF65-F5344CB8AC3E}">
        <p14:creationId xmlns:p14="http://schemas.microsoft.com/office/powerpoint/2010/main" val="205599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300AAF-55A2-4117-913B-6EEC1287C97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具體例子  /  tools/call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8F744-2D28-4F31-8A22-F52D63A127E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共同規範的例子：不同工具，相同呼叫結構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CBE85-847C-462D-BEC2-EA060F6DCAC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示意：省略 JSON-RPC 的 jsonrpc、id；天氣工具為假想例子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73BE9-C669-4800-97C5-1CF6DABBD1D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209EF-8053-4BB1-BA5C-ADF602B7046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天氣 Server：查詢城市天氣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BD55DB-4B4F-4520-A2D5-3C5183A023A6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2959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EnergyPlus-MCP：檢查模型照明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0A1C44-5561-47C3-84E7-22EEF8E9F836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相同：method、name、arguments 結構；不同：工具名稱與參數內容。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FE87B20-AFDC-71A3-E9CB-EBC2AD5D2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28" y="2399840"/>
            <a:ext cx="1019175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DA7AE-940A-EDB0-404C-AE1565F3D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5AAAE1-8CDA-FA69-A344-C07ACA240B5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03  /  系統角色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C1606B-F8EB-E1B5-389F-309B41A3762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50D40F9-6D53-5525-F66E-E60F47EF9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260852"/>
            <a:ext cx="637222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9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9C0861E-B2CA-4078-87B7-2E83CACC4B2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03  /  系統角色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86355E-3ABA-48DE-AF54-E6D0DD61AAE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Host、Client、Server 的分工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71049C-80B5-43A0-9A59-1A23BA3429E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59BFD4-B987-46E6-AC5C-B4FBE34519E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CBF6E4-1405-4F7D-B556-229C1313EA5F}"/>
              </a:ext>
            </a:extLst>
          </p:cNvPr>
          <p:cNvGraphicFramePr/>
          <p:nvPr/>
        </p:nvGraphicFramePr>
        <p:xfrm>
          <a:off x="609600" y="1952625"/>
          <a:ext cx="10972800" cy="3286125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元件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負責的工作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Host：應用程式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安排任務、管理執行，可整合 LLM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Client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按協定發送要求、接收回覆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Server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公開工具並執行操作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FastMCP：Server 內的框架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 MCP 通訊、註冊與分派工具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51ED66B-20CA-4DFD-BC43-2331A367C88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Host 使用 Client 連到 Server，LLM 可參與 Host 的決策流程。</a:t>
            </a:r>
          </a:p>
        </p:txBody>
      </p:sp>
    </p:spTree>
    <p:extLst>
      <p:ext uri="{BB962C8B-B14F-4D97-AF65-F5344CB8AC3E}">
        <p14:creationId xmlns:p14="http://schemas.microsoft.com/office/powerpoint/2010/main" val="100451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92B7706-92EC-4E21-B6C9-AE99CA15639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04  /  決策與執行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4A648-89E7-4528-9E52-E38DB69C470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Host 準備的是工具呼叫要求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5D5DA-2698-4D62-B576-C6E0E6DD954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545351-74FA-4581-80F9-D1F6E137522B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C11BA37-2A94-4FA1-B1AE-13A478B765B7}"/>
              </a:ext>
            </a:extLst>
          </p:cNvPr>
          <p:cNvGraphicFramePr/>
          <p:nvPr/>
        </p:nvGraphicFramePr>
        <p:xfrm>
          <a:off x="609600" y="2000250"/>
          <a:ext cx="10972800" cy="223837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決策方式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工具與參數如何產生？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 Python 流程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由程式指定步驟、計算參數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 LLM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模型依要求與工具描述提出呼叫建議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CCC528E-2311-4C28-963A-77E516B0552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交給 Client 的內容：工具名稱 ＋ 參數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2198CE-DAF0-454A-9D1F-232E403EADAB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Client 發送要求，Server 執行後才產生結果。</a:t>
            </a:r>
          </a:p>
        </p:txBody>
      </p:sp>
    </p:spTree>
    <p:extLst>
      <p:ext uri="{BB962C8B-B14F-4D97-AF65-F5344CB8AC3E}">
        <p14:creationId xmlns:p14="http://schemas.microsoft.com/office/powerpoint/2010/main" val="173718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2C4C99-659F-426F-8FAD-A75ABFC8A73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具體例子  /  HOST 與 CLIENT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630231-3817-4C3C-A3C0-121B4EBB9DD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 dirty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誰把要求變成 MCP </a:t>
            </a:r>
            <a:r>
              <a:rPr sz="3200" b="1" dirty="0" err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訊息</a:t>
            </a:r>
            <a:r>
              <a:rPr sz="3200" b="1" dirty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654E7-3453-418E-BA6B-A39722AEF2C8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53FF9-1E46-4B5B-9D69-64E5AEE882B4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50" b="1" dirty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Host </a:t>
            </a:r>
            <a:r>
              <a:rPr lang="zh-TW" sz="2150" dirty="0"/>
              <a:t>端</a:t>
            </a:r>
            <a:r>
              <a:rPr lang="en-US" altLang="zh-TW" sz="2150" dirty="0"/>
              <a:t>(由 LLM </a:t>
            </a:r>
            <a:r>
              <a:rPr lang="en-US" altLang="zh-TW" sz="2150" dirty="0" err="1"/>
              <a:t>協助</a:t>
            </a:r>
            <a:r>
              <a:rPr lang="en-US" altLang="zh-TW" sz="2150" dirty="0"/>
              <a:t>)</a:t>
            </a:r>
            <a:endParaRPr lang="zh-TW" altLang="en-US" sz="2150" b="1" dirty="0">
              <a:solidFill>
                <a:srgbClr val="007C8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CCFABC-B5FD-419F-B05D-8260512547AB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使用者：檢查模型照明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50E1D-229B-4E43-B737-60F536A38FA1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工具：inspect_lights</a:t>
            </a:r>
          </a:p>
          <a:p>
            <a:pPr>
              <a:def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參數：idf_path = model.idf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746389-EDFE-495E-BC3E-7885D3D29300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工具參數需符合</a:t>
            </a:r>
          </a:p>
          <a:p>
            <a:pPr>
              <a:def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工具的 inputSchema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40732-0BC6-4D53-8911-F5F7AEAFAA2A}"/>
              </a:ext>
            </a:extLst>
          </p:cNvPr>
          <p:cNvSpPr>
            <a:spLocks noGrp="1"/>
          </p:cNvSpPr>
          <p:nvPr/>
        </p:nvSpPr>
        <p:spPr>
          <a:xfrm>
            <a:off x="5334000" y="1905000"/>
            <a:ext cx="6248400" cy="4286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150"/>
              <a:t>MCP Client</a:t>
            </a:r>
            <a:r>
              <a:rPr lang="zh-TW" altLang="af-ZA" sz="2150"/>
              <a:t>處理後</a:t>
            </a:r>
            <a:endParaRPr lang="zh-TW" sz="2150" b="1" dirty="0">
              <a:solidFill>
                <a:srgbClr val="007C8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A60F0A-2CE2-41FE-88EF-8FD4BD0CCBE5}"/>
              </a:ext>
            </a:extLst>
          </p:cNvPr>
          <p:cNvSpPr>
            <a:spLocks noGrp="1"/>
          </p:cNvSpPr>
          <p:nvPr/>
        </p:nvSpPr>
        <p:spPr>
          <a:xfrm>
            <a:off x="5334000" y="2428875"/>
            <a:ext cx="6248400" cy="2905125"/>
          </a:xfrm>
          <a:prstGeom prst="rect">
            <a:avLst/>
          </a:prstGeom>
          <a:solidFill>
            <a:srgbClr val="EEF5F6"/>
          </a:solidFill>
          <a:ln w="0">
            <a:noFill/>
          </a:ln>
        </p:spPr>
        <p:txBody>
          <a:bodyPr/>
          <a:lstStyle>
            <a:def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"jsonrpc": "2.0",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"id": 7,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"method": "tools/call",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"params": {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"name": "inspect_lights",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"arguments": {"idf_path": "model.idf"}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>
              <a:defRPr sz="18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55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CDF22DD-6E96-4394-9411-07F2ED523AA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具體例子  /  SERVER 與框架的關係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A5659-77DF-432A-83B7-5BA2BDB0D07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FastMCP 就在 Server 內，負責協定入口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47BD1E-73F9-4AF9-A97A-2AABBBC0D0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C17F2-47BF-4EA1-A4E9-1240D9EA810B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FD9F66-A873-4731-9901-F89203A078BC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Client 傳來 tools/call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D9C2E69-2A17-47FC-B6DD-0372FFF15DE7}"/>
              </a:ext>
            </a:extLst>
          </p:cNvPr>
          <p:cNvSpPr>
            <a:spLocks noGrp="1"/>
          </p:cNvSpPr>
          <p:nvPr/>
        </p:nvSpPr>
        <p:spPr>
          <a:xfrm>
            <a:off x="1333500" y="2543175"/>
            <a:ext cx="209550" cy="457200"/>
          </a:xfrm>
          <a:prstGeom prst="downArrow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99362-0ABD-432E-AB1A-0F47F374E4ED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972800" cy="2190750"/>
          </a:xfrm>
          <a:prstGeom prst="rect">
            <a:avLst/>
          </a:prstGeom>
          <a:solidFill>
            <a:srgbClr val="F8FAFB"/>
          </a:solidFill>
          <a:ln w="19050">
            <a:solidFill>
              <a:srgbClr val="ADC2C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BBBDC-3D4C-4256-8B43-6FE1F7B6EBF4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EnergyPlus-MCP Server：整個伺服器軟體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2B6B8-76A3-44E8-9F6D-197113642E16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3048000" cy="904875"/>
          </a:xfrm>
          <a:prstGeom prst="rect">
            <a:avLst/>
          </a:prstGeom>
          <a:solidFill>
            <a:srgbClr val="EEF5F6"/>
          </a:solidFill>
          <a:ln w="19050">
            <a:solidFill>
              <a:srgbClr val="007C83"/>
            </a:solidFill>
            <a:prstDash val="solid"/>
          </a:ln>
        </p:spPr>
        <p:txBody>
          <a:bodyPr anchor="ctr"/>
          <a:lstStyle>
            <a:def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FastMCP</a:t>
            </a:r>
          </a:p>
          <a:p>
            <a:pPr algn="ctr">
              <a:def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接收、解析與分派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6E3B22E-B8E6-4509-9E1F-09C9F0489A49}"/>
              </a:ext>
            </a:extLst>
          </p:cNvPr>
          <p:cNvSpPr>
            <a:spLocks noGrp="1"/>
          </p:cNvSpPr>
          <p:nvPr/>
        </p:nvSpPr>
        <p:spPr>
          <a:xfrm>
            <a:off x="4048125" y="4305300"/>
            <a:ext cx="523875" cy="190500"/>
          </a:xfrm>
          <a:prstGeom prst="rightArrow">
            <a:avLst/>
          </a:prstGeom>
          <a:solidFill>
            <a:srgbClr val="4D6475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1DAEF0-DCDD-42C7-9DEF-D1B609C76BE0}"/>
              </a:ext>
            </a:extLst>
          </p:cNvPr>
          <p:cNvSpPr>
            <a:spLocks noGrp="1"/>
          </p:cNvSpPr>
          <p:nvPr/>
        </p:nvSpPr>
        <p:spPr>
          <a:xfrm>
            <a:off x="4714875" y="3952875"/>
            <a:ext cx="2857500" cy="904875"/>
          </a:xfrm>
          <a:prstGeom prst="rect">
            <a:avLst/>
          </a:prstGeom>
          <a:solidFill>
            <a:srgbClr val="EEF5F6"/>
          </a:solidFill>
          <a:ln w="19050">
            <a:solidFill>
              <a:srgbClr val="007C83"/>
            </a:solidFill>
            <a:prstDash val="solid"/>
          </a:ln>
        </p:spPr>
        <p:txBody>
          <a:bodyPr anchor="ctr"/>
          <a:lstStyle>
            <a:def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inspect_lights</a:t>
            </a:r>
          </a:p>
          <a:p>
            <a: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已註冊的工具函式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68FF9F3-ABA1-4FF2-AA68-7F94D98422F9}"/>
              </a:ext>
            </a:extLst>
          </p:cNvPr>
          <p:cNvSpPr>
            <a:spLocks noGrp="1"/>
          </p:cNvSpPr>
          <p:nvPr/>
        </p:nvSpPr>
        <p:spPr>
          <a:xfrm>
            <a:off x="7715250" y="4305300"/>
            <a:ext cx="523875" cy="190500"/>
          </a:xfrm>
          <a:prstGeom prst="rightArrow">
            <a:avLst/>
          </a:prstGeom>
          <a:solidFill>
            <a:srgbClr val="4D6475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1BF26-19FF-49C4-8193-EB76111A93DF}"/>
              </a:ext>
            </a:extLst>
          </p:cNvPr>
          <p:cNvSpPr>
            <a:spLocks noGrp="1"/>
          </p:cNvSpPr>
          <p:nvPr/>
        </p:nvSpPr>
        <p:spPr>
          <a:xfrm>
            <a:off x="8382000" y="3952875"/>
            <a:ext cx="2952750" cy="904875"/>
          </a:xfrm>
          <a:prstGeom prst="rect">
            <a:avLst/>
          </a:prstGeom>
          <a:solidFill>
            <a:srgbClr val="EEF5F6"/>
          </a:solidFill>
          <a:ln w="19050">
            <a:solidFill>
              <a:srgbClr val="007C83"/>
            </a:solidFill>
            <a:prstDash val="solid"/>
          </a:ln>
        </p:spPr>
        <p:txBody>
          <a:bodyPr anchor="ctr"/>
          <a:lstStyle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Manager／領域程式</a:t>
            </a:r>
          </a:p>
          <a:p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讀取 IDF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25EA88-280B-4644-BF58-5AC688D62153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「Server 收到要求」是整體描述；FastMCP 是處理入口的框架。</a:t>
            </a:r>
          </a:p>
        </p:txBody>
      </p:sp>
    </p:spTree>
    <p:extLst>
      <p:ext uri="{BB962C8B-B14F-4D97-AF65-F5344CB8AC3E}">
        <p14:creationId xmlns:p14="http://schemas.microsoft.com/office/powerpoint/2010/main" val="12465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8302D05-6931-45F8-A4BB-23FA852BF14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05  /  MCP 互動順序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86291C-8E41-4742-BD89-31D65D309D46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先發現工具，再呼叫工具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39DC1C-F698-4341-8658-5C550784462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76B1DB-C898-4425-9052-1073A953307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C08F0-59F3-4644-B994-9592C8703A6F}"/>
              </a:ext>
            </a:extLst>
          </p:cNvPr>
          <p:cNvGraphicFramePr/>
          <p:nvPr/>
        </p:nvGraphicFramePr>
        <p:xfrm>
          <a:off x="609600" y="1952625"/>
          <a:ext cx="10972800" cy="3381378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次序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initialize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協商版本與能力，完成初始化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tools/list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取得工具名稱、描述與參數格式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應用準備要求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選工具、組參數；屬於本地決策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tools/call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透過 MCP 發送工具呼叫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Server 回覆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回傳執行結果或錯誤資訊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80F59FB-6464-4D5A-A54F-4507316612E3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MCP 傳送工具描述、要求與回覆；決策由應用管理。</a:t>
            </a:r>
          </a:p>
        </p:txBody>
      </p:sp>
    </p:spTree>
    <p:extLst>
      <p:ext uri="{BB962C8B-B14F-4D97-AF65-F5344CB8AC3E}">
        <p14:creationId xmlns:p14="http://schemas.microsoft.com/office/powerpoint/2010/main" val="181968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71BAAAB-7764-4DA8-A1DD-69563D5C19B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07  /  SERVER 與模擬引擎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745B46-3E2B-4DB2-A903-BABCEAA9BE0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 引擎何時參與？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BE3920-B9CC-4E17-AE20-59A14F7D541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概念與論文架構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9CBAD1-3548-4D00-A22A-F455952BF90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4FFA39-D2CB-4B81-A393-0F4AAAE64C10}"/>
              </a:ext>
            </a:extLst>
          </p:cNvPr>
          <p:cNvGraphicFramePr/>
          <p:nvPr/>
        </p:nvGraphicFramePr>
        <p:xfrm>
          <a:off x="609600" y="2095500"/>
          <a:ext cx="10972800" cy="2333625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任務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實際執行者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檢查、修改、儲存 IDF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Server 的工具、Manager 與 eppy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計算建築能源使用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Server 啟動 EnergyPlus 模擬引擎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4B32BFC-9207-4C3B-8B86-C5B81058ACA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EnergyPlus-MCP Server 與 EnergyPlus 引擎是分開的程式。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E904D6-8F93-42F7-A505-5BC061D325D9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改模型與執行模擬是不同操作。</a:t>
            </a:r>
          </a:p>
        </p:txBody>
      </p:sp>
    </p:spTree>
    <p:extLst>
      <p:ext uri="{BB962C8B-B14F-4D97-AF65-F5344CB8AC3E}">
        <p14:creationId xmlns:p14="http://schemas.microsoft.com/office/powerpoint/2010/main" val="75411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DB2DCC2-07EF-47B5-8AA8-0B63731089C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1" dirty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08  /  </a:t>
            </a:r>
            <a:r>
              <a:rPr sz="1400" b="1" dirty="0" err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概念整理</a:t>
            </a:r>
            <a:endParaRPr lang="zh-TW" altLang="en-US" sz="1400" b="1" dirty="0">
              <a:solidFill>
                <a:srgbClr val="007C8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5CF659-FFA2-43B3-B1BD-68D90587EA6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 dirty="0" err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本次理解：誰決定、誰傳送、誰執行</a:t>
            </a:r>
            <a:endParaRPr lang="zh-TW" altLang="en-US" sz="3200" b="1">
              <a:solidFill>
                <a:srgbClr val="132C44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61AC60-8912-4479-8860-10258681640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 err="1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</a:t>
            </a:r>
            <a:r>
              <a:rPr sz="1200" b="0" dirty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-MCP  ·  MCP </a:t>
            </a:r>
            <a:r>
              <a:rPr sz="1200" b="0" dirty="0" err="1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概念與論文架構</a:t>
            </a:r>
            <a:endParaRPr lang="zh-TW" altLang="en-US" sz="1200" b="0" dirty="0">
              <a:solidFill>
                <a:srgbClr val="4D647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7925F1-5A17-4040-ACBE-B48F774CF93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21F9C80-06AB-405A-B4BE-E77279FB2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50571"/>
              </p:ext>
            </p:extLst>
          </p:nvPr>
        </p:nvGraphicFramePr>
        <p:xfrm>
          <a:off x="609600" y="1952625"/>
          <a:ext cx="10972800" cy="323850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責任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誰決定工具與參數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Host </a:t>
                      </a:r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的程式，或由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LLM </a:t>
                      </a:r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協助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誰傳送要求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</a:t>
                      </a:r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Client，遵循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MCP </a:t>
                      </a:r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協定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誰執行操作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Server </a:t>
                      </a:r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的工具與領域程式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誰檢查結果是否符合任務</a:t>
                      </a:r>
                      <a:r>
                        <a:rPr sz="1950" b="0" dirty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應用與使用者，必要時讀回產物</a:t>
                      </a:r>
                    </a:p>
                  </a:txBody>
                  <a:tcPr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04D7D2F-AA4D-4E2E-A9BC-636709512C58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本次聚焦概念；下次再說明程式、操作與驗證</a:t>
            </a:r>
            <a:r>
              <a:rPr sz="2000" b="1" dirty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48703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寬螢幕</PresentationFormat>
  <Slides>13</Slides>
  <Notes>13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59</cp:revision>
  <dcterms:created xsi:type="dcterms:W3CDTF">2026-10-19T03:31:17Z</dcterms:created>
  <dcterms:modified xsi:type="dcterms:W3CDTF">2026-10-19T04:53:05Z</dcterms:modified>
</cp:coreProperties>
</file>