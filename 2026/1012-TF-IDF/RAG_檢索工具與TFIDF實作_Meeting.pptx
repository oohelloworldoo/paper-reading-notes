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ddf8a539ba24800" /><Relationship Type="http://schemas.openxmlformats.org/officeDocument/2006/relationships/extended-properties" Target="/docProps/app.xml" Id="Rdff86f4aac3b480c" /><Relationship Type="http://schemas.openxmlformats.org/officeDocument/2006/relationships/officeDocument" Target="/ppt/presentation.xml" Id="R5244304e0c5e443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2e917f164694c62"/>
  </p:sldMasterIdLst>
  <p:notesMasterIdLst>
    <p:notesMasterId xmlns:r="http://schemas.openxmlformats.org/officeDocument/2006/relationships" r:id="R357f189e52fc4957"/>
  </p:notesMasterIdLst>
  <p:sldIdLst>
    <p:sldId xmlns:r="http://schemas.openxmlformats.org/officeDocument/2006/relationships" id="256" r:id="Ref5ade4d9d034a11"/>
    <p:sldId xmlns:r="http://schemas.openxmlformats.org/officeDocument/2006/relationships" id="257" r:id="Raf2eb291a3554b8c"/>
    <p:sldId xmlns:r="http://schemas.openxmlformats.org/officeDocument/2006/relationships" id="258" r:id="Rbce5da24b4e74172"/>
    <p:sldId xmlns:r="http://schemas.openxmlformats.org/officeDocument/2006/relationships" id="259" r:id="R02ee46c688e54b65"/>
    <p:sldId xmlns:r="http://schemas.openxmlformats.org/officeDocument/2006/relationships" id="260" r:id="Rc23300faedce4e5d"/>
    <p:sldId xmlns:r="http://schemas.openxmlformats.org/officeDocument/2006/relationships" id="261" r:id="Ree56e9110c3a44f4"/>
    <p:sldId xmlns:r="http://schemas.openxmlformats.org/officeDocument/2006/relationships" id="262" r:id="R5be09f154b7b46ac"/>
    <p:sldId xmlns:r="http://schemas.openxmlformats.org/officeDocument/2006/relationships" id="263" r:id="R5b6e69747b744b86"/>
    <p:sldId xmlns:r="http://schemas.openxmlformats.org/officeDocument/2006/relationships" id="264" r:id="R3932124d01584253"/>
    <p:sldId xmlns:r="http://schemas.openxmlformats.org/officeDocument/2006/relationships" id="265" r:id="R7e48fe8c85f24cf8"/>
    <p:sldId xmlns:r="http://schemas.openxmlformats.org/officeDocument/2006/relationships" id="266" r:id="Rc1ba362770b64f4b"/>
    <p:sldId xmlns:r="http://schemas.openxmlformats.org/officeDocument/2006/relationships" id="267" r:id="Rb76d3fedde1d41ed"/>
    <p:sldId xmlns:r="http://schemas.openxmlformats.org/officeDocument/2006/relationships" id="268" r:id="R10da3b6d6d1940ce"/>
    <p:sldId xmlns:r="http://schemas.openxmlformats.org/officeDocument/2006/relationships" id="269" r:id="Rf65339dca5df4a4f"/>
    <p:sldId xmlns:r="http://schemas.openxmlformats.org/officeDocument/2006/relationships" id="270" r:id="R6cad86cd896646b8"/>
    <p:sldId xmlns:r="http://schemas.openxmlformats.org/officeDocument/2006/relationships" id="271" r:id="R21e99c0c36c44756"/>
    <p:sldId xmlns:r="http://schemas.openxmlformats.org/officeDocument/2006/relationships" id="272" r:id="Rf31b466b33bd4c9e"/>
    <p:sldId xmlns:r="http://schemas.openxmlformats.org/officeDocument/2006/relationships" id="273" r:id="R4212aed19e714b4b"/>
    <p:sldId xmlns:r="http://schemas.openxmlformats.org/officeDocument/2006/relationships" id="274" r:id="R0b9bc2c8b25f418d"/>
    <p:sldId xmlns:r="http://schemas.openxmlformats.org/officeDocument/2006/relationships" id="275" r:id="R647eeaf14e1649b1"/>
    <p:sldId xmlns:r="http://schemas.openxmlformats.org/officeDocument/2006/relationships" id="276" r:id="R870e31065d0444e5"/>
    <p:sldId xmlns:r="http://schemas.openxmlformats.org/officeDocument/2006/relationships" id="277" r:id="R6ec07fdc38b54f0a"/>
    <p:sldId xmlns:r="http://schemas.openxmlformats.org/officeDocument/2006/relationships" id="278" r:id="R06269888f4004032"/>
    <p:sldId xmlns:r="http://schemas.openxmlformats.org/officeDocument/2006/relationships" id="279" r:id="R3ed328c57e1e4b6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ebb8f5e8bd44e94" /><Relationship Type="http://schemas.openxmlformats.org/officeDocument/2006/relationships/slideMaster" Target="/ppt/slideMasters/slideMaster1.xml" Id="Rc2e917f164694c62" /><Relationship Type="http://schemas.openxmlformats.org/officeDocument/2006/relationships/notesMaster" Target="/ppt/notesMasters/notesMaster1.xml" Id="R357f189e52fc4957" /><Relationship Type="http://schemas.openxmlformats.org/officeDocument/2006/relationships/presProps" Target="/ppt/presProps.xml" Id="R3862fa3aa1ac49e4" /><Relationship Type="http://schemas.openxmlformats.org/officeDocument/2006/relationships/tableStyles" Target="/ppt/tableStyles.xml" Id="R6f87cdbcb36046ba" /><Relationship Type="http://schemas.openxmlformats.org/officeDocument/2006/relationships/slide" Target="/ppt/slides/slide1.xml" Id="Ref5ade4d9d034a11" /><Relationship Type="http://schemas.openxmlformats.org/officeDocument/2006/relationships/slide" Target="/ppt/slides/slide2.xml" Id="Raf2eb291a3554b8c" /><Relationship Type="http://schemas.openxmlformats.org/officeDocument/2006/relationships/slide" Target="/ppt/slides/slide3.xml" Id="Rbce5da24b4e74172" /><Relationship Type="http://schemas.openxmlformats.org/officeDocument/2006/relationships/slide" Target="/ppt/slides/slide4.xml" Id="R02ee46c688e54b65" /><Relationship Type="http://schemas.openxmlformats.org/officeDocument/2006/relationships/slide" Target="/ppt/slides/slide5.xml" Id="Rc23300faedce4e5d" /><Relationship Type="http://schemas.openxmlformats.org/officeDocument/2006/relationships/slide" Target="/ppt/slides/slide6.xml" Id="Ree56e9110c3a44f4" /><Relationship Type="http://schemas.openxmlformats.org/officeDocument/2006/relationships/slide" Target="/ppt/slides/slide7.xml" Id="R5be09f154b7b46ac" /><Relationship Type="http://schemas.openxmlformats.org/officeDocument/2006/relationships/slide" Target="/ppt/slides/slide8.xml" Id="R5b6e69747b744b86" /><Relationship Type="http://schemas.openxmlformats.org/officeDocument/2006/relationships/slide" Target="/ppt/slides/slide9.xml" Id="R3932124d01584253" /><Relationship Type="http://schemas.openxmlformats.org/officeDocument/2006/relationships/slide" Target="/ppt/slides/slide10.xml" Id="R7e48fe8c85f24cf8" /><Relationship Type="http://schemas.openxmlformats.org/officeDocument/2006/relationships/slide" Target="/ppt/slides/slide11.xml" Id="Rc1ba362770b64f4b" /><Relationship Type="http://schemas.openxmlformats.org/officeDocument/2006/relationships/slide" Target="/ppt/slides/slide12.xml" Id="Rb76d3fedde1d41ed" /><Relationship Type="http://schemas.openxmlformats.org/officeDocument/2006/relationships/slide" Target="/ppt/slides/slide13.xml" Id="R10da3b6d6d1940ce" /><Relationship Type="http://schemas.openxmlformats.org/officeDocument/2006/relationships/slide" Target="/ppt/slides/slide14.xml" Id="Rf65339dca5df4a4f" /><Relationship Type="http://schemas.openxmlformats.org/officeDocument/2006/relationships/slide" Target="/ppt/slides/slide15.xml" Id="R6cad86cd896646b8" /><Relationship Type="http://schemas.openxmlformats.org/officeDocument/2006/relationships/slide" Target="/ppt/slides/slide16.xml" Id="R21e99c0c36c44756" /><Relationship Type="http://schemas.openxmlformats.org/officeDocument/2006/relationships/slide" Target="/ppt/slides/slide17.xml" Id="Rf31b466b33bd4c9e" /><Relationship Type="http://schemas.openxmlformats.org/officeDocument/2006/relationships/slide" Target="/ppt/slides/slide18.xml" Id="R4212aed19e714b4b" /><Relationship Type="http://schemas.openxmlformats.org/officeDocument/2006/relationships/slide" Target="/ppt/slides/slide19.xml" Id="R0b9bc2c8b25f418d" /><Relationship Type="http://schemas.openxmlformats.org/officeDocument/2006/relationships/slide" Target="/ppt/slides/slide20.xml" Id="R647eeaf14e1649b1" /><Relationship Type="http://schemas.openxmlformats.org/officeDocument/2006/relationships/slide" Target="/ppt/slides/slide21.xml" Id="R870e31065d0444e5" /><Relationship Type="http://schemas.openxmlformats.org/officeDocument/2006/relationships/slide" Target="/ppt/slides/slide22.xml" Id="R6ec07fdc38b54f0a" /><Relationship Type="http://schemas.openxmlformats.org/officeDocument/2006/relationships/slide" Target="/ppt/slides/slide23.xml" Id="R06269888f4004032" /><Relationship Type="http://schemas.openxmlformats.org/officeDocument/2006/relationships/slide" Target="/ppt/slides/slide24.xml" Id="R3ed328c57e1e4b6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70c29e1f8244c5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62473b5bea64ebc" /><Relationship Type="http://schemas.openxmlformats.org/officeDocument/2006/relationships/notesMaster" Target="/ppt/notesMasters/notesMaster1.xml" Id="R1f96bc7e7aea463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82caaa9cb6c4f01" /><Relationship Type="http://schemas.openxmlformats.org/officeDocument/2006/relationships/notesMaster" Target="/ppt/notesMasters/notesMaster1.xml" Id="R895d2bd4a4a749f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31955092fe94f93" /><Relationship Type="http://schemas.openxmlformats.org/officeDocument/2006/relationships/notesMaster" Target="/ppt/notesMasters/notesMaster1.xml" Id="R2c7879de7c874e2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74f14010fc94527" /><Relationship Type="http://schemas.openxmlformats.org/officeDocument/2006/relationships/notesMaster" Target="/ppt/notesMasters/notesMaster1.xml" Id="Ra30214e147a646f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65977c2bb7f4b5c" /><Relationship Type="http://schemas.openxmlformats.org/officeDocument/2006/relationships/notesMaster" Target="/ppt/notesMasters/notesMaster1.xml" Id="R5f0e9cc30a2f460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cd108eb04da4361" /><Relationship Type="http://schemas.openxmlformats.org/officeDocument/2006/relationships/notesMaster" Target="/ppt/notesMasters/notesMaster1.xml" Id="Rbec9fabdd1d94ed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febbb7283e2469e" /><Relationship Type="http://schemas.openxmlformats.org/officeDocument/2006/relationships/notesMaster" Target="/ppt/notesMasters/notesMaster1.xml" Id="R0c29e96a45714d8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d38fec3f88e4dc9" /><Relationship Type="http://schemas.openxmlformats.org/officeDocument/2006/relationships/notesMaster" Target="/ppt/notesMasters/notesMaster1.xml" Id="R05f413ac07584a1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0c067b7c6064e29" /><Relationship Type="http://schemas.openxmlformats.org/officeDocument/2006/relationships/notesMaster" Target="/ppt/notesMasters/notesMaster1.xml" Id="R06ac50b7479d450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bc07266971647bf" /><Relationship Type="http://schemas.openxmlformats.org/officeDocument/2006/relationships/notesMaster" Target="/ppt/notesMasters/notesMaster1.xml" Id="R31ccfe7a31684e2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ee93e2e60364cfe" /><Relationship Type="http://schemas.openxmlformats.org/officeDocument/2006/relationships/notesMaster" Target="/ppt/notesMasters/notesMaster1.xml" Id="R34697e2e28d84ba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a78955a7e3442c7" /><Relationship Type="http://schemas.openxmlformats.org/officeDocument/2006/relationships/notesMaster" Target="/ppt/notesMasters/notesMaster1.xml" Id="R7646161776034be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f182d4155454afd" /><Relationship Type="http://schemas.openxmlformats.org/officeDocument/2006/relationships/notesMaster" Target="/ppt/notesMasters/notesMaster1.xml" Id="R4115c0903dae418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a68f1414b6b4510" /><Relationship Type="http://schemas.openxmlformats.org/officeDocument/2006/relationships/notesMaster" Target="/ppt/notesMasters/notesMaster1.xml" Id="R90aa5d32b183486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d582e1357934a52" /><Relationship Type="http://schemas.openxmlformats.org/officeDocument/2006/relationships/notesMaster" Target="/ppt/notesMasters/notesMaster1.xml" Id="R14fc66be4466471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e7e05f69530498e" /><Relationship Type="http://schemas.openxmlformats.org/officeDocument/2006/relationships/notesMaster" Target="/ppt/notesMasters/notesMaster1.xml" Id="R220d5c4dc34743d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9bf8ba2361a64b5e" /><Relationship Type="http://schemas.openxmlformats.org/officeDocument/2006/relationships/notesMaster" Target="/ppt/notesMasters/notesMaster1.xml" Id="Rf28f7aa5aa414ee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1e9624809b347e9" /><Relationship Type="http://schemas.openxmlformats.org/officeDocument/2006/relationships/notesMaster" Target="/ppt/notesMasters/notesMaster1.xml" Id="R6d5f6bc2135b427d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215bd29b49b43f7" /><Relationship Type="http://schemas.openxmlformats.org/officeDocument/2006/relationships/notesMaster" Target="/ppt/notesMasters/notesMaster1.xml" Id="R0c7dba1468d04e20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bbfb6fdc27034a7a" /><Relationship Type="http://schemas.openxmlformats.org/officeDocument/2006/relationships/notesMaster" Target="/ppt/notesMasters/notesMaster1.xml" Id="R5f8bbb21e70e4a23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4ab925719eed4561" /><Relationship Type="http://schemas.openxmlformats.org/officeDocument/2006/relationships/notesMaster" Target="/ppt/notesMasters/notesMaster1.xml" Id="R8fbddf1fec2f4165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c7f52fab020e4d99" /><Relationship Type="http://schemas.openxmlformats.org/officeDocument/2006/relationships/notesMaster" Target="/ppt/notesMasters/notesMaster1.xml" Id="R665fe256b6e14198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17fa01c854124b1d" /><Relationship Type="http://schemas.openxmlformats.org/officeDocument/2006/relationships/notesMaster" Target="/ppt/notesMasters/notesMaster1.xml" Id="Rcb8d6067fc2f43c8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49f371baacbf46b9" /><Relationship Type="http://schemas.openxmlformats.org/officeDocument/2006/relationships/notesMaster" Target="/ppt/notesMasters/notesMaster1.xml" Id="Rb22edb70315a4ee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開場：本次回答三件事，各工具做什麼、自己的司法系統怎麼排序，以及原論文用了哪些檢索器。先講流程，再用 Notebook 輸出說明。</a:t>
            </a:r>
          </a:p>
          <a:p xmlns:a="http://schemas.openxmlformats.org/drawingml/2006/main">
            <a:r>
              <a:t>內容依據：使用者貼上的 README、司法系統 core.py / live_search.py、檢索與IDEAL核心展示.ipynb。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動機：名字很多，容易混淆各自角色。方法：以同一份查詢追資料流。結論：embedding 是檢索端文字表示；生成方法與檢索器是不同層級。</a:t>
            </a:r>
          </a:p>
          <a:p xmlns:a="http://schemas.openxmlformats.org/drawingml/2006/main">
            <a:r>
              <a:t>內容依據：使用者貼上的 README、司法系統 core.py / live_search.py、檢索與IDEAL核心展示.ipynb。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文件來源可為本機或網站。以此圖定位工具，RAG 是整體流程。生成策略不是檢索器。</a:t>
            </a:r>
          </a:p>
          <a:p xmlns:a="http://schemas.openxmlformats.org/drawingml/2006/main">
            <a:r>
              <a:t>內容依據：使用者貼上的 README、司法系統 core.py / live_search.py、檢索與IDEAL核心展示.ipynb。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Nomic、BGE-M3 是模型例子，今天不展開版本細節。BGE-M3 另支援 sparse/multi-vector。Chroma 僅定位，不另展開。</a:t>
            </a:r>
          </a:p>
          <a:p xmlns:a="http://schemas.openxmlformats.org/drawingml/2006/main">
            <a:r>
              <a:t>內容依據：使用者貼上的 README、司法系統 core.py / live_search.py、檢索與IDEAL核心展示.ipynb。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依 app.py / live_search.py：分類與規則形成官網查詢，取得候選全文，再 retrieve 與 rank_cases；此頁為流程說明，非本次真實判決搜尋結果。</a:t>
            </a:r>
          </a:p>
          <a:p xmlns:a="http://schemas.openxmlformats.org/drawingml/2006/main">
            <a:r>
              <a:t>內容依據：使用者貼上的 README、司法系統 core.py / live_search.py、檢索與IDEAL核心展示.ipynb。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來源 core.py::chunks / retrieve。800、160 是字元，不是 token；2～4 是 n-gram。2～4 不是 TF-IDF 定義，未宣稱經調參最佳。</a:t>
            </a:r>
          </a:p>
          <a:p xmlns:a="http://schemas.openxmlformats.org/drawingml/2006/main">
            <a:r>
              <a:t>內容依據：使用者貼上的 README、司法系統 core.py / live_search.py、檢索與IDEAL核心展示.ipynb。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https://scikit-learn.org/stable/modules/generated/sklearn.feature_extraction.text.TfidfTransformer.html</a:t>
            </a:r>
          </a:p>
          <a:p xmlns:a="http://schemas.openxmlformats.org/drawingml/2006/main">
            <a:r>
              <a:t>內容依據：使用者貼上的 README、司法系統 core.py / live_search.py、檢索與IDEAL核心展示.ipynb。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https://scikit-learn.org/stable/modules/generated/sklearn.feature_extraction.text.TfidfTransformer.html</a:t>
            </a:r>
          </a:p>
          <a:p xmlns:a="http://schemas.openxmlformats.org/drawingml/2006/main">
            <a:r>
              <a:t>sublinear_tf=True，預設 smooth_idf=True。c=0 時 TF=0。</a:t>
            </a:r>
          </a:p>
          <a:p xmlns:a="http://schemas.openxmlformats.org/drawingml/2006/main">
            <a:r>
              <a:t>內容依據：使用者貼上的 README、司法系統 core.py / live_search.py、檢索與IDEAL核心展示.ipynb。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截圖來源：C:/Temp/codex-clipboard-9e64b639-f542-431d-9a87-29aad228a3e8.png。第 1 個紅框依序講設定、fit/transform、輸出形狀。截圖未改值。</a:t>
            </a:r>
          </a:p>
          <a:p xmlns:a="http://schemas.openxmlformats.org/drawingml/2006/main">
            <a:r>
              <a:t>內容依據：使用者貼上的 README、司法系統 core.py / live_search.py、檢索與IDEAL核心展示.ipynb。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截圖來源：C:/Temp/codex-clipboard-9e64b639-f542-431d-9a87-29aad228a3e8.png。第 2 個紅框依序講設定、fit/transform、輸出形狀。截圖未改值。</a:t>
            </a:r>
          </a:p>
          <a:p xmlns:a="http://schemas.openxmlformats.org/drawingml/2006/main">
            <a:r>
              <a:t>內容依據：使用者貼上的 README、司法系統 core.py / live_search.py、檢索與IDEAL核心展示.ipynb。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截圖來源：C:/Temp/codex-clipboard-9e64b639-f542-431d-9a87-29aad228a3e8.png。第 3 個紅框依序講設定、fit/transform、輸出形狀。截圖未改值。</a:t>
            </a:r>
          </a:p>
          <a:p xmlns:a="http://schemas.openxmlformats.org/drawingml/2006/main">
            <a:r>
              <a:t>內容依據：使用者貼上的 README、司法系統 core.py / live_search.py、檢索與IDEAL核心展示.ipynb。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截圖來源：C:/Temp/codex-clipboard-6f73eb5a-b10c-42d5-83a2-67dda7a69884.png。裁切只改顯示範圍，沒有重製表格或數值。</a:t>
            </a:r>
          </a:p>
          <a:p xmlns:a="http://schemas.openxmlformats.org/drawingml/2006/main">
            <a:r>
              <a:t>內容依據：使用者貼上的 README、司法系統 core.py / live_search.py、檢索與IDEAL核心展示.ipynb。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截圖來源同前。私訊 DF=2，IDF=1.2877；其他 df=1，idf1.6931。Q=D1。顯示的是 L2 正規化後權重。</a:t>
            </a:r>
          </a:p>
          <a:p xmlns:a="http://schemas.openxmlformats.org/drawingml/2006/main">
            <a:r>
              <a:t>內容依據：使用者貼上的 README、司法系統 core.py / live_search.py、檢索與IDEAL核心展示.ipynb。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數字核對已執行 Notebook。此案例沒有套司法系統規則加分；用未四捨五入權重計算。</a:t>
            </a:r>
          </a:p>
          <a:p xmlns:a="http://schemas.openxmlformats.org/drawingml/2006/main">
            <a:r>
              <a:t>內容依據：使用者貼上的 README、司法系統 core.py / live_search.py、檢索與IDEAL核心展示.ipynb。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來源 Notebook 第2節，npz 確認讀回與原矩陣一致。這是CSR概念示例，實際完整向量在Notebook。</a:t>
            </a:r>
          </a:p>
          <a:p xmlns:a="http://schemas.openxmlformats.org/drawingml/2006/main">
            <a:r>
              <a:t>內容依據：使用者貼上的 README、司法系統 core.py / live_search.py、檢索與IDEAL核心展示.ipynb。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來源 https://www.elastic.co/docs/reference/elasticsearch/index-settings/similarity ; https://scikit-learn.org/stable/modules/generated/sklearn.feature_extraction.text.TfidfTransformer.html</a:t>
            </a:r>
          </a:p>
          <a:p xmlns:a="http://schemas.openxmlformats.org/drawingml/2006/main">
            <a:r>
              <a:t>內容依據：使用者貼上的 README、司法系統 core.py / live_search.py、檢索與IDEAL核心展示.ipynb。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模型可學習相容的query/doc表示，但中文語意效果仍須實測。參考 https://huggingface.co/BAAI/bge-m3 。二維數字不在本頁冒充實测。</a:t>
            </a:r>
          </a:p>
          <a:p xmlns:a="http://schemas.openxmlformats.org/drawingml/2006/main">
            <a:r>
              <a:t>內容依據：使用者貼上的 README、司法系統 core.py / live_search.py、檢索與IDEAL核心展示.ipynb。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來源 https://github.com/facebookresearch/faiss 。FAISS索引可以精確或近似，原文映射由應用程式管理。Chroma管理文件metadata，今天不展開。</a:t>
            </a:r>
          </a:p>
          <a:p xmlns:a="http://schemas.openxmlformats.org/drawingml/2006/main">
            <a:r>
              <a:t>內容依據：使用者貼上的 README、司法系統 core.py / live_search.py、檢索與IDEAL核心展示.ipynb。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來源 完整結案報告.docx，未取得學長原始程式。BM25 full/topic 多索引；RRF候選融合，RF-CRC最終排序。</a:t>
            </a:r>
          </a:p>
          <a:p xmlns:a="http://schemas.openxmlformats.org/drawingml/2006/main">
            <a:r>
              <a:t>內容依據：使用者貼上的 README、司法系統 core.py / live_search.py、檢索與IDEAL核心展示.ipynb。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https://www.elastic.co/docs/reference/elasticsearch/rest-apis/reciprocal-rank-fusion ; RRF score=sum 1/(k+rank). 例k=60但未宣稱學長設定。A[D1,D2,D3],B[D2,D3,D1],D2 .032522 D1 .032266 D3 .032002。</a:t>
            </a:r>
          </a:p>
          <a:p xmlns:a="http://schemas.openxmlformats.org/drawingml/2006/main">
            <a:r>
              <a:t>內容依據：使用者貼上的 README、司法系統 core.py / live_search.py、檢索與IDEAL核心展示.ipynb。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來源完整結案報告，特徵包括rrf_score、candidate_rank、topic_match等；§4.4 alpha0最後排序採RF，RRF仍參與候選與特徵。此處不給虛構模型分數。</a:t>
            </a:r>
          </a:p>
          <a:p xmlns:a="http://schemas.openxmlformats.org/drawingml/2006/main">
            <a:r>
              <a:t>內容依據：使用者貼上的 README、司法系統 core.py / live_search.py、檢索與IDEAL核心展示.ipynb。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來源IDEAL-RAG原文Table4.1，§4.1.1另稱hybrid組合，與表格呈現不完全一致；未確認融合權重/索引後端。這是實驗配置，不是IDEAL必需採特定retriever。</a:t>
            </a:r>
          </a:p>
          <a:p xmlns:a="http://schemas.openxmlformats.org/drawingml/2006/main">
            <a:r>
              <a:t>內容依據：使用者貼上的 README、司法系統 core.py / live_search.py、檢索與IDEAL核心展示.ipynb。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來源README與IDEAL原文第3章。RAG整體為retrieval+generation，此頁只比較後端處理。ICL不更新參數。</a:t>
            </a:r>
          </a:p>
          <a:p xmlns:a="http://schemas.openxmlformats.org/drawingml/2006/main">
            <a:r>
              <a:t>內容依據：使用者貼上的 README、司法系統 core.py / live_search.py、檢索與IDEAL核心展示.ipynb。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本次回答embedding位置以及程式資料流，不新增實驗優越性結論。可跳轉檢索與IDEAL核心展示.ipynb做live demo。</a:t>
            </a:r>
          </a:p>
          <a:p xmlns:a="http://schemas.openxmlformats.org/drawingml/2006/main">
            <a:r>
              <a:t>內容依據：使用者貼上的 README、司法系統 core.py / live_search.py、檢索與IDEAL核心展示.ipynb。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dc1640ebaa4cb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b893e15adc493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6f9bf70cc243d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d21b63d1504eb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0d0c90f85d48f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d87a472582430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827F7AB-2041-4B08-869D-7D2F5895C29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2579D9E0-2570-4E74-AE73-37A987946C8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5C6BA7C7-33F4-48C2-A1C7-79C6E965618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0D05088-B141-4220-B6CD-84B2F47425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A58DD03-772D-42B6-BBBA-65BCC0794FE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F5315030-C464-486D-BC13-5772C5E6E1A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9486279-185C-4CDD-90FC-F680A8C8758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0907F922-ED1A-4B55-AB62-3B0CE13C313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C4CA90C-FFEE-4546-96A1-CBACA044251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C30C978-19BB-4E99-8A97-FCDF2F09CA6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8cadd6543f24468" /><Relationship Type="http://schemas.openxmlformats.org/officeDocument/2006/relationships/slideLayout" Target="/ppt/slideLayouts/slideLayout1.xml" Id="R74813caa1ca14a93" /><Relationship Type="http://schemas.openxmlformats.org/officeDocument/2006/relationships/slideLayout" Target="/ppt/slideLayouts/slideLayout2.xml" Id="R940299af47aa405c" /><Relationship Type="http://schemas.openxmlformats.org/officeDocument/2006/relationships/slideLayout" Target="/ppt/slideLayouts/slideLayout3.xml" Id="R7c53934b1fc6457f" /><Relationship Type="http://schemas.openxmlformats.org/officeDocument/2006/relationships/slideLayout" Target="/ppt/slideLayouts/slideLayout4.xml" Id="R59c45fcb5f2f4d7e" /><Relationship Type="http://schemas.openxmlformats.org/officeDocument/2006/relationships/slideLayout" Target="/ppt/slideLayouts/slideLayout5.xml" Id="Rf37984952ac14563" /><Relationship Type="http://schemas.openxmlformats.org/officeDocument/2006/relationships/slideLayout" Target="/ppt/slideLayouts/slideLayout6.xml" Id="R2eeaef775ecc42c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4813caa1ca14a93"/>
    <p:sldLayoutId xmlns:r="http://schemas.openxmlformats.org/officeDocument/2006/relationships" id="2147483650" r:id="R940299af47aa405c"/>
    <p:sldLayoutId xmlns:r="http://schemas.openxmlformats.org/officeDocument/2006/relationships" id="2147483651" r:id="R7c53934b1fc6457f"/>
    <p:sldLayoutId xmlns:r="http://schemas.openxmlformats.org/officeDocument/2006/relationships" id="2147483652" r:id="R59c45fcb5f2f4d7e"/>
    <p:sldLayoutId xmlns:r="http://schemas.openxmlformats.org/officeDocument/2006/relationships" id="2147483653" r:id="Rf37984952ac14563"/>
    <p:sldLayoutId xmlns:r="http://schemas.openxmlformats.org/officeDocument/2006/relationships" id="2147483654" r:id="R2eeaef775ecc42c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f3fe62261594e25" /><Relationship Type="http://schemas.openxmlformats.org/officeDocument/2006/relationships/notesSlide" Target="/ppt/notesSlides/notesSlide1.xml" Id="R4767c53248fa464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741aff923e64233" /><Relationship Type="http://schemas.openxmlformats.org/officeDocument/2006/relationships/notesSlide" Target="/ppt/notesSlides/notesSlide2.xml" Id="R198a039e8aed42c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4a0d9e2987c4dbb" /><Relationship Type="http://schemas.openxmlformats.org/officeDocument/2006/relationships/notesSlide" Target="/ppt/notesSlides/notesSlide3.xml" Id="Rdd85a7cc663b476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bfa7550b2df4231" /><Relationship Type="http://schemas.openxmlformats.org/officeDocument/2006/relationships/notesSlide" Target="/ppt/notesSlides/notesSlide4.xml" Id="R7bd991379654480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879ad0ad85f42d5" /><Relationship Type="http://schemas.openxmlformats.org/officeDocument/2006/relationships/notesSlide" Target="/ppt/notesSlides/notesSlide5.xml" Id="R5149aac9740e421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c9ab9ae0e2a4f78" /><Relationship Type="http://schemas.openxmlformats.org/officeDocument/2006/relationships/notesSlide" Target="/ppt/notesSlides/notesSlide6.xml" Id="R3af617cd157b410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6ba4e18544f456b" /><Relationship Type="http://schemas.openxmlformats.org/officeDocument/2006/relationships/notesSlide" Target="/ppt/notesSlides/notesSlide7.xml" Id="R0333ec363c554d8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54a0f76b6ff43ff" /><Relationship Type="http://schemas.openxmlformats.org/officeDocument/2006/relationships/notesSlide" Target="/ppt/notesSlides/notesSlide8.xml" Id="R22b2a1665d2c40a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7f2b453a9144888" /><Relationship Type="http://schemas.openxmlformats.org/officeDocument/2006/relationships/image" Target="/ppt/media/image.png" Id="Rbe2f6627276042f6" /><Relationship Type="http://schemas.openxmlformats.org/officeDocument/2006/relationships/notesSlide" Target="/ppt/notesSlides/notesSlide9.xml" Id="Rcee04dca20394b6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b86a34176854e26" /><Relationship Type="http://schemas.openxmlformats.org/officeDocument/2006/relationships/image" Target="/ppt/media/image2.png" Id="R54f12a79aaaa4409" /><Relationship Type="http://schemas.openxmlformats.org/officeDocument/2006/relationships/notesSlide" Target="/ppt/notesSlides/notesSlide10.xml" Id="R17bc1f0827f1464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3057ae0fa6a4f34" /><Relationship Type="http://schemas.openxmlformats.org/officeDocument/2006/relationships/image" Target="/ppt/media/image3.png" Id="R0cd058663d314b94" /><Relationship Type="http://schemas.openxmlformats.org/officeDocument/2006/relationships/notesSlide" Target="/ppt/notesSlides/notesSlide11.xml" Id="R101caf0355264ab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a94890fca434f47" /><Relationship Type="http://schemas.openxmlformats.org/officeDocument/2006/relationships/image" Target="/ppt/media/image4.png" Id="Rb81ea6b87cc94eaf" /><Relationship Type="http://schemas.openxmlformats.org/officeDocument/2006/relationships/notesSlide" Target="/ppt/notesSlides/notesSlide12.xml" Id="Refd7c1f1031a4eb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4bcb8b0fa3d449d" /><Relationship Type="http://schemas.openxmlformats.org/officeDocument/2006/relationships/image" Target="/ppt/media/image5.png" Id="Rc7ee02b5034844c0" /><Relationship Type="http://schemas.openxmlformats.org/officeDocument/2006/relationships/notesSlide" Target="/ppt/notesSlides/notesSlide13.xml" Id="R9babf6f4c3bc4fc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ed0588f430a40f9" /><Relationship Type="http://schemas.openxmlformats.org/officeDocument/2006/relationships/notesSlide" Target="/ppt/notesSlides/notesSlide14.xml" Id="R02930d5e196e4af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9bcd816e5a14fcc" /><Relationship Type="http://schemas.openxmlformats.org/officeDocument/2006/relationships/notesSlide" Target="/ppt/notesSlides/notesSlide15.xml" Id="Ra1203596e8bf459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872f5c3e12a4082" /><Relationship Type="http://schemas.openxmlformats.org/officeDocument/2006/relationships/notesSlide" Target="/ppt/notesSlides/notesSlide16.xml" Id="Reb3ad3f8a1ad4f7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bae2584c6e04014" /><Relationship Type="http://schemas.openxmlformats.org/officeDocument/2006/relationships/notesSlide" Target="/ppt/notesSlides/notesSlide17.xml" Id="Rb697fb31a1af4bf5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33dcceb6ddd4851" /><Relationship Type="http://schemas.openxmlformats.org/officeDocument/2006/relationships/notesSlide" Target="/ppt/notesSlides/notesSlide18.xml" Id="Rdf267c23076c4b68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73b2ceaa8874166" /><Relationship Type="http://schemas.openxmlformats.org/officeDocument/2006/relationships/notesSlide" Target="/ppt/notesSlides/notesSlide19.xml" Id="R0a399f3955674eae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dac047e3ff64713" /><Relationship Type="http://schemas.openxmlformats.org/officeDocument/2006/relationships/notesSlide" Target="/ppt/notesSlides/notesSlide20.xml" Id="R5e75da00fed44011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fe2727ff5a642ae" /><Relationship Type="http://schemas.openxmlformats.org/officeDocument/2006/relationships/notesSlide" Target="/ppt/notesSlides/notesSlide21.xml" Id="R259a510753944740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5a9e8ccdb0b4560" /><Relationship Type="http://schemas.openxmlformats.org/officeDocument/2006/relationships/notesSlide" Target="/ppt/notesSlides/notesSlide22.xml" Id="R8e0ad757a7844a03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dd936d102924fc5" /><Relationship Type="http://schemas.openxmlformats.org/officeDocument/2006/relationships/notesSlide" Target="/ppt/notesSlides/notesSlide23.xml" Id="R1341a16fcdca4fd1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c69a64087654f5e" /><Relationship Type="http://schemas.openxmlformats.org/officeDocument/2006/relationships/notesSlide" Target="/ppt/notesSlides/notesSlide24.xml" Id="Rcbc65feba1b34b0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323471-BF40-4ABF-A0A1-C168EF22A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RAG：檢索工具與 TF-IDF 實作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2344C3-3F4B-4D2F-B25C-7DB70D9B4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066800"/>
            <a:ext cx="1095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實驗室 Meeting｜本週提問回覆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5F68EA-5EF5-4446-A03D-148C3F65D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579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E925C4-E46E-4A6F-8AD7-97D038F5B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81250"/>
            <a:ext cx="10668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9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9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1. 工具在流程中的位置</a:t>
            </a:r>
          </a:p>
          <a:p xmlns:a="http://schemas.openxmlformats.org/drawingml/2006/main">
            <a:pPr>
              <a:defRPr sz="29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2. TF-IDF 的程式與向量</a:t>
            </a:r>
          </a:p>
          <a:p xmlns:a="http://schemas.openxmlformats.org/drawingml/2006/main">
            <a:pPr>
              <a:defRPr sz="29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3. BM25、向量檢索與重排</a:t>
            </a:r>
          </a:p>
        </p:txBody>
      </p:sp>
    </p:spTree>
    <p:extLst>
      <p:ext uri="{BB962C8B-B14F-4D97-AF65-F5344CB8AC3E}">
        <p14:creationId xmlns:p14="http://schemas.microsoft.com/office/powerpoint/2010/main" val="133004824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201A03-63AE-4EBE-BCA7-1CFFB3C99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本次報告重點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B95DF6-6BED-4E2F-B8F2-86E7A570F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579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31CE28-F026-4739-B3CC-0E4A13924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2333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Motivation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E5245A-975F-422B-A5F3-A5ED3B09D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952625"/>
            <a:ext cx="8286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分清楚：找文件、算分數、生成答案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CB31FD-B58A-4FB8-A0B9-F169C8800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95625"/>
            <a:ext cx="2333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Methodology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241916-CC4B-459A-B7AB-173EC2DF8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095625"/>
            <a:ext cx="8286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流程圖 → 實際程式 → 向量與排序輸出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CB4897-8B68-4DFB-9598-4AD1A536F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38625"/>
            <a:ext cx="2333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Conclusion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7063C5-5EC3-4EC8-83DF-3AC957F77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238625"/>
            <a:ext cx="8286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Embedding 產生向量；還需要搜尋才能取回文件</a:t>
            </a:r>
          </a:p>
        </p:txBody>
      </p:sp>
    </p:spTree>
    <p:extLst>
      <p:ext uri="{BB962C8B-B14F-4D97-AF65-F5344CB8AC3E}">
        <p14:creationId xmlns:p14="http://schemas.microsoft.com/office/powerpoint/2010/main" val="101472771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3A7E86-ED58-4C21-830E-C43327268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RAG 的完整流程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398BAD-76C2-450D-B5BF-B9E8EAF15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066800"/>
            <a:ext cx="1095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RAG 是檢索＋生成；「外部」不等於一定上網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AF07FF-0F81-4145-A548-809D99789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579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85C88D-41BD-4A1B-9EF6-CFAAB5B8B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76500"/>
            <a:ext cx="2857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858A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D98F73-E1AA-4A6E-80A9-FEED41AB9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619375"/>
            <a:ext cx="2590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文件來源</a:t>
            </a:r>
          </a:p>
          <a:p xmlns:a="http://schemas.openxmlformats.org/drawingml/2006/main">
            <a:pPr>
              <a:def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清理與切段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B6A1F8-8BA7-44FA-B848-CD0FFD5E2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838450"/>
            <a:ext cx="5715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858A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B37877-7979-4457-BFCE-BDBF68045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476500"/>
            <a:ext cx="2857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858A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5C8329-40ED-46B0-8A24-6F26E8516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619375"/>
            <a:ext cx="2590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檢索與排序</a:t>
            </a:r>
          </a:p>
          <a:p xmlns:a="http://schemas.openxmlformats.org/drawingml/2006/main">
            <a:pPr>
              <a:def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取得參考段落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67F1B5-E9FF-4F2B-A3AE-78668EE89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838450"/>
            <a:ext cx="5715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858A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E3F69A-8CC6-4F94-9D9E-1A495FA40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476500"/>
            <a:ext cx="2857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858A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E1BAEC-C7D8-46F1-921E-192FB2E46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619375"/>
            <a:ext cx="2590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組合問題與資料</a:t>
            </a:r>
          </a:p>
          <a:p xmlns:a="http://schemas.openxmlformats.org/drawingml/2006/main">
            <a:pPr>
              <a:def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LLM 生成回答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46D106-1E91-486C-A04D-81250DFBE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810000"/>
            <a:ext cx="323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TF-IDF＋cosine／BM25</a:t>
            </a:r>
          </a:p>
          <a:p xmlns:a="http://schemas.openxmlformats.org/drawingml/2006/main">
            <a:pPr>
              <a:defRPr sz="1800" b="0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Embedding＋向量搜尋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C89C92-5C5E-41BB-8F4E-2A7B8FF0B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810000"/>
            <a:ext cx="304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基本 RAG</a:t>
            </a:r>
          </a:p>
          <a:p xmlns:a="http://schemas.openxmlformats.org/drawingml/2006/main">
            <a:pPr>
              <a:defRPr sz="1800" b="0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InstructRAG／IDEAL-RAG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10D917-CC99-42D7-9B81-C40874D67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57900"/>
            <a:ext cx="1076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查詢同時參與檢索與生成；分類、融合、重排是依需求加入的步驟。</a:t>
            </a:r>
          </a:p>
        </p:txBody>
      </p:sp>
    </p:spTree>
    <p:extLst>
      <p:ext uri="{BB962C8B-B14F-4D97-AF65-F5344CB8AC3E}">
        <p14:creationId xmlns:p14="http://schemas.microsoft.com/office/powerpoint/2010/main" val="195350785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694C35-9BCE-4AF0-9DEF-CDC99A3BA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工具的角色分類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F5CF17-E9DF-4779-8EF4-E7AF7112E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066800"/>
            <a:ext cx="1095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先看它收到什麼、輸出什麼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E6853D-8377-4F31-A6FE-FEE2D0BF7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579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D77550-A023-4CDF-BCFA-817311122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2333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文字表示與評分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0439D4-3EF5-4DA8-89E4-493A93656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762125"/>
            <a:ext cx="8286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TF-IDF、BM25、embedding、cosine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FF01AF-E794-49ED-89CE-51BFEA880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2333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索引與資料管理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27A427-C669-469A-AE65-F2500CF05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762250"/>
            <a:ext cx="8286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FAISS：搜尋向量；Chroma：管理與查詢資料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B58D51-539A-455E-855D-09C5B9A06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62375"/>
            <a:ext cx="2333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分類與候選排序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B75BD2-8940-472F-BE95-34ACFCC08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762375"/>
            <a:ext cx="8286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分類器判主題；RRF 融合；RF-CRC 重排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C053F7-A291-4F69-9DA1-3150CBEE4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2333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生成端知識處理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747C51-CE96-4525-930F-5B114940B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762500"/>
            <a:ext cx="8286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基本 RAG、InstructRAG、IDEAL-RAG</a:t>
            </a:r>
          </a:p>
        </p:txBody>
      </p:sp>
    </p:spTree>
    <p:extLst>
      <p:ext uri="{BB962C8B-B14F-4D97-AF65-F5344CB8AC3E}">
        <p14:creationId xmlns:p14="http://schemas.microsoft.com/office/powerpoint/2010/main" val="44176323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F332FF-5E95-44A0-A17A-2E2A6A27B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司法檢索：先取得文件，再在本機排序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1F76E7-9F0F-46BE-93C2-D6B01EF64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066800"/>
            <a:ext cx="1095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案例：他在網路留言叫我「廢物」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733EF5-CE62-43E7-A9AC-559DE54F1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579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AE42F3-BCA0-4CA7-8830-29F6BF99C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38375"/>
            <a:ext cx="2857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858A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EDE3C8-36F3-41AD-84D7-6B2B0D735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81250"/>
            <a:ext cx="2590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留言與分類</a:t>
            </a:r>
          </a:p>
          <a:p xmlns:a="http://schemas.openxmlformats.org/drawingml/2006/main">
            <a:pPr>
              <a:def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建立搜尋條件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5076F5-59C5-4328-BF2C-98E64AE2F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600325"/>
            <a:ext cx="5715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858A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E880E5-37EB-4B85-BDF1-5BC27FD69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238375"/>
            <a:ext cx="2857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858A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1B009F-ECE2-4FFA-8943-54E9A394F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381250"/>
            <a:ext cx="2590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司法院網站</a:t>
            </a:r>
          </a:p>
          <a:p xmlns:a="http://schemas.openxmlformats.org/drawingml/2006/main">
            <a:pPr>
              <a:def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取得候選判決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47A208-7F1F-4FEA-B423-7A4BAB152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600325"/>
            <a:ext cx="5715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858A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185FAF-9574-479D-A8A0-477B7695A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238375"/>
            <a:ext cx="2857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858A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7AFC1C-9A58-4538-9223-A670741D3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381250"/>
            <a:ext cx="2590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本機 TF-IDF</a:t>
            </a:r>
          </a:p>
          <a:p xmlns:a="http://schemas.openxmlformats.org/drawingml/2006/main">
            <a:pPr>
              <a:def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排序與篩選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2970D2-C901-4629-A44D-F434ADC80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檢索結果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2210D4-B13E-496B-87B6-1D4D4FF74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095750"/>
            <a:ext cx="819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相關判決段落、來源與分數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FF2B7F-6260-4A8C-8A4F-3FD202941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選用生成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400450-8044-4869-994C-F070729AE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953000"/>
            <a:ext cx="8191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啟用 LLM 後，才生成證據限定的判決摘要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4E442A-FB1F-46AA-A6E8-4982271AD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57900"/>
            <a:ext cx="1076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TF-IDF 本身不連線上網；目前主流程未使用 embedding 或 FAISS。</a:t>
            </a:r>
          </a:p>
        </p:txBody>
      </p:sp>
    </p:spTree>
    <p:extLst>
      <p:ext uri="{BB962C8B-B14F-4D97-AF65-F5344CB8AC3E}">
        <p14:creationId xmlns:p14="http://schemas.microsoft.com/office/powerpoint/2010/main" val="154915517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738763-4587-4E86-A7F6-9FA7C7F2B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切段與字元特徵是兩件事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A8C01B-3CD0-4FDA-AB64-1A511A1CE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579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53F179-A592-4ADF-84C8-5E8E2B4D4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2333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切段 chunking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E6BD3D-EF27-4066-9CF8-CF5DB1956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857375"/>
            <a:ext cx="8286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全文 → 每段 800 字元，重疊 160 字元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0157DC-FB1C-46D4-9E3C-420881978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76575"/>
            <a:ext cx="2333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抽取字元片段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D8614A-8F7E-4EB3-B146-E7A52DAD5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076575"/>
            <a:ext cx="8286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私訊辱罵 → 私訊、訊辱、辱罵</a:t>
            </a:r>
          </a:p>
          <a:p xmlns:a="http://schemas.openxmlformats.org/drawingml/2006/main">
            <a: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再加 3 字元、4 字元片段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5D784E-3B85-462D-81AF-C61740DA3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95775"/>
            <a:ext cx="2333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設定可以改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F53CC8-CAF3-4040-8422-081535FE6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295775"/>
            <a:ext cx="8286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1 字元較容易誤配；長片段較容易漏掉改寫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C79940-C013-4501-872B-F7412A54B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57900"/>
            <a:ext cx="1076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TF-IDF 不負責決定段落邊界；2～4 是這份程式的特徵設定。</a:t>
            </a:r>
          </a:p>
        </p:txBody>
      </p:sp>
    </p:spTree>
    <p:extLst>
      <p:ext uri="{BB962C8B-B14F-4D97-AF65-F5344CB8AC3E}">
        <p14:creationId xmlns:p14="http://schemas.microsoft.com/office/powerpoint/2010/main" val="205344037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263895-A0B3-4E28-98BB-D74066059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TF、DF、IDF 的差別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A64348-CE1A-4F64-BBCB-FEA7031CC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066800"/>
            <a:ext cx="1095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教學例子：D1 重複「私訊」三次；D2 一次；D3 沒有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4DD97B-18FB-45F7-9EDC-ED4499E14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579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D5C033-8467-498F-A969-1D8F6BAA58BC}"/>
              </a:ext>
            </a:extLst>
          </p:cNvPr>
          <p:cNvGraphicFramePr/>
          <p:nvPr/>
        </p:nvGraphicFramePr>
        <p:xfrm>
          <a:off xmlns:a="http://schemas.openxmlformats.org/drawingml/2006/main" x="590550" y="1952625"/>
          <a:ext xmlns:a="http://schemas.openxmlformats.org/drawingml/2006/main" cx="11010900" cy="3238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809750"/>
                <a:gridCol w="4619625"/>
                <a:gridCol w="4581525"/>
              </a:tblGrid>
              <a:tr h="809625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名稱</a:t>
                      </a:r>
                    </a:p>
                  </a:txBody>
                  <a:tcPr marL="91440" marR="91440" marT="45720" marB="45720">
                    <a:solidFill>
                      <a:srgbClr val="EA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問什麼</a:t>
                      </a:r>
                    </a:p>
                  </a:txBody>
                  <a:tcPr marL="91440" marR="91440" marT="45720" marB="45720">
                    <a:solidFill>
                      <a:srgbClr val="EA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「私訊」的結果</a:t>
                      </a:r>
                    </a:p>
                  </a:txBody>
                  <a:tcPr marL="91440" marR="91440" marT="45720" marB="45720">
                    <a:solidFill>
                      <a:srgbClr val="EAF3F3"/>
                    </a:solidFill>
                  </a:tcPr>
                </a:tc>
              </a:tr>
              <a:tr h="80962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TF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在這一段出現多少？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D1：1＋ln(3) ≈ 2.10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80962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DF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幾個段落包含它？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 段；每段最多算一次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80962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IDF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在整批段落有多稀有？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ln(4/3)＋1 ≈ 1.2877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05865A-6421-4ABD-8E65-E7796D047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57900"/>
            <a:ext cx="1076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D1：私訊、私訊、私訊、辱罵；D2：私訊、道歉；D3：租金、押金。</a:t>
            </a:r>
          </a:p>
        </p:txBody>
      </p:sp>
    </p:spTree>
    <p:extLst>
      <p:ext uri="{BB962C8B-B14F-4D97-AF65-F5344CB8AC3E}">
        <p14:creationId xmlns:p14="http://schemas.microsoft.com/office/powerpoint/2010/main" val="111685242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AA73B3-9B9F-4395-813C-F6A52A305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為什麼使用 ln？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1049BC-774C-4155-AF55-A800E3598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066800"/>
            <a:ext cx="1095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這是目前程式的加權版本，不是 TF-IDF 唯一的定義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11C2FB-8938-4450-AF28-8929569FC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579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5D3249-067E-4F04-B4A0-79D5565D1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775" b="1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775" b="1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75" b="1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rPr>
              <a:t>TF = 1 + ln(c)，c &gt; 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661623-709D-43BC-9EEB-E910D52D3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7175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出現 1、3、10 次 → 權重約 1、2.10、3.30</a:t>
            </a:r>
          </a:p>
          <a:p xmlns:a="http://schemas.openxmlformats.org/drawingml/2006/main"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重複次數增加，影響不直接等比例放大。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C471F3-388C-471B-AE15-87ED6916A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48125"/>
            <a:ext cx="1076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550" b="1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rPr>
              <a:t>IDF = ln((1 + N) / (1 + DF)) + 1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74F07B-89DE-481E-8443-1D2D093C0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76800"/>
            <a:ext cx="1066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少見片段權重較高；加 1 做平滑並保留基礎權重。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B0B414-5400-417A-BA87-110E351F4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57900"/>
            <a:ext cx="1076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N 是這批段落數。稀有程度不是資訊的正確機率。</a:t>
            </a:r>
          </a:p>
        </p:txBody>
      </p:sp>
    </p:spTree>
    <p:extLst>
      <p:ext uri="{BB962C8B-B14F-4D97-AF65-F5344CB8AC3E}">
        <p14:creationId xmlns:p14="http://schemas.microsoft.com/office/powerpoint/2010/main" val="24696586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8BB30E-5367-4022-B8FB-6D00ECAFD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實作 1：建立 TF-IDF 表示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1FF965-AEC7-41E9-ABA8-2348B62C0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066800"/>
            <a:ext cx="1095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原始 Notebook 截圖｜人工短句範例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2518B2-5DA9-4733-B215-26A702435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579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5891C2-F9EC-4077-9099-5E656713756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2f6627276042f6"/>
          <a:stretch xmlns:a="http://schemas.openxmlformats.org/drawingml/2006/main"/>
        </p:blipFill>
        <p:spPr>
          <a:xfrm xmlns:a="http://schemas.openxmlformats.org/drawingml/2006/main">
            <a:off x="533400" y="1658680"/>
            <a:ext cx="7905750" cy="4502666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B4722A-1FEA-4524-AA94-7A2A7B933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681" y="2154971"/>
            <a:ext cx="5618299" cy="6260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52C32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4F94DD-EAAB-429B-AF95-A906263A6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305050"/>
            <a:ext cx="2895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char：字元片段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E74EF6-B891-4188-A0D2-B9A7FB5F5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238500"/>
            <a:ext cx="2895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2～4：特徵長度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1EDF0C-5842-4E90-8927-7F9E0F0A8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171950"/>
            <a:ext cx="2895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sublinear_tf：對數 TF</a:t>
            </a:r>
          </a:p>
        </p:txBody>
      </p:sp>
    </p:spTree>
    <p:extLst>
      <p:ext uri="{BB962C8B-B14F-4D97-AF65-F5344CB8AC3E}">
        <p14:creationId xmlns:p14="http://schemas.microsoft.com/office/powerpoint/2010/main" val="37276945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2540A7-469A-48F9-B9F1-2EF65AB80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實作 2：文件 fit，查詢 transform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12503D-B660-4976-904D-B330D64CA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066800"/>
            <a:ext cx="1095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原始 Notebook 截圖｜人工短句範例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DB12F6-6124-47A3-8DB5-49DC902FA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579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6266CE-9E65-4694-AA22-A03BC7D26CD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f12a79aaaa4409"/>
          <a:stretch xmlns:a="http://schemas.openxmlformats.org/drawingml/2006/main"/>
        </p:blipFill>
        <p:spPr>
          <a:xfrm xmlns:a="http://schemas.openxmlformats.org/drawingml/2006/main">
            <a:off x="533400" y="1658680"/>
            <a:ext cx="7905750" cy="4502666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18DFCF-19C5-4C41-90F4-E6B0868A5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655" y="2885350"/>
            <a:ext cx="5979476" cy="4414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52C32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3366F6-FF0A-491C-83AC-FAB2353C1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305050"/>
            <a:ext cx="2895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fit：建立座標與 IDF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E60725-5EE9-4991-AC91-5622099E8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238500"/>
            <a:ext cx="2895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transform：沿用同一套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E405DC-AF47-4B73-A46B-37B86DA72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171950"/>
            <a:ext cx="2895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不是再次訓練模型</a:t>
            </a:r>
          </a:p>
        </p:txBody>
      </p:sp>
    </p:spTree>
    <p:extLst>
      <p:ext uri="{BB962C8B-B14F-4D97-AF65-F5344CB8AC3E}">
        <p14:creationId xmlns:p14="http://schemas.microsoft.com/office/powerpoint/2010/main" val="9868601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340B06-6860-4725-A706-5FE8227F4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實作 3：矩陣是 3 × 17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4081ED-F07D-4E11-B209-8D1072466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066800"/>
            <a:ext cx="1095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原始 Notebook 截圖｜人工短句範例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B5614B-A348-4860-B349-931B61240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579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2AB85B-AF12-4A25-BDA4-92860858F1C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d058663d314b94"/>
          <a:stretch xmlns:a="http://schemas.openxmlformats.org/drawingml/2006/main"/>
        </p:blipFill>
        <p:spPr>
          <a:xfrm xmlns:a="http://schemas.openxmlformats.org/drawingml/2006/main">
            <a:off x="533400" y="1658680"/>
            <a:ext cx="7905750" cy="4502666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47C2D3-35B0-4782-A5D9-7D0B4044C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923" y="5582134"/>
            <a:ext cx="4253855" cy="385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52C32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4B5C1D-8745-4330-AD7B-212CA58DE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305050"/>
            <a:ext cx="2895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3：三份文件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895848-3CAE-4371-B8E6-58DCBB44B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238500"/>
            <a:ext cx="2895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17：十七個特徵座標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C1E1C0-6660-42ED-BE2E-5E8E65883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171950"/>
            <a:ext cx="2895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每一列代表一份文件</a:t>
            </a:r>
          </a:p>
        </p:txBody>
      </p:sp>
    </p:spTree>
    <p:extLst>
      <p:ext uri="{BB962C8B-B14F-4D97-AF65-F5344CB8AC3E}">
        <p14:creationId xmlns:p14="http://schemas.microsoft.com/office/powerpoint/2010/main" val="160329410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F757DE-25BE-44FC-AEF0-F72B6E172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實作 4：查看字元片段與權重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330ACB-CBCC-4BFC-ACB8-51E4FA6CB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066800"/>
            <a:ext cx="1095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原始 Notebook 截圖，局部放大程式與片段輸出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74FCC0-C032-4CC0-A8D6-CDD6CF132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579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C5E109-F64A-4586-B7E8-F0ACCE775CA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1ea6b87cc94eaf"/>
          <a:srcRect xmlns:a="http://schemas.openxmlformats.org/drawingml/2006/main" l="0" t="0" r="0" b="62000"/>
          <a:stretch xmlns:a="http://schemas.openxmlformats.org/drawingml/2006/main"/>
        </p:blipFill>
        <p:spPr>
          <a:xfrm xmlns:a="http://schemas.openxmlformats.org/drawingml/2006/main">
            <a:off x="590550" y="1714500"/>
            <a:ext cx="8763000" cy="4476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FF6207-B3B9-44DF-AA0A-2B6EAA8B5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28800"/>
            <a:ext cx="8286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52C32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7B4A4C-51F7-4111-85CA-E6B07102C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238375"/>
            <a:ext cx="2143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analyzer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416175-2042-4B9C-9D25-B9E1CA4F1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914650"/>
            <a:ext cx="214312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先看有哪些</a:t>
            </a:r>
          </a:p>
          <a:p xmlns:a="http://schemas.openxmlformats.org/drawingml/2006/main">
            <a:pPr>
              <a:def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2～4 字元片段</a:t>
            </a:r>
          </a:p>
        </p:txBody>
      </p:sp>
    </p:spTree>
    <p:extLst>
      <p:ext uri="{BB962C8B-B14F-4D97-AF65-F5344CB8AC3E}">
        <p14:creationId xmlns:p14="http://schemas.microsoft.com/office/powerpoint/2010/main" val="66254949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C0715D-FD0D-46FB-B1AA-7BE23BE33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實作 5：一個座標對應一個片段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6B4992-60AB-430E-B861-051119C9F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066800"/>
            <a:ext cx="1095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原始 Notebook 權重表局部放大；完整 17 維可在 Notebook 查看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5E496B-5679-478C-A775-1C676978F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579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BD643F-C3D4-413C-870B-096DEF9D736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ee02b5034844c0"/>
          <a:srcRect xmlns:a="http://schemas.openxmlformats.org/drawingml/2006/main" l="0" t="38500" r="32000" b="32500"/>
          <a:stretch xmlns:a="http://schemas.openxmlformats.org/drawingml/2006/main"/>
        </p:blipFill>
        <p:spPr>
          <a:xfrm xmlns:a="http://schemas.openxmlformats.org/drawingml/2006/main">
            <a:off x="590550" y="1714500"/>
            <a:ext cx="7572375" cy="43434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3B038A-FD0D-4BBC-859F-E037A3C3E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95575"/>
            <a:ext cx="736282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52C32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506DE4-E581-4707-9B1B-2D9165360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038350"/>
            <a:ext cx="300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32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「私訊」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975D3A-744F-4056-AC52-2175F6EFE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762250"/>
            <a:ext cx="304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D1、D2 都有</a:t>
            </a:r>
          </a:p>
          <a:p xmlns:a="http://schemas.openxmlformats.org/drawingml/2006/main"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IDF 比較低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077387-DF77-47FB-A1FB-847DEEABA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333875"/>
            <a:ext cx="3048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Q 與 D1 相同</a:t>
            </a:r>
          </a:p>
          <a:p xmlns:a="http://schemas.openxmlformats.org/drawingml/2006/main"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→ 向量也相同</a:t>
            </a:r>
          </a:p>
        </p:txBody>
      </p:sp>
    </p:spTree>
    <p:extLst>
      <p:ext uri="{BB962C8B-B14F-4D97-AF65-F5344CB8AC3E}">
        <p14:creationId xmlns:p14="http://schemas.microsoft.com/office/powerpoint/2010/main" val="94939353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474CE5-010E-48EC-8688-DB7EB1D38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從向量算出文件排名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59F8DD-0B3E-48FE-B988-1E8A7FB1B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066800"/>
            <a:ext cx="1095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先正規化，再逐維相乘與加總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A72530-CF3A-4E48-93C4-B004186D5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579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E3DACF-E749-4147-B0E2-1E1BD9BA1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550" b="1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rPr>
              <a:t>scores = (X @ q.T).toarray().ravel()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4AEE12-9096-4B63-B5FB-70975D99C912}"/>
              </a:ext>
            </a:extLst>
          </p:cNvPr>
          <p:cNvGraphicFramePr/>
          <p:nvPr/>
        </p:nvGraphicFramePr>
        <p:xfrm>
          <a:off xmlns:a="http://schemas.openxmlformats.org/drawingml/2006/main" x="590550" y="2667000"/>
          <a:ext xmlns:a="http://schemas.openxmlformats.org/drawingml/2006/main" cx="11010900" cy="2857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38500"/>
                <a:gridCol w="4819650"/>
                <a:gridCol w="2952750"/>
              </a:tblGrid>
              <a:tr h="714375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文件</a:t>
                      </a:r>
                    </a:p>
                  </a:txBody>
                  <a:tcPr marL="91440" marR="91440" marT="45720" marB="45720">
                    <a:solidFill>
                      <a:srgbClr val="EA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與 Q 的共同特徵</a:t>
                      </a:r>
                    </a:p>
                  </a:txBody>
                  <a:tcPr marL="91440" marR="91440" marT="45720" marB="45720">
                    <a:solidFill>
                      <a:srgbClr val="EA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Cosine</a:t>
                      </a:r>
                    </a:p>
                  </a:txBody>
                  <a:tcPr marL="91440" marR="91440" marT="45720" marB="45720">
                    <a:solidFill>
                      <a:srgbClr val="EAF3F3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D1 私訊辱罵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全部相同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1.000000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D2 私訊道歉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只有「私訊」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0.103686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D3 租金押金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沒有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0.000000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E36541-BF84-4E1C-A83E-241057EC6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57900"/>
            <a:ext cx="1076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TF × IDF 是單一特徵的權重；cosine 才把查詢與文件比較成分數。</a:t>
            </a:r>
          </a:p>
        </p:txBody>
      </p:sp>
    </p:spTree>
    <p:extLst>
      <p:ext uri="{BB962C8B-B14F-4D97-AF65-F5344CB8AC3E}">
        <p14:creationId xmlns:p14="http://schemas.microsoft.com/office/powerpoint/2010/main" val="15896836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39262D-0181-43C3-8153-F62366D01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稀疏向量存起來是什麼？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2679E6-10D7-4FE8-BCA4-A0D86DB9A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066800"/>
            <a:ext cx="1095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教學額外示範存檔；原司法系統是在記憶體內計算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03AA48-0EA7-4DE7-B526-9399C051C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579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0E4270-AFAA-4A50-A00F-B08217511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28800"/>
            <a:ext cx="1066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550" b="1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rPr>
              <a:t>D1 = [0, .3220, .4234, .4234, 0, …]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E86D35-43DA-4E10-8FDB-F6B7B3E4F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05125"/>
            <a:ext cx="2333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F6C0EF-9CA1-4093-B24F-E186124FD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905125"/>
            <a:ext cx="8286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保存非零權重：.3220、.4234、…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30ADEB-3998-4980-BE99-D02A8030A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62375"/>
            <a:ext cx="2333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indices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71C42D-1DD9-4214-8F29-06B78C7E2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762375"/>
            <a:ext cx="8286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保存所在欄座標：1、2、3、9、10、13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80F961-59E8-4930-A3CA-9A39572D0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19625"/>
            <a:ext cx="2333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indptr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C13A5E-6F23-4BE8-9FF1-D781E1158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619625"/>
            <a:ext cx="8286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標記每份文件的資料起訖位置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89CE93-373C-4745-97A7-C350224C2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57900"/>
            <a:ext cx="1076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還要保存特徵表、IDF、文件 ID 與原文映射；.npz 是二進位容器。</a:t>
            </a:r>
          </a:p>
        </p:txBody>
      </p:sp>
    </p:spTree>
    <p:extLst>
      <p:ext uri="{BB962C8B-B14F-4D97-AF65-F5344CB8AC3E}">
        <p14:creationId xmlns:p14="http://schemas.microsoft.com/office/powerpoint/2010/main" val="61571153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2C761A-AB60-4B35-BC0D-24216372F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TF-IDF＋cosine 與 BM25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613520-0A7F-4D66-A06C-60E3DC02D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066800"/>
            <a:ext cx="1095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用途相近：找出與查詢相關的文件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0E2257-AC40-43FC-AF11-EEDB1C81A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579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16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EAC520-1F69-410E-9474-2D6C482FCCED}"/>
              </a:ext>
            </a:extLst>
          </p:cNvPr>
          <p:cNvGraphicFramePr/>
          <p:nvPr/>
        </p:nvGraphicFramePr>
        <p:xfrm>
          <a:off xmlns:a="http://schemas.openxmlformats.org/drawingml/2006/main" x="590550" y="1809750"/>
          <a:ext xmlns:a="http://schemas.openxmlformats.org/drawingml/2006/main" cx="11010900" cy="3762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4362450"/>
                <a:gridCol w="4362450"/>
              </a:tblGrid>
              <a:tr h="752475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比較</a:t>
                      </a:r>
                    </a:p>
                  </a:txBody>
                  <a:tcPr marL="91440" marR="91440" marT="45720" marB="45720">
                    <a:solidFill>
                      <a:srgbClr val="EA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TF-IDF＋cosine</a:t>
                      </a:r>
                    </a:p>
                  </a:txBody>
                  <a:tcPr marL="91440" marR="91440" marT="45720" marB="45720">
                    <a:solidFill>
                      <a:srgbClr val="EA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BM25</a:t>
                      </a:r>
                    </a:p>
                  </a:txBody>
                  <a:tcPr marL="91440" marR="91440" marT="45720" marB="45720">
                    <a:solidFill>
                      <a:srgbClr val="EAF3F3"/>
                    </a:solidFill>
                  </a:tcPr>
                </a:tc>
              </a:tr>
              <a:tr h="75247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計算方式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建立向量，再比較方向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依匹配詞累計分數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5247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重複次數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此版本採對數 TF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詞頻飽和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5247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長度處理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向量正規化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相對平均文件長度調整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5247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同義改寫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不保證辨識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不保證辨識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BAEFB1-575E-4F47-96CE-8C51B73E0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57900"/>
            <a:ext cx="1076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兩者通常依字面特徵匹配；方法較早提出不代表一定不適用。</a:t>
            </a:r>
          </a:p>
        </p:txBody>
      </p:sp>
    </p:spTree>
    <p:extLst>
      <p:ext uri="{BB962C8B-B14F-4D97-AF65-F5344CB8AC3E}">
        <p14:creationId xmlns:p14="http://schemas.microsoft.com/office/powerpoint/2010/main" val="99574154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DEB0E5-6135-4C72-A1C3-85AE57CA9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Embedding 是檢索端的文字表示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65290B-0A50-4FA3-AA10-837A9D585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066800"/>
            <a:ext cx="1095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不是分類標籤，也不是生成答案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B34E0F-8A4A-466A-8A12-682102B5B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579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17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3C73E5-0F7F-4175-86A1-3794F0568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2333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分類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04D7F9-598D-493F-AF3A-ABA72DDCE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828800"/>
            <a:ext cx="8286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傳訊息罵人 →「侮辱」這個類別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58F3AE-610D-4356-9E88-FCC3316ED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28950"/>
            <a:ext cx="2333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Embedding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21447B-A14E-4D3D-A009-0F252EB5C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028950"/>
            <a:ext cx="8286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傳訊息罵人 → 一串可比較的數值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524A66-9C7F-4E3A-9B54-519054979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2333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匹配的可能性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11165D-0EA5-46F3-8057-5851E8A75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229100"/>
            <a:ext cx="8286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與「私訊辱罵」字面不同，向量仍可能接近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F47BD3-118D-496E-8406-5BD2A15CC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57900"/>
            <a:ext cx="1076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Nomic、BGE-M3 是模型例子；向量相近不保證內容正確。</a:t>
            </a:r>
          </a:p>
        </p:txBody>
      </p:sp>
    </p:spTree>
    <p:extLst>
      <p:ext uri="{BB962C8B-B14F-4D97-AF65-F5344CB8AC3E}">
        <p14:creationId xmlns:p14="http://schemas.microsoft.com/office/powerpoint/2010/main" val="203400014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272C36-99B2-4592-A790-5A66154A2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Embedding 與 FAISS 如何合作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4F64F2-F823-4EF2-9243-C5AC2FE65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066800"/>
            <a:ext cx="1095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Embedding 產生向量；FAISS 搜尋向量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EBDBA4-B641-435D-B775-02FACA55C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579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18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E0018E-8657-47C6-81D5-F319CD716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38375"/>
            <a:ext cx="2857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858A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0608A0-4070-46AA-B60E-0F4F8B1AE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81250"/>
            <a:ext cx="2590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查詢與文件</a:t>
            </a:r>
          </a:p>
          <a:p xmlns:a="http://schemas.openxmlformats.org/drawingml/2006/main">
            <a:pPr>
              <a:def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Embedding 編碼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C52F49-83E4-4D1D-AF55-07965290A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600325"/>
            <a:ext cx="5715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858A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BDD861-8DE6-4904-9EA4-0BC82750D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238375"/>
            <a:ext cx="2857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858A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AEB211-4BBA-4CA7-BCC4-72B784FEA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381250"/>
            <a:ext cx="2590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FAISS 建索引</a:t>
            </a:r>
          </a:p>
          <a:p xmlns:a="http://schemas.openxmlformats.org/drawingml/2006/main">
            <a:pPr>
              <a:def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搜尋相近向量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021A18-3D0C-4AA5-918E-A0EF48E66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600325"/>
            <a:ext cx="5715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858A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55745F-4A5D-4A82-A896-37E13231D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238375"/>
            <a:ext cx="2857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858A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07593F-DC25-48A7-B28B-FDE76EF60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381250"/>
            <a:ext cx="2590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取得 ID</a:t>
            </a:r>
          </a:p>
          <a:p xmlns:a="http://schemas.openxmlformats.org/drawingml/2006/main">
            <a:pPr>
              <a:def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取回文件原文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E8DAC8-B93D-49EE-B2C2-1C53B0A53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57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400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之後才交給 LLM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987888-D692-4345-8E2D-19425E073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9110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Embedding＋向量搜尋，才構成完整的檢索方式。</a:t>
            </a:r>
          </a:p>
          <a:p xmlns:a="http://schemas.openxmlformats.org/drawingml/2006/main">
            <a: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FAISS 不會自己讀懂文字，也不是生成模型。</a:t>
            </a:r>
          </a:p>
        </p:txBody>
      </p:sp>
    </p:spTree>
    <p:extLst>
      <p:ext uri="{BB962C8B-B14F-4D97-AF65-F5344CB8AC3E}">
        <p14:creationId xmlns:p14="http://schemas.microsoft.com/office/powerpoint/2010/main" val="18627854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8B02D1-20C7-472A-9AB5-0E878FC3D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分類、融合、重排是不同步驟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B4B623-8DD4-4719-97C6-3FABC76F7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066800"/>
            <a:ext cx="1095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以學長報告記載的租約條款系統為例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8F6915-4C44-4E66-8C0D-DECD084EF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579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19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3A26F8-C255-40C7-8529-6A062AF3C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190750"/>
            <a:ext cx="2857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858A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0076BF-5735-464F-ADE6-0820958B1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33625"/>
            <a:ext cx="2590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分類</a:t>
            </a:r>
          </a:p>
          <a:p xmlns:a="http://schemas.openxmlformats.org/drawingml/2006/main">
            <a:pPr>
              <a:def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判斷條款主題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49870A-C613-4301-AEAD-8D1C2E66D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552700"/>
            <a:ext cx="5715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858A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6F07AB-7F45-4AD0-8C36-62256428D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190750"/>
            <a:ext cx="2857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858A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458B27-FA3E-442C-97E5-E342687D3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333625"/>
            <a:ext cx="2590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BM25 檢索</a:t>
            </a:r>
          </a:p>
          <a:p xmlns:a="http://schemas.openxmlformats.org/drawingml/2006/main">
            <a:pPr>
              <a:def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多份候選排名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6ED07C-6E8A-4CF0-9384-4B8543394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552700"/>
            <a:ext cx="5715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858A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CD5CFF-BCFF-4483-B288-9626C4B36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90750"/>
            <a:ext cx="2857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858A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2D34E7-C0B1-4710-9DBB-6138B771C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333625"/>
            <a:ext cx="2590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RRF 融合</a:t>
            </a:r>
          </a:p>
          <a:p xmlns:a="http://schemas.openxmlformats.org/drawingml/2006/main">
            <a:pPr>
              <a:def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RF-CRC 重排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9A4E64-2028-4D10-819F-0C723FDF2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2333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分類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328F84-22D0-4A45-B107-CD833ABDE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48125"/>
            <a:ext cx="8286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幫助決定去哪個主題索引找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C1FA3A-C882-48C1-95B5-2B0574B82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81575"/>
            <a:ext cx="2333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融合與重排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7140EF-E91C-4A3A-A697-75733DC90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981575"/>
            <a:ext cx="8286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已有候選後，決定哪些資料更值得先看</a:t>
            </a:r>
          </a:p>
        </p:txBody>
      </p:sp>
    </p:spTree>
    <p:extLst>
      <p:ext uri="{BB962C8B-B14F-4D97-AF65-F5344CB8AC3E}">
        <p14:creationId xmlns:p14="http://schemas.microsoft.com/office/powerpoint/2010/main" val="48049762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44C69A-D888-479B-A305-AD496B01B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RRF：把多份排名合成一份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5E01B1-6C98-4FAC-8C8B-B906570CD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066800"/>
            <a:ext cx="1095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教學名次例子，不是學長系統的實測排名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9C639C-D2BD-4622-8E64-19A6077CE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579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20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C0E7DC-6FB3-43C6-94F5-3653DBB3DE69}"/>
              </a:ext>
            </a:extLst>
          </p:cNvPr>
          <p:cNvGraphicFramePr/>
          <p:nvPr/>
        </p:nvGraphicFramePr>
        <p:xfrm>
          <a:off xmlns:a="http://schemas.openxmlformats.org/drawingml/2006/main" x="590550" y="1714500"/>
          <a:ext xmlns:a="http://schemas.openxmlformats.org/drawingml/2006/main" cx="11010900" cy="2667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286250"/>
                <a:gridCol w="3333750"/>
                <a:gridCol w="3390900"/>
              </a:tblGrid>
              <a:tr h="66675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文件</a:t>
                      </a:r>
                    </a:p>
                  </a:txBody>
                  <a:tcPr marL="91440" marR="91440" marT="45720" marB="45720">
                    <a:solidFill>
                      <a:srgbClr val="EA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排名甲</a:t>
                      </a:r>
                    </a:p>
                  </a:txBody>
                  <a:tcPr marL="91440" marR="91440" marT="45720" marB="45720">
                    <a:solidFill>
                      <a:srgbClr val="EA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排名乙</a:t>
                      </a:r>
                    </a:p>
                  </a:txBody>
                  <a:tcPr marL="91440" marR="91440" marT="45720" marB="45720">
                    <a:solidFill>
                      <a:srgbClr val="EAF3F3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D1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D2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D3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3C5CE8-E2AD-4755-A8FF-1097C6AA3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10125"/>
            <a:ext cx="1095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45D9A"/>
                </a:solidFill>
                <a:latin typeface="Microsoft JhengHei"/>
                <a:ea typeface="Microsoft JhengHei"/>
                <a:cs typeface="Microsoft JhengHei"/>
              </a:rPr>
              <a:t>RRF 分數 = 各清單的 1 / (k + 名次) 加總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7E9D8C-4DA2-4213-A92B-819E505B9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34025"/>
            <a:ext cx="1095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例如 k = 60：融合後 D2 → D1 → D3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A04427-1A86-434E-94F9-2BB0164DD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57900"/>
            <a:ext cx="1076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利用名次融合，不直接混加不同檢索器的原始分數。</a:t>
            </a:r>
          </a:p>
        </p:txBody>
      </p:sp>
    </p:spTree>
    <p:extLst>
      <p:ext uri="{BB962C8B-B14F-4D97-AF65-F5344CB8AC3E}">
        <p14:creationId xmlns:p14="http://schemas.microsoft.com/office/powerpoint/2010/main" val="170129891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2ABBC4-7B22-49BF-A477-2A41ECE5C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RF-CRC：對候選重新排序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BEF70A-985B-4E29-957B-5A43704C7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066800"/>
            <a:ext cx="1095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學長使用的隨機森林排序器；不是向量資料庫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56546D-9A52-4C3C-9149-459579145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579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21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73E6EE-7202-4DEC-83A9-7D9EBE023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95500"/>
            <a:ext cx="2857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858A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630716-D5C1-4591-A031-7E78D6D4F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238375"/>
            <a:ext cx="2590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已有候選文件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43ECA2-E67F-47B5-AE39-863EABA5F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457450"/>
            <a:ext cx="5715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858A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A5B447-9E66-413D-8829-1814456DE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095500"/>
            <a:ext cx="2857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858A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A19B25-6DBC-4CAA-86FC-6035DEA87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238375"/>
            <a:ext cx="2590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建立候選特徵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C040C1-7C40-4C0D-86AC-4A46FE73C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457450"/>
            <a:ext cx="5715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858A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BD8379-943B-4562-9C50-6B9586C2B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095500"/>
            <a:ext cx="2857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858A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AA97FC-E2A0-433A-8D29-838CEBC3B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238375"/>
            <a:ext cx="2590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隨機森林評分</a:t>
            </a:r>
          </a:p>
          <a:p xmlns:a="http://schemas.openxmlformats.org/drawingml/2006/main">
            <a:pPr>
              <a:def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更新排名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1CC3BC-B6C4-4C21-A818-ED1810ED6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6240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400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使用哪些特徵？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C4A565-FC2F-474C-A97D-4ECFC45A7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743450"/>
            <a:ext cx="10858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文字重疊、主題符合程度、原始名次、RRF 分數…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06386F-99F7-4531-AD0C-75ABDA6F7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57900"/>
            <a:ext cx="1076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分類判主題；RRF 合併排名；RF-CRC 再評估候選。</a:t>
            </a:r>
          </a:p>
        </p:txBody>
      </p:sp>
    </p:spTree>
    <p:extLst>
      <p:ext uri="{BB962C8B-B14F-4D97-AF65-F5344CB8AC3E}">
        <p14:creationId xmlns:p14="http://schemas.microsoft.com/office/powerpoint/2010/main" val="1416382554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937166-62A1-49B0-95FB-BE886293B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IDEAL-RAG 原文使用的檢索器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B1AB3F-2FAD-40EC-8520-2202B4B4F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066800"/>
            <a:ext cx="1095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依 Table 4.1；方法重點仍在生成端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A09559-BFDB-41EE-B763-A83B8A6F5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579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22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E092CF-CEFA-4B74-8D0C-2F3818556254}"/>
              </a:ext>
            </a:extLst>
          </p:cNvPr>
          <p:cNvGraphicFramePr/>
          <p:nvPr/>
        </p:nvGraphicFramePr>
        <p:xfrm>
          <a:off xmlns:a="http://schemas.openxmlformats.org/drawingml/2006/main" x="590550" y="1666875"/>
          <a:ext xmlns:a="http://schemas.openxmlformats.org/drawingml/2006/main" cx="11010900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572000"/>
                <a:gridCol w="4152900"/>
                <a:gridCol w="2286000"/>
              </a:tblGrid>
              <a:tr h="6858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資料集</a:t>
                      </a:r>
                    </a:p>
                  </a:txBody>
                  <a:tcPr marL="91440" marR="91440" marT="45720" marB="45720">
                    <a:solidFill>
                      <a:srgbClr val="EA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檢索器</a:t>
                      </a:r>
                    </a:p>
                  </a:txBody>
                  <a:tcPr marL="91440" marR="91440" marT="45720" marB="45720">
                    <a:solidFill>
                      <a:srgbClr val="EAF3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top-k</a:t>
                      </a:r>
                    </a:p>
                  </a:txBody>
                  <a:tcPr marL="91440" marR="91440" marT="45720" marB="45720">
                    <a:solidFill>
                      <a:srgbClr val="EAF3F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PopQA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Contriever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Natural Questions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DPR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TriviaQA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Contriever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2WikiMultiHopQA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BM25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3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4DCC10-703D-4143-8D6F-DFCAFB946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5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D52C3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D52C3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D52C32"/>
                </a:solidFill>
                <a:latin typeface="Microsoft JhengHei"/>
                <a:ea typeface="Microsoft JhengHei"/>
                <a:cs typeface="Microsoft JhengHei"/>
              </a:rPr>
              <a:t>原文前文另稱 hybrid retriever；融合細節尚未確認。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A250F3-E66F-434B-90C0-649B1550C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57900"/>
            <a:ext cx="1076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我們的 PopQA 試跑讀取已附段落，沒有重跑這些檢索器。</a:t>
            </a:r>
          </a:p>
        </p:txBody>
      </p:sp>
    </p:spTree>
    <p:extLst>
      <p:ext uri="{BB962C8B-B14F-4D97-AF65-F5344CB8AC3E}">
        <p14:creationId xmlns:p14="http://schemas.microsoft.com/office/powerpoint/2010/main" val="283938115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8EE738-2D70-4FCB-A27A-645591C9B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檢索完成後：三種生成策略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71AD34-9753-4403-B088-E9EDE4523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066800"/>
            <a:ext cx="1095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三者都可能使用參數知識；差異在引導與組織方式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ADFFCA-426A-4527-8AAA-207E3C216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579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23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AD77AB-91C3-4F25-97B8-B0937ECA6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2333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基本 RAG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8F7BEB-79CA-4AB0-8954-A9AAC6E76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857375"/>
            <a:ext cx="8286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問題＋文件 → 生成回答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F154AB-B2EB-4068-B71B-528EB2FF7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2333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InstructRAG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DB2C7B-EAC8-4ADF-A033-D3EF1AD20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048000"/>
            <a:ext cx="8286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rationale 示範或微調 → 引導辨別雜訊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0C8907-5DFE-46F3-96FA-E1FE39CA8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38625"/>
            <a:ext cx="2333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IDEAL-RAG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1809C4-8CAC-4F8B-91D2-84FC231C2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238625"/>
            <a:ext cx="8286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獨立回想 → 內外觀點 → 連結整合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332625-8BB1-4B1E-A79B-2DC5975BD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57900"/>
            <a:ext cx="1076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更換檢索方法與更換生成策略，是兩件可以分別實驗的事。</a:t>
            </a:r>
          </a:p>
        </p:txBody>
      </p:sp>
    </p:spTree>
    <p:extLst>
      <p:ext uri="{BB962C8B-B14F-4D97-AF65-F5344CB8AC3E}">
        <p14:creationId xmlns:p14="http://schemas.microsoft.com/office/powerpoint/2010/main" val="1588873011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2750B4-9619-4A13-A84B-F17FCDA10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"/>
            <a:ext cx="1104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結論：先表示與檢索，再生成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3D66F2-83DC-4924-A0C9-E861E7527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579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24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CEEA0E-2C40-4569-A102-4F0284D64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2333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我的司法系統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59921E-6657-4720-BB6E-66E282B1F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762125"/>
            <a:ext cx="8286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官網候選 → TF-IDF＋cosine → 規則排序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280C26-151E-4D67-9D02-1D1B2D1D0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19425"/>
            <a:ext cx="2333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向量檢索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E62CCD-CEC4-481A-AFC9-FBF6AF0D1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019425"/>
            <a:ext cx="8286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Embedding 產生向量 → FAISS 搜尋 → 取回原文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1EF00D-93C8-4CD3-8311-86065560A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76725"/>
            <a:ext cx="2333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858A"/>
                </a:solidFill>
                <a:latin typeface="Microsoft JhengHei"/>
                <a:ea typeface="Microsoft JhengHei"/>
                <a:cs typeface="Microsoft JhengHei"/>
              </a:rPr>
              <a:t>生成端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58D408-3A07-4964-9785-11073DD79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276725"/>
            <a:ext cx="8286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173340"/>
                </a:solidFill>
                <a:latin typeface="Microsoft JhengHei"/>
                <a:ea typeface="Microsoft JhengHei"/>
                <a:cs typeface="Microsoft JhengHei"/>
              </a:rPr>
              <a:t>讀取問題與文件；IDEAL-RAG 再明確拆開知識處理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D0F9F9-C9A6-4D0E-82C1-0ADC374BB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57900"/>
            <a:ext cx="1076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5F717B"/>
                </a:solidFill>
                <a:latin typeface="Microsoft JhengHei"/>
                <a:ea typeface="Microsoft JhengHei"/>
                <a:cs typeface="Microsoft JhengHei"/>
              </a:rPr>
              <a:t>現場 Demo：檢索與IDEAL核心展示.ipynb，第 1～3 節。</a:t>
            </a:r>
          </a:p>
        </p:txBody>
      </p:sp>
    </p:spTree>
    <p:extLst>
      <p:ext uri="{BB962C8B-B14F-4D97-AF65-F5344CB8AC3E}">
        <p14:creationId xmlns:p14="http://schemas.microsoft.com/office/powerpoint/2010/main" val="37110827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2026-10-11T23:33:38.5760000Z</dcterms:created>
  <dcterms:modified xsi:type="dcterms:W3CDTF">2026-10-11T23:33:38.5760000Z</dcterms:modified>
</coreProperties>
</file>