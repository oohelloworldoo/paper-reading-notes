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80" r:id="rId3"/>
    <p:sldId id="258" r:id="rId4"/>
    <p:sldId id="282" r:id="rId5"/>
    <p:sldId id="283" r:id="rId6"/>
    <p:sldId id="284" r:id="rId7"/>
    <p:sldId id="281" r:id="rId8"/>
    <p:sldId id="285" r:id="rId9"/>
    <p:sldId id="286" r:id="rId10"/>
    <p:sldId id="287" r:id="rId11"/>
    <p:sldId id="288" r:id="rId12"/>
    <p:sldId id="259" r:id="rId13"/>
    <p:sldId id="289" r:id="rId14"/>
    <p:sldId id="264" r:id="rId15"/>
    <p:sldId id="298" r:id="rId16"/>
    <p:sldId id="265" r:id="rId17"/>
    <p:sldId id="266" r:id="rId18"/>
    <p:sldId id="291" r:id="rId19"/>
    <p:sldId id="267" r:id="rId20"/>
    <p:sldId id="268" r:id="rId21"/>
    <p:sldId id="292" r:id="rId22"/>
    <p:sldId id="293" r:id="rId23"/>
    <p:sldId id="294" r:id="rId24"/>
    <p:sldId id="295" r:id="rId25"/>
    <p:sldId id="296" r:id="rId26"/>
    <p:sldId id="297" r:id="rId27"/>
    <p:sldId id="299" r:id="rId28"/>
    <p:sldId id="262" r:id="rId29"/>
    <p:sldId id="271" r:id="rId30"/>
    <p:sldId id="301" r:id="rId31"/>
    <p:sldId id="261" r:id="rId32"/>
    <p:sldId id="300" r:id="rId33"/>
    <p:sldId id="269" r:id="rId34"/>
    <p:sldId id="277" r:id="rId3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854D9-3717-6565-E99C-DE55DE2C6577}" v="411" dt="2026-10-12T05:05:00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開場：本次回答三件事，各工具做什麼、自己的司法系統怎麼排序，以及原論文用了哪些檢索器。先講流程，再用 Notebook 輸出說明。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A39B3-E09D-5BDF-37CC-FE1C555D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99473-080E-AA19-C6F1-E641CA1E5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75F03-487D-D59C-4C4D-EC82A5936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文件來源可為本機或網站。以此圖定位工具，RAG 是整體流程。生成策略不是檢索器。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60B47-00E3-762C-BC4F-D5E089B2F20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0611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文件來源可為本機或網站。以此圖定位工具，RAG 是整體流程。生成策略不是檢索器。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E3D8-BF37-578A-39F6-FF9FA34D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168F1-495D-BE03-97BF-981F6CAD0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34A73-AC54-ABDC-8822-5977685FA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文件來源可為本機或網站。以此圖定位工具，RAG 是整體流程。生成策略不是檢索器。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6187A-F7D5-3910-5D91-048F37850BF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8835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0116-8115-9FCC-9181-11BDAC760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967EB-5A51-47A9-467C-7770799E8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D30B6-7DF0-DA7C-13E2-C5B49F341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文件來源可為本機或網站。以此圖定位工具，RAG 是整體流程。生成策略不是檢索器。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EE061-F4B2-ECE4-EF24-7D3D36E44C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5290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5D65-F831-17F6-23E8-DAF5F72C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6745A-13C2-819D-3962-41C03943A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4947F-3DE2-65A6-FB0F-D8D936FCC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文件來源可為本機或網站。以此圖定位工具，RAG 是整體流程。生成策略不是檢索器。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1458E-05F4-D585-42FC-DE9D1ACF3B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2867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9634F-9297-7089-B950-3EC5E6C3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C7AB6-B0D6-1C57-AF82-46FBC35D8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9BA97-DEAD-ED38-9F43-105E74F92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Nomic、BGE-M3 是模型例子，今天不展開版本細節。BGE-M3 另支援 sparse/multi-vector。Chroma 僅定位，不另展開。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8F479-8082-2440-F18B-B7EE9D79825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7087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6563E-50F2-DCBD-DB22-016B1782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4C5D-E7F5-54C3-B598-92FAC8AF6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DC122-A30A-2522-7C57-5BD60778E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Nomic、BGE-M3 是模型例子，今天不展開版本細節。BGE-M3 另支援 sparse/multi-vector。Chroma 僅定位，不另展開。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7C2CB-90F3-FBCB-7397-E4052D19BCA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6881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0E70-8150-9410-8E2B-437B31D16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A0AF1-789B-4D19-DE5A-BA36E8CAA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C91389-9EA4-52A3-02EE-BDAD12F47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Nomic、BGE-M3 是模型例子，今天不展開版本細節。BGE-M3 另支援 sparse/multi-vector。Chroma 僅定位，不另展開。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7B410-8EE8-7F17-F470-1BA4B09DCB9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3769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9887-136E-CFB9-0343-BA8F6FB6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A4123-532E-99D9-193C-869F1CF4D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4720C-AFE0-63A3-21D4-88691500F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Nomic、BGE-M3 是模型例子，今天不展開版本細節。BGE-M3 另支援 sparse/multi-vector。Chroma 僅定位，不另展開。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691B3-1662-6F4F-327D-952055E971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7053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CF3E-FE29-BCBE-54C5-D2DFCD98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7FF2B-62FA-F350-81BF-DAEB100F0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1EE92-C1A0-C0B7-D583-C3B7E1140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Nomic、BGE-M3 是模型例子，今天不展開版本細節。BGE-M3 另支援 sparse/multi-vector。Chroma 僅定位，不另展開。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9E71-3740-34CC-5183-BAABE8BA8BE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7952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Nomic、BGE-M3 是模型例子，今天不展開版本細節。BGE-M3 另支援 sparse/multi-vector。Chroma 僅定位，不另展開。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8EEF8-F382-C8B0-DCE4-056B6EFC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0A34B-0299-D38C-751B-BA2F28605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75B78-27F3-B184-9496-E9AF67EED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6E90-7389-041B-D6F3-D714FE2CE2D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49237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截圖來源：C:/Temp/codex-clipboard-9e64b639-f542-431d-9a87-29aad228a3e8.png。第 1 個紅框依序講設定、fit/transform、輸出形狀。截圖未改值。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D23E-48E2-3006-4BFF-6A670DF2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96F7F-42D7-C8B4-C85F-6DF1C787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93D10-2185-324A-BF5A-65969C031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截圖來源：C:/Temp/codex-clipboard-9e64b639-f542-431d-9a87-29aad228a3e8.png。第 1 個紅框依序講設定、fit/transform、輸出形狀。截圖未改值。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F00EB-A81A-FE7C-83EC-7D42509BB41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9453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截圖來源：C:/Temp/codex-clipboard-9e64b639-f542-431d-9a87-29aad228a3e8.png。第 2 個紅框依序講設定、fit/transform、輸出形狀。截圖未改值。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截圖來源：C:/Temp/codex-clipboard-9e64b639-f542-431d-9a87-29aad228a3e8.png。第 3 個紅框依序講設定、fit/transform、輸出形狀。截圖未改值。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F3382-21ED-AC31-B06A-14758E5AF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A8B9D-782F-252B-C022-CD0D25B87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E7FA4-426E-4711-AABB-34D59A731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12EEA-D3C6-A1C9-003D-16028F3FCE8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6058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截圖來源：C:/Temp/codex-clipboard-6f73eb5a-b10c-42d5-83a2-67dda7a69884.png。裁切只改顯示範圍，沒有重製表格或數值。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69B4-4BE1-E3A8-25D9-FC8FBC04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C1662-8C09-62E1-8E01-0EF6B8474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185D0-087E-4D8F-CFD9-C9B224695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A67C2-7938-3527-6ED9-941AEFAE3CA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33973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6EB6-EE9A-35AC-F520-972CC7CA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488C0-FD08-FC65-BD60-3877FAFF9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15B1D-6A3B-DD80-52B9-78F3280F0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29B1F-4B16-D01E-8128-945725A8117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33220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183F-8C9A-A7ED-408B-C58D4A752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B34A1-054B-441A-1776-B5EEC9A0E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B5B03-0B7F-07D4-712D-AE07483C0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C508A-9C50-130E-9FF4-A13A1AED95A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5130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183F-8C9A-A7ED-408B-C58D4A752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B34A1-054B-441A-1776-B5EEC9A0E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B5B03-0B7F-07D4-712D-AE07483C0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C508A-9C50-130E-9FF4-A13A1AED95A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51307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9139D-83F7-1C5C-5BFC-CF66F8C1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3F6D1-B2BA-96B2-9E35-24917ADB3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5D9B8-7420-A764-3FED-7D5956AF3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B4BD8-EAAA-967A-26AC-077EB010BE4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20833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5481-DEF2-3069-05F6-CEC42613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65F52-B932-4306-3345-17476C9A3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EFE8F-C79D-3153-1037-F3819E1D1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B8200-32DB-C18D-7AE6-6756BFA4248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04627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2077-53FC-8A79-F401-3BDA6672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DA229-339E-85EE-88D7-FEC1659C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B514A-895E-D24C-3C74-044CE388A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截圖來源同前。私訊 DF=2，IDF=1.2877；其他 df=1，idf1.6931。Q=D1。顯示的是 L2 正規化後權重。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9579C-A06A-7CAB-EDC4-A8FF0736E92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72723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https://scikit-learn.org/stable/modules/generated/sklearn.feature_extraction.text.TfidfTransformer.html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 https://www.elastic.co/docs/reference/elasticsearch/index-settings/similarity ; https://scikit-learn.org/stable/modules/generated/sklearn.feature_extraction.text.TfidfTransformer.html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637C-7FD1-F29D-E02E-FD4D3E38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96993-93DF-508B-47E2-B6DAD369F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77108-7862-4871-EA99-E2655E130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 https://www.elastic.co/docs/reference/elasticsearch/index-settings/similarity ; https://scikit-learn.org/stable/modules/generated/sklearn.feature_extraction.text.TfidfTransformer.html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D61AE-1436-E1AA-ED7A-2B4FDFB827C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56391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 core.py::chunks / retrieve。800、160 是字元，不是 token；2～4 是 n-gram。2～4 不是 TF-IDF 定義，未宣稱經調參最佳。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A8BF-7453-BF0C-FDF7-555406A0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B9D54-5FB1-11DC-4177-743D8FC39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296F6-DE35-3021-D42C-27E4EF12D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 core.py::chunks / retrieve。800、160 是字元，不是 token；2～4 是 n-gram。2～4 不是 TF-IDF 定義，未宣稱經調參最佳。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9EB26-A746-CB60-5F60-CA4C64637F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91549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數字核對已執行 Notebook。此案例沒有套司法系統規則加分；用未四捨五入權重計算。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來源IDEAL-RAG原文Table4.1，§4.1.1另稱hybrid組合，與表格呈現不完全一致；未確認融合權重/索引後端。這是實驗配置，不是IDEAL必需採特定retriever。</a:t>
            </a:r>
          </a:p>
          <a:p>
            <a:r>
              <a:t>內容依據：使用者貼上的 README、司法系統 core.py / live_search.py、檢索與IDEAL核心展示.ipynb。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827F7AB-2041-4B08-869D-7D2F5895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579D9E0-2570-4E74-AE73-37A987946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C6BA7C7-33F4-48C2-A1C7-79C6E965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D05088-B141-4220-B6CD-84B2F474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A58DD03-772D-42B6-BBBA-65BCC0794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5315030-C464-486D-BC13-5772C5E6E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9486279-185C-4CDD-90FC-F680A8C87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907F922-ED1A-4B55-AB62-3B0CE13C31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C4CA90C-FFEE-4546-96A1-CBACA044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C30C978-19BB-4E99-8A97-FCDF2F09C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B323471-BF40-4ABF-A0A1-C168EF22A05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RAG：</a:t>
            </a:r>
            <a:r>
              <a:rPr lang="zh-TW"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檢索工具</a:t>
            </a:r>
            <a:endParaRPr lang="zh-TW" altLang="en-US" sz="3150" b="1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5F68EA-5EF5-4446-A03D-148C3F65D1F8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E925C4-E46E-4A6F-8AD7-97D038F5B2FE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10668000" cy="2095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9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9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00" b="0" dirty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1. </a:t>
            </a:r>
            <a:r>
              <a:rPr sz="2900" b="0" dirty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工具在流程中的位置</a:t>
            </a:r>
            <a:endParaRPr lang="zh-TW" altLang="en-US" sz="2900" b="0" dirty="0" err="1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29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00" b="0" dirty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2. TF-IDF </a:t>
            </a:r>
            <a:r>
              <a:rPr sz="2900" b="0" dirty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的程式與向量</a:t>
            </a:r>
          </a:p>
          <a:p>
            <a:pPr>
              <a:defRPr sz="29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3. </a:t>
            </a:r>
            <a:r>
              <a:rPr lang="af-ZA" sz="29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BM25</a:t>
            </a:r>
            <a:r>
              <a:rPr lang="zh-TW" altLang="af-ZA" sz="29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、向量檢索與重排</a:t>
            </a:r>
            <a:endParaRPr sz="2900" b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33004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0D891-40BA-3790-E6F5-73F131402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490168F-C5A7-5EED-1474-26ADDEFDB146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pic>
        <p:nvPicPr>
          <p:cNvPr id="16" name="圖片 15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EA0B61A6-41E3-A60F-DCB6-108AED35E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148" y="0"/>
            <a:ext cx="58657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52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33A7E86-ED58-4C21-830E-C433272686A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RAG 的完整流程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AF07FF-0F81-4145-A548-809D99789D12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85C88D-41BD-4A1B-9EF6-CFAAB5B8BACE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857500" cy="904875"/>
          </a:xfrm>
          <a:prstGeom prst="rect">
            <a:avLst/>
          </a:prstGeom>
          <a:noFill/>
          <a:ln w="19050">
            <a:solidFill>
              <a:srgbClr val="00858A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D98F73-E1AA-4A6E-80A9-FEED41AB9EA0}"/>
              </a:ext>
            </a:extLst>
          </p:cNvPr>
          <p:cNvSpPr>
            <a:spLocks noGrp="1"/>
          </p:cNvSpPr>
          <p:nvPr/>
        </p:nvSpPr>
        <p:spPr>
          <a:xfrm>
            <a:off x="1181100" y="2619375"/>
            <a:ext cx="25908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文件來源</a:t>
            </a:r>
          </a:p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清理與切段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15B6A1F8-8BA7-44FA-B848-CD0FFD5E2E07}"/>
              </a:ext>
            </a:extLst>
          </p:cNvPr>
          <p:cNvSpPr>
            <a:spLocks noGrp="1"/>
          </p:cNvSpPr>
          <p:nvPr/>
        </p:nvSpPr>
        <p:spPr>
          <a:xfrm>
            <a:off x="4000500" y="2838450"/>
            <a:ext cx="571500" cy="190500"/>
          </a:xfrm>
          <a:prstGeom prst="rightArrow">
            <a:avLst/>
          </a:prstGeom>
          <a:solidFill>
            <a:srgbClr val="00858A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B37877-7979-4457-BFCE-BDBF680450E5}"/>
              </a:ext>
            </a:extLst>
          </p:cNvPr>
          <p:cNvSpPr>
            <a:spLocks noGrp="1"/>
          </p:cNvSpPr>
          <p:nvPr/>
        </p:nvSpPr>
        <p:spPr>
          <a:xfrm>
            <a:off x="4667250" y="2476500"/>
            <a:ext cx="2857500" cy="904875"/>
          </a:xfrm>
          <a:prstGeom prst="rect">
            <a:avLst/>
          </a:prstGeom>
          <a:noFill/>
          <a:ln w="19050">
            <a:solidFill>
              <a:srgbClr val="00858A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5C8329-40ED-46B0-8A24-6F26E851662F}"/>
              </a:ext>
            </a:extLst>
          </p:cNvPr>
          <p:cNvSpPr>
            <a:spLocks noGrp="1"/>
          </p:cNvSpPr>
          <p:nvPr/>
        </p:nvSpPr>
        <p:spPr>
          <a:xfrm>
            <a:off x="4800600" y="2619375"/>
            <a:ext cx="25908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檢索與排序</a:t>
            </a:r>
          </a:p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取得參考段落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1267F1B5-E9FF-4F2B-A3AE-78668EE89CAB}"/>
              </a:ext>
            </a:extLst>
          </p:cNvPr>
          <p:cNvSpPr>
            <a:spLocks noGrp="1"/>
          </p:cNvSpPr>
          <p:nvPr/>
        </p:nvSpPr>
        <p:spPr>
          <a:xfrm>
            <a:off x="7620000" y="2838450"/>
            <a:ext cx="571500" cy="190500"/>
          </a:xfrm>
          <a:prstGeom prst="rightArrow">
            <a:avLst/>
          </a:prstGeom>
          <a:solidFill>
            <a:srgbClr val="00858A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E3F69A-8CC6-4F94-9D9E-1A495FA40472}"/>
              </a:ext>
            </a:extLst>
          </p:cNvPr>
          <p:cNvSpPr>
            <a:spLocks noGrp="1"/>
          </p:cNvSpPr>
          <p:nvPr/>
        </p:nvSpPr>
        <p:spPr>
          <a:xfrm>
            <a:off x="8286750" y="2476500"/>
            <a:ext cx="2857500" cy="904875"/>
          </a:xfrm>
          <a:prstGeom prst="rect">
            <a:avLst/>
          </a:prstGeom>
          <a:noFill/>
          <a:ln w="19050">
            <a:solidFill>
              <a:srgbClr val="00858A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E1BAEC-C7D8-46F1-921E-192FB2E463BC}"/>
              </a:ext>
            </a:extLst>
          </p:cNvPr>
          <p:cNvSpPr>
            <a:spLocks noGrp="1"/>
          </p:cNvSpPr>
          <p:nvPr/>
        </p:nvSpPr>
        <p:spPr>
          <a:xfrm>
            <a:off x="8420100" y="2619375"/>
            <a:ext cx="25908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組合問題與資料</a:t>
            </a:r>
          </a:p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LLM 生成回答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46D106-1E91-486C-A04D-81250DFBE5B2}"/>
              </a:ext>
            </a:extLst>
          </p:cNvPr>
          <p:cNvSpPr>
            <a:spLocks noGrp="1"/>
          </p:cNvSpPr>
          <p:nvPr/>
        </p:nvSpPr>
        <p:spPr>
          <a:xfrm>
            <a:off x="4476750" y="3810000"/>
            <a:ext cx="3238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0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TF-IDF＋cosine／BM25</a:t>
            </a:r>
            <a:r>
              <a:rPr lang="en-US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/</a:t>
            </a:r>
            <a:endParaRPr sz="1800" b="0">
              <a:solidFill>
                <a:srgbClr val="00858A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180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dirty="0" err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Embedding＋向量搜尋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C89C92-5C5E-41BB-8F4E-2A7B8FF0BBEC}"/>
              </a:ext>
            </a:extLst>
          </p:cNvPr>
          <p:cNvSpPr>
            <a:spLocks noGrp="1"/>
          </p:cNvSpPr>
          <p:nvPr/>
        </p:nvSpPr>
        <p:spPr>
          <a:xfrm>
            <a:off x="8382000" y="3810000"/>
            <a:ext cx="304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0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基本 RAG</a:t>
            </a:r>
          </a:p>
          <a:p>
            <a:pPr>
              <a:defRPr sz="180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InstructRAG／IDEAL-RAG</a:t>
            </a:r>
          </a:p>
        </p:txBody>
      </p:sp>
    </p:spTree>
    <p:extLst>
      <p:ext uri="{BB962C8B-B14F-4D97-AF65-F5344CB8AC3E}">
        <p14:creationId xmlns:p14="http://schemas.microsoft.com/office/powerpoint/2010/main" val="1953507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0A5BC-0605-2451-6353-A254F2BE4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5FC3E0B-A852-CB08-BC5E-2D32A37440FE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pic>
        <p:nvPicPr>
          <p:cNvPr id="16" name="圖片 15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3007E7AA-0C0A-007F-A771-D64B7EE59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148" y="0"/>
            <a:ext cx="5865704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BAB6817-5399-653B-A309-20A33038EE0B}"/>
              </a:ext>
            </a:extLst>
          </p:cNvPr>
          <p:cNvSpPr>
            <a:spLocks noGrp="1"/>
          </p:cNvSpPr>
          <p:nvPr/>
        </p:nvSpPr>
        <p:spPr>
          <a:xfrm>
            <a:off x="4736680" y="4670"/>
            <a:ext cx="4198683" cy="1878642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849CBE-B794-610B-CC25-AF56D4612BDD}"/>
              </a:ext>
            </a:extLst>
          </p:cNvPr>
          <p:cNvSpPr>
            <a:spLocks noGrp="1"/>
          </p:cNvSpPr>
          <p:nvPr/>
        </p:nvSpPr>
        <p:spPr>
          <a:xfrm>
            <a:off x="160490" y="1036007"/>
            <a:ext cx="2857500" cy="904875"/>
          </a:xfrm>
          <a:prstGeom prst="rect">
            <a:avLst/>
          </a:prstGeom>
          <a:noFill/>
          <a:ln w="19050">
            <a:solidFill>
              <a:srgbClr val="00858A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27DA2C-D9A0-BC6C-EC85-91DA7D4CCCB7}"/>
              </a:ext>
            </a:extLst>
          </p:cNvPr>
          <p:cNvSpPr>
            <a:spLocks noGrp="1"/>
          </p:cNvSpPr>
          <p:nvPr/>
        </p:nvSpPr>
        <p:spPr>
          <a:xfrm>
            <a:off x="293840" y="1178882"/>
            <a:ext cx="25908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文件來源</a:t>
            </a:r>
          </a:p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清理與切段</a:t>
            </a:r>
          </a:p>
        </p:txBody>
      </p:sp>
    </p:spTree>
    <p:extLst>
      <p:ext uri="{BB962C8B-B14F-4D97-AF65-F5344CB8AC3E}">
        <p14:creationId xmlns:p14="http://schemas.microsoft.com/office/powerpoint/2010/main" val="4442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F0DFE-8B53-20EB-EE81-B0E0007B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5855AED-AFD1-CAF0-8804-F0A63C3C0AD0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pic>
        <p:nvPicPr>
          <p:cNvPr id="16" name="圖片 15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C34B7B3D-8731-3B4B-7A79-6BA5CF4EC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148" y="0"/>
            <a:ext cx="5865704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9B8DE4F-3C9E-AA6A-1CF4-8D7C5638E9DC}"/>
              </a:ext>
            </a:extLst>
          </p:cNvPr>
          <p:cNvSpPr>
            <a:spLocks noGrp="1"/>
          </p:cNvSpPr>
          <p:nvPr/>
        </p:nvSpPr>
        <p:spPr>
          <a:xfrm>
            <a:off x="3160488" y="2311547"/>
            <a:ext cx="4689285" cy="2682394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8A5034-CFF1-8572-C713-045CD4A5A4E7}"/>
              </a:ext>
            </a:extLst>
          </p:cNvPr>
          <p:cNvSpPr>
            <a:spLocks noGrp="1"/>
          </p:cNvSpPr>
          <p:nvPr/>
        </p:nvSpPr>
        <p:spPr>
          <a:xfrm>
            <a:off x="137004" y="3134117"/>
            <a:ext cx="2857500" cy="904875"/>
          </a:xfrm>
          <a:prstGeom prst="rect">
            <a:avLst/>
          </a:prstGeom>
          <a:noFill/>
          <a:ln w="19050">
            <a:solidFill>
              <a:srgbClr val="00858A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5EE1B5-7E9A-EB75-333D-CE11BCAB47DE}"/>
              </a:ext>
            </a:extLst>
          </p:cNvPr>
          <p:cNvSpPr>
            <a:spLocks noGrp="1"/>
          </p:cNvSpPr>
          <p:nvPr/>
        </p:nvSpPr>
        <p:spPr>
          <a:xfrm>
            <a:off x="270354" y="3276992"/>
            <a:ext cx="25908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檢索與排序</a:t>
            </a:r>
          </a:p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取得參考段落</a:t>
            </a:r>
          </a:p>
        </p:txBody>
      </p:sp>
    </p:spTree>
    <p:extLst>
      <p:ext uri="{BB962C8B-B14F-4D97-AF65-F5344CB8AC3E}">
        <p14:creationId xmlns:p14="http://schemas.microsoft.com/office/powerpoint/2010/main" val="379138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4B5A7-2EC6-7C66-DD16-D7D307648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AB936CF-BBDC-6BCE-BE68-28400F6CC65B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pic>
        <p:nvPicPr>
          <p:cNvPr id="16" name="圖片 15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643D5442-051F-0741-8E81-FB006B68A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148" y="0"/>
            <a:ext cx="5865704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3E5A457-A2E8-234D-4309-6E4D03578448}"/>
              </a:ext>
            </a:extLst>
          </p:cNvPr>
          <p:cNvSpPr>
            <a:spLocks noGrp="1"/>
          </p:cNvSpPr>
          <p:nvPr/>
        </p:nvSpPr>
        <p:spPr>
          <a:xfrm>
            <a:off x="3801960" y="5557179"/>
            <a:ext cx="5148573" cy="1304533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13B80A-240F-90A1-DE4F-80A3575594A8}"/>
              </a:ext>
            </a:extLst>
          </p:cNvPr>
          <p:cNvSpPr>
            <a:spLocks noGrp="1"/>
          </p:cNvSpPr>
          <p:nvPr/>
        </p:nvSpPr>
        <p:spPr>
          <a:xfrm>
            <a:off x="155271" y="5691514"/>
            <a:ext cx="2857500" cy="904875"/>
          </a:xfrm>
          <a:prstGeom prst="rect">
            <a:avLst/>
          </a:prstGeom>
          <a:noFill/>
          <a:ln w="19050">
            <a:solidFill>
              <a:srgbClr val="00858A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5D9546-47A4-B38D-FFF0-CB1165BCACC4}"/>
              </a:ext>
            </a:extLst>
          </p:cNvPr>
          <p:cNvSpPr>
            <a:spLocks noGrp="1"/>
          </p:cNvSpPr>
          <p:nvPr/>
        </p:nvSpPr>
        <p:spPr>
          <a:xfrm>
            <a:off x="288621" y="5834389"/>
            <a:ext cx="25908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組合問題與資料</a:t>
            </a:r>
          </a:p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LLM 生成回答</a:t>
            </a:r>
          </a:p>
        </p:txBody>
      </p:sp>
    </p:spTree>
    <p:extLst>
      <p:ext uri="{BB962C8B-B14F-4D97-AF65-F5344CB8AC3E}">
        <p14:creationId xmlns:p14="http://schemas.microsoft.com/office/powerpoint/2010/main" val="220753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003A2-17AE-EDE6-0431-9AC83EA1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FAA6594-3B63-308B-CF3B-F710A008F254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工具的角色分類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3D8391-E419-3F65-8A0C-1A973F9F492E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14" name="圖片 13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3C2F0C15-8C9D-2C08-8256-7D7407102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0632"/>
            <a:ext cx="12192000" cy="183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5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8882A-5872-9B96-4F70-6A4CFF46F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E4B12A3-949E-F6BC-C82F-E3BD6D3BD5B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工具的角色分類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943062-7A3E-6254-A002-7BD16E886065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14" name="圖片 13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25B15D2E-C0D2-7541-6724-515C358DF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0632"/>
            <a:ext cx="12192000" cy="183673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EFAF331-3F9B-C6A3-B473-8E971F3A883C}"/>
              </a:ext>
            </a:extLst>
          </p:cNvPr>
          <p:cNvSpPr>
            <a:spLocks noGrp="1"/>
          </p:cNvSpPr>
          <p:nvPr/>
        </p:nvSpPr>
        <p:spPr>
          <a:xfrm>
            <a:off x="2398" y="3740904"/>
            <a:ext cx="1328135" cy="761740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</p:spTree>
    <p:extLst>
      <p:ext uri="{BB962C8B-B14F-4D97-AF65-F5344CB8AC3E}">
        <p14:creationId xmlns:p14="http://schemas.microsoft.com/office/powerpoint/2010/main" val="2096804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1A43F6-6E2F-5482-5675-E833B347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DDDF314-FE1B-57C0-8B9F-7C44453A5CE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工具的角色分類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C296E9-42C1-4FB4-10EE-5D929777AC82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14" name="圖片 13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76CFE4F7-5C6F-A9AF-1E57-17C4207ED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0632"/>
            <a:ext cx="12192000" cy="183673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55FF5CE-E921-06FB-387E-79A65B83E3B9}"/>
              </a:ext>
            </a:extLst>
          </p:cNvPr>
          <p:cNvSpPr>
            <a:spLocks noGrp="1"/>
          </p:cNvSpPr>
          <p:nvPr/>
        </p:nvSpPr>
        <p:spPr>
          <a:xfrm>
            <a:off x="1317631" y="3688713"/>
            <a:ext cx="1829176" cy="803493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</p:spTree>
    <p:extLst>
      <p:ext uri="{BB962C8B-B14F-4D97-AF65-F5344CB8AC3E}">
        <p14:creationId xmlns:p14="http://schemas.microsoft.com/office/powerpoint/2010/main" val="373860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541D5-4053-C40D-8683-68E92E691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39B2DC4-173C-E2AD-F843-C51FFEF0179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工具的角色分類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968D0E-9B8C-D20F-19FE-AB4F5004A54C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14" name="圖片 13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FF95F246-62F1-9584-B6C9-1C122ADB4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0632"/>
            <a:ext cx="12192000" cy="183673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E2EE7B1-3892-9937-F816-34BE7572AAF7}"/>
              </a:ext>
            </a:extLst>
          </p:cNvPr>
          <p:cNvSpPr>
            <a:spLocks noGrp="1"/>
          </p:cNvSpPr>
          <p:nvPr/>
        </p:nvSpPr>
        <p:spPr>
          <a:xfrm>
            <a:off x="1317631" y="3688713"/>
            <a:ext cx="1829176" cy="803493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7116AA-B205-4F04-7F71-823896664CD6}"/>
              </a:ext>
            </a:extLst>
          </p:cNvPr>
          <p:cNvSpPr>
            <a:spLocks noGrp="1"/>
          </p:cNvSpPr>
          <p:nvPr/>
        </p:nvSpPr>
        <p:spPr>
          <a:xfrm>
            <a:off x="1322018" y="4748800"/>
            <a:ext cx="25908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1850" b="1">
                <a:solidFill>
                  <a:srgbClr val="173340"/>
                </a:solidFill>
                <a:latin typeface="Microsoft JhengHei"/>
                <a:ea typeface="Microsoft JhengHei"/>
              </a:rPr>
              <a:t>Embedding</a:t>
            </a:r>
            <a:r>
              <a:rPr lang="zh-TW" altLang="af-ZA" sz="1850" b="1">
                <a:solidFill>
                  <a:srgbClr val="173340"/>
                </a:solidFill>
                <a:latin typeface="Microsoft JhengHei"/>
                <a:ea typeface="Microsoft JhengHei"/>
              </a:rPr>
              <a:t>模型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346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D8197-8C17-A91F-9AA1-A6F52D2C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6527F81-322F-7E07-5ACA-41B024EBAA8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工具的角色分類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E61866-3426-5FAC-603B-FF7A5BFDD468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先看它收到什麼、輸出什麼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58C263-2791-264B-95C1-6FC4DCEA3B31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AA5028-30A1-029D-E212-0D5124C4698B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文字表示與評分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1748E-8BDC-09B5-CF04-37C5F643BCBA}"/>
              </a:ext>
            </a:extLst>
          </p:cNvPr>
          <p:cNvSpPr>
            <a:spLocks noGrp="1"/>
          </p:cNvSpPr>
          <p:nvPr/>
        </p:nvSpPr>
        <p:spPr>
          <a:xfrm>
            <a:off x="3048000" y="1762125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TF-IDF</a:t>
            </a:r>
            <a:r>
              <a:rPr lang="zh-TW" altLang="en-US"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lang="en-US" sz="21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cosine、</a:t>
            </a: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BM25、embedding</a:t>
            </a: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4BB276-80D0-A6F4-E864-56CB9FD2E686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索引與資料管理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516C8A-7EA0-9D63-F133-8BB3630714ED}"/>
              </a:ext>
            </a:extLst>
          </p:cNvPr>
          <p:cNvSpPr>
            <a:spLocks noGrp="1"/>
          </p:cNvSpPr>
          <p:nvPr/>
        </p:nvSpPr>
        <p:spPr>
          <a:xfrm>
            <a:off x="3048000" y="2762250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FAISS：搜尋向量；Chroma：管理與查詢資料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8E4E62-0F5B-3ED8-547A-0967F7697490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分類與候選排序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D39555-874D-71FA-50DF-FE06CCF69E4D}"/>
              </a:ext>
            </a:extLst>
          </p:cNvPr>
          <p:cNvSpPr>
            <a:spLocks noGrp="1"/>
          </p:cNvSpPr>
          <p:nvPr/>
        </p:nvSpPr>
        <p:spPr>
          <a:xfrm>
            <a:off x="3048000" y="3762375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分類器判主題；RRF 融合；RF-CRC 重排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361ABF-5A81-FC3B-FEC0-60C58A39537D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生成端知識處理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664C1E-E48A-5543-509C-1F7DE9D0D183}"/>
              </a:ext>
            </a:extLst>
          </p:cNvPr>
          <p:cNvSpPr>
            <a:spLocks noGrp="1"/>
          </p:cNvSpPr>
          <p:nvPr/>
        </p:nvSpPr>
        <p:spPr>
          <a:xfrm>
            <a:off x="3048000" y="4762500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基本 RAG、InstructRAG、IDEAL-RAG</a:t>
            </a:r>
          </a:p>
        </p:txBody>
      </p:sp>
    </p:spTree>
    <p:extLst>
      <p:ext uri="{BB962C8B-B14F-4D97-AF65-F5344CB8AC3E}">
        <p14:creationId xmlns:p14="http://schemas.microsoft.com/office/powerpoint/2010/main" val="85057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8694C35-9BCE-4AF0-9DEF-CDC99A3BA0CF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工具的角色分類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F5CF17-E9DF-4779-8EF4-E7AF7112EC93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先看它收到什麼、輸出什麼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E6853D-8377-4F31-A6FE-FEE2D0BF705D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D77550-A023-4CDF-BCFA-817311122141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文字表示與評分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0439D4-3EF5-4DA8-89E4-493A93656D9C}"/>
              </a:ext>
            </a:extLst>
          </p:cNvPr>
          <p:cNvSpPr>
            <a:spLocks noGrp="1"/>
          </p:cNvSpPr>
          <p:nvPr/>
        </p:nvSpPr>
        <p:spPr>
          <a:xfrm>
            <a:off x="3048000" y="1762125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TF-IDF</a:t>
            </a:r>
            <a:r>
              <a:rPr lang="zh-TW" altLang="en-US"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lang="en-US" sz="21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cosine、</a:t>
            </a: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BM25、embedding</a:t>
            </a: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FF01AF-E794-49ED-89CE-51BFEA880706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索引與資料管理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27A427-C669-469A-AE65-F2500CF05A31}"/>
              </a:ext>
            </a:extLst>
          </p:cNvPr>
          <p:cNvSpPr>
            <a:spLocks noGrp="1"/>
          </p:cNvSpPr>
          <p:nvPr/>
        </p:nvSpPr>
        <p:spPr>
          <a:xfrm>
            <a:off x="3048000" y="2762250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FAISS：搜尋向量；Chroma：管理與查詢資料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B58D51-539A-455E-855D-09C5B9A06662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分類與候選排序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B75BD2-8940-472F-BE95-34ACFCC08865}"/>
              </a:ext>
            </a:extLst>
          </p:cNvPr>
          <p:cNvSpPr>
            <a:spLocks noGrp="1"/>
          </p:cNvSpPr>
          <p:nvPr/>
        </p:nvSpPr>
        <p:spPr>
          <a:xfrm>
            <a:off x="3048000" y="3762375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分類器判主題；RRF 融合；RF-CRC 重排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C053F7-A291-4F69-9DA1-3150CBEE43FE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生成端知識處理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747C51-CE96-4525-930F-5B114940BE82}"/>
              </a:ext>
            </a:extLst>
          </p:cNvPr>
          <p:cNvSpPr>
            <a:spLocks noGrp="1"/>
          </p:cNvSpPr>
          <p:nvPr/>
        </p:nvSpPr>
        <p:spPr>
          <a:xfrm>
            <a:off x="3048000" y="4762500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基本 RAG、InstructRAG、IDEAL-RAG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80F4B5-C055-D653-FE54-EFC3BEE6F9A1}"/>
              </a:ext>
            </a:extLst>
          </p:cNvPr>
          <p:cNvSpPr>
            <a:spLocks noGrp="1"/>
          </p:cNvSpPr>
          <p:nvPr/>
        </p:nvSpPr>
        <p:spPr>
          <a:xfrm>
            <a:off x="2946015" y="1569727"/>
            <a:ext cx="2090134" cy="803493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C704074-5C33-45A2-0FE5-5A78462210A4}"/>
              </a:ext>
            </a:extLst>
          </p:cNvPr>
          <p:cNvCxnSpPr/>
          <p:nvPr/>
        </p:nvCxnSpPr>
        <p:spPr>
          <a:xfrm flipV="1">
            <a:off x="5219178" y="2070969"/>
            <a:ext cx="729430" cy="626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763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5D22A-61D1-F134-D4F3-69AFDE3C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AEF59EA-BD13-50FC-ED6E-321BF755CA0F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TF-IDF 流程圖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65C320-D26F-9892-F3E1-FE6FF85BCF7C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0" name="圖片 9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9D7A5288-D2AF-8F8A-8277-FB75A07F4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1569"/>
            <a:ext cx="12192000" cy="159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27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B8BB30E-5367-4022-B8FB-6D00ECAFDF0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實作 1：建立 TF-IDF 表示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2518B2-5DA9-4733-B215-26A702435382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35891C2-F9EC-4077-9099-5E6567137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658680"/>
            <a:ext cx="7905750" cy="450266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BB4722A-1FEA-4524-AA94-7A2A7B93317F}"/>
              </a:ext>
            </a:extLst>
          </p:cNvPr>
          <p:cNvSpPr>
            <a:spLocks noGrp="1"/>
          </p:cNvSpPr>
          <p:nvPr/>
        </p:nvSpPr>
        <p:spPr>
          <a:xfrm>
            <a:off x="926681" y="2154971"/>
            <a:ext cx="5618299" cy="626039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4F94DD-EAAB-429B-AF95-A906263A6512}"/>
              </a:ext>
            </a:extLst>
          </p:cNvPr>
          <p:cNvSpPr>
            <a:spLocks noGrp="1"/>
          </p:cNvSpPr>
          <p:nvPr/>
        </p:nvSpPr>
        <p:spPr>
          <a:xfrm>
            <a:off x="8705850" y="2305050"/>
            <a:ext cx="2895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char：字元片段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E74EF6-B891-4188-A0D2-B9A7FB5F5CD9}"/>
              </a:ext>
            </a:extLst>
          </p:cNvPr>
          <p:cNvSpPr>
            <a:spLocks noGrp="1"/>
          </p:cNvSpPr>
          <p:nvPr/>
        </p:nvSpPr>
        <p:spPr>
          <a:xfrm>
            <a:off x="8705850" y="3238500"/>
            <a:ext cx="2895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2～4：特徵長度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1EDF0C-5842-4E90-8927-7F9E0F0A8E4B}"/>
              </a:ext>
            </a:extLst>
          </p:cNvPr>
          <p:cNvSpPr>
            <a:spLocks noGrp="1"/>
          </p:cNvSpPr>
          <p:nvPr/>
        </p:nvSpPr>
        <p:spPr>
          <a:xfrm>
            <a:off x="8705850" y="4171950"/>
            <a:ext cx="2895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sublinear_tf：對數 TF</a:t>
            </a:r>
          </a:p>
        </p:txBody>
      </p:sp>
    </p:spTree>
    <p:extLst>
      <p:ext uri="{BB962C8B-B14F-4D97-AF65-F5344CB8AC3E}">
        <p14:creationId xmlns:p14="http://schemas.microsoft.com/office/powerpoint/2010/main" val="372769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0F90E-5532-5FDD-1214-FFCFF48E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7122E66-992E-5305-AFDF-49B4487349A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實作 1：建立 TF-IDF 表示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629247-8757-485C-93F2-A112CF222C0E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07383BF-1B8E-6B6C-A909-3A604797E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658680"/>
            <a:ext cx="7905750" cy="450266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1001323-13DF-0F70-2E87-5D986A23C602}"/>
              </a:ext>
            </a:extLst>
          </p:cNvPr>
          <p:cNvSpPr>
            <a:spLocks noGrp="1"/>
          </p:cNvSpPr>
          <p:nvPr/>
        </p:nvSpPr>
        <p:spPr>
          <a:xfrm>
            <a:off x="926681" y="2154971"/>
            <a:ext cx="5618299" cy="626039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2A0627-4AE9-E09A-F527-8C746C455799}"/>
              </a:ext>
            </a:extLst>
          </p:cNvPr>
          <p:cNvSpPr>
            <a:spLocks noGrp="1"/>
          </p:cNvSpPr>
          <p:nvPr/>
        </p:nvSpPr>
        <p:spPr>
          <a:xfrm>
            <a:off x="8705850" y="4171950"/>
            <a:ext cx="3229627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sublinear_tf：</a:t>
            </a:r>
            <a:r>
              <a:rPr lang="zh-TW" altLang="en-US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詞彙頻率增加時，權重增加得比較慢</a:t>
            </a:r>
            <a:endParaRPr lang="zh-TW" sz="2000" b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808539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F2540A7-469A-48F9-B9F1-2EF65AB804E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實作 2：文件 fit，查詢 transform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DB12F6-6124-47A3-8DB5-49DC902FA635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C6266CE-9E65-4694-AA22-A03BC7D26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658680"/>
            <a:ext cx="7905750" cy="450266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18DFCF-19C5-4C41-90F4-E6B0868A5E61}"/>
              </a:ext>
            </a:extLst>
          </p:cNvPr>
          <p:cNvSpPr>
            <a:spLocks noGrp="1"/>
          </p:cNvSpPr>
          <p:nvPr/>
        </p:nvSpPr>
        <p:spPr>
          <a:xfrm>
            <a:off x="918655" y="2885350"/>
            <a:ext cx="5979476" cy="441438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3366F6-FF0A-491C-83AC-FAB2353C13B2}"/>
              </a:ext>
            </a:extLst>
          </p:cNvPr>
          <p:cNvSpPr>
            <a:spLocks noGrp="1"/>
          </p:cNvSpPr>
          <p:nvPr/>
        </p:nvSpPr>
        <p:spPr>
          <a:xfrm>
            <a:off x="8705850" y="2305050"/>
            <a:ext cx="2895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fit：建立座標與 IDF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E60725-5EE9-4991-AC91-5622099E844A}"/>
              </a:ext>
            </a:extLst>
          </p:cNvPr>
          <p:cNvSpPr>
            <a:spLocks noGrp="1"/>
          </p:cNvSpPr>
          <p:nvPr/>
        </p:nvSpPr>
        <p:spPr>
          <a:xfrm>
            <a:off x="8705850" y="3238500"/>
            <a:ext cx="2895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transform：沿用同一套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E405DC-AF47-4B73-A46B-37B86DA722AE}"/>
              </a:ext>
            </a:extLst>
          </p:cNvPr>
          <p:cNvSpPr>
            <a:spLocks noGrp="1"/>
          </p:cNvSpPr>
          <p:nvPr/>
        </p:nvSpPr>
        <p:spPr>
          <a:xfrm>
            <a:off x="8705850" y="4171950"/>
            <a:ext cx="2895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不是再次訓練模型</a:t>
            </a:r>
          </a:p>
        </p:txBody>
      </p:sp>
    </p:spTree>
    <p:extLst>
      <p:ext uri="{BB962C8B-B14F-4D97-AF65-F5344CB8AC3E}">
        <p14:creationId xmlns:p14="http://schemas.microsoft.com/office/powerpoint/2010/main" val="98686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4340B06-6860-4725-A706-5FE8227F44E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實作 3：矩陣是 3 × 17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081ED-F07D-4E11-B209-8D1072466CF8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原始 Notebook 截圖｜人工短句範例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B5614B-A348-4860-B349-931B61240711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52AB85B-AF12-4A25-BDA4-92860858F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658680"/>
            <a:ext cx="7905750" cy="450266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D47C2D3-35B0-4782-A5D9-7D0B4044CBC5}"/>
              </a:ext>
            </a:extLst>
          </p:cNvPr>
          <p:cNvSpPr>
            <a:spLocks noGrp="1"/>
          </p:cNvSpPr>
          <p:nvPr/>
        </p:nvSpPr>
        <p:spPr>
          <a:xfrm>
            <a:off x="693923" y="5582134"/>
            <a:ext cx="4253855" cy="38525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4B5C1D-8745-4330-AD7B-212CA58DE76A}"/>
              </a:ext>
            </a:extLst>
          </p:cNvPr>
          <p:cNvSpPr>
            <a:spLocks noGrp="1"/>
          </p:cNvSpPr>
          <p:nvPr/>
        </p:nvSpPr>
        <p:spPr>
          <a:xfrm>
            <a:off x="8705850" y="2305050"/>
            <a:ext cx="2895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3：三份文件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895848-3CAE-4371-B8E6-58DCBB44BA68}"/>
              </a:ext>
            </a:extLst>
          </p:cNvPr>
          <p:cNvSpPr>
            <a:spLocks noGrp="1"/>
          </p:cNvSpPr>
          <p:nvPr/>
        </p:nvSpPr>
        <p:spPr>
          <a:xfrm>
            <a:off x="8705850" y="3238500"/>
            <a:ext cx="2895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17：十七個特徵座標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C1E1C0-6660-42ED-BE2E-5E8E65883C37}"/>
              </a:ext>
            </a:extLst>
          </p:cNvPr>
          <p:cNvSpPr>
            <a:spLocks noGrp="1"/>
          </p:cNvSpPr>
          <p:nvPr/>
        </p:nvSpPr>
        <p:spPr>
          <a:xfrm>
            <a:off x="8705850" y="4171950"/>
            <a:ext cx="2895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每一列代表一份文件</a:t>
            </a:r>
          </a:p>
        </p:txBody>
      </p:sp>
    </p:spTree>
    <p:extLst>
      <p:ext uri="{BB962C8B-B14F-4D97-AF65-F5344CB8AC3E}">
        <p14:creationId xmlns:p14="http://schemas.microsoft.com/office/powerpoint/2010/main" val="1603294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B20BE-A7C1-2D36-31D8-E56926B6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714BCFB-4623-028A-C134-633AC49BDF5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對應流程圖中的位置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7DCAFF-BF1A-3AF1-AADB-4F4162D228ED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0" name="圖片 9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F0ECF635-81C6-2699-2993-31DC29A77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1569"/>
            <a:ext cx="12192000" cy="159486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6D59EBF-7615-AE2A-3A98-2E7E65B7147C}"/>
              </a:ext>
            </a:extLst>
          </p:cNvPr>
          <p:cNvSpPr>
            <a:spLocks noGrp="1"/>
          </p:cNvSpPr>
          <p:nvPr/>
        </p:nvSpPr>
        <p:spPr>
          <a:xfrm>
            <a:off x="1469475" y="2833464"/>
            <a:ext cx="3081780" cy="71998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</p:spTree>
    <p:extLst>
      <p:ext uri="{BB962C8B-B14F-4D97-AF65-F5344CB8AC3E}">
        <p14:creationId xmlns:p14="http://schemas.microsoft.com/office/powerpoint/2010/main" val="2560515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9F757DE-25BE-44FC-AEF0-F72B6E1724F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實作 4：查看字元片段與權重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74FCC0-C032-4CC0-A8D6-CDD6CF132641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C5E109-F64A-4586-B7E8-F0ACCE775C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000"/>
          <a:stretch/>
        </p:blipFill>
        <p:spPr>
          <a:xfrm>
            <a:off x="590550" y="1714500"/>
            <a:ext cx="8763000" cy="4476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EFF6207-B3B9-44DF-AA0A-2B6EAA8B5090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8286750" cy="1219200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7B4A4C-51F7-4111-85CA-E6B07102CED2}"/>
              </a:ext>
            </a:extLst>
          </p:cNvPr>
          <p:cNvSpPr>
            <a:spLocks noGrp="1"/>
          </p:cNvSpPr>
          <p:nvPr/>
        </p:nvSpPr>
        <p:spPr>
          <a:xfrm>
            <a:off x="9620250" y="2238375"/>
            <a:ext cx="2143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analyzer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416175-2042-4B9C-9D25-B9E1CA4F132D}"/>
              </a:ext>
            </a:extLst>
          </p:cNvPr>
          <p:cNvSpPr>
            <a:spLocks noGrp="1"/>
          </p:cNvSpPr>
          <p:nvPr/>
        </p:nvSpPr>
        <p:spPr>
          <a:xfrm>
            <a:off x="9620250" y="2914650"/>
            <a:ext cx="21431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先看有哪些</a:t>
            </a:r>
          </a:p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2～4 字元片段</a:t>
            </a:r>
          </a:p>
        </p:txBody>
      </p:sp>
    </p:spTree>
    <p:extLst>
      <p:ext uri="{BB962C8B-B14F-4D97-AF65-F5344CB8AC3E}">
        <p14:creationId xmlns:p14="http://schemas.microsoft.com/office/powerpoint/2010/main" val="662549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8C0715D-FD0D-46FB-B1AA-7BE23BE3329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實作 5：一個座標對應一個片段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5E496B-5679-478C-A775-1C676978F64D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6BD643F-C3D4-413C-870B-096DEF9D7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00" r="32000" b="32500"/>
          <a:stretch/>
        </p:blipFill>
        <p:spPr>
          <a:xfrm>
            <a:off x="590550" y="1714500"/>
            <a:ext cx="7572375" cy="43434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23B038A-FD0D-4BBC-859F-E037A3C3E3E5}"/>
              </a:ext>
            </a:extLst>
          </p:cNvPr>
          <p:cNvSpPr>
            <a:spLocks noGrp="1"/>
          </p:cNvSpPr>
          <p:nvPr/>
        </p:nvSpPr>
        <p:spPr>
          <a:xfrm>
            <a:off x="647700" y="2695575"/>
            <a:ext cx="7362825" cy="44767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506DE4-E581-4707-9B1B-2D91653603C1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3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3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「私訊」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975D3A-744F-4056-AC52-2175F6EFE62A}"/>
              </a:ext>
            </a:extLst>
          </p:cNvPr>
          <p:cNvSpPr>
            <a:spLocks noGrp="1"/>
          </p:cNvSpPr>
          <p:nvPr/>
        </p:nvSpPr>
        <p:spPr>
          <a:xfrm>
            <a:off x="8477250" y="2762250"/>
            <a:ext cx="3048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D1、D2 都有</a:t>
            </a:r>
          </a:p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IDF 比較低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077387-DF77-47FB-A1FB-847DEEABA5F5}"/>
              </a:ext>
            </a:extLst>
          </p:cNvPr>
          <p:cNvSpPr>
            <a:spLocks noGrp="1"/>
          </p:cNvSpPr>
          <p:nvPr/>
        </p:nvSpPr>
        <p:spPr>
          <a:xfrm>
            <a:off x="8477250" y="4333875"/>
            <a:ext cx="30480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Q 與 D1 相同</a:t>
            </a:r>
          </a:p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→ 向量也相同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3945D8-9369-20A4-C945-7979B5CA2385}"/>
              </a:ext>
            </a:extLst>
          </p:cNvPr>
          <p:cNvSpPr>
            <a:spLocks noGrp="1"/>
          </p:cNvSpPr>
          <p:nvPr/>
        </p:nvSpPr>
        <p:spPr>
          <a:xfrm>
            <a:off x="2464756" y="1186057"/>
            <a:ext cx="3058438" cy="39013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查詢(Q):私訊辱罵</a:t>
            </a:r>
            <a:endParaRPr lang="zh-TW" altLang="en-US" sz="215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949393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B36D7-258A-8EDF-9A41-52B6B2FC8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7C59221-E799-9867-35CC-BC2D36AEF77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對應流程圖中的位置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797865-0771-6BAA-9475-940F324050A4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0" name="圖片 9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046FE32D-826E-24C6-3EE3-A58079784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1569"/>
            <a:ext cx="12192000" cy="159486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F4065B0-F8A3-06AB-99D3-F8D333C50673}"/>
              </a:ext>
            </a:extLst>
          </p:cNvPr>
          <p:cNvSpPr>
            <a:spLocks noGrp="1"/>
          </p:cNvSpPr>
          <p:nvPr/>
        </p:nvSpPr>
        <p:spPr>
          <a:xfrm>
            <a:off x="1511228" y="3511957"/>
            <a:ext cx="3081780" cy="824368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</p:spTree>
    <p:extLst>
      <p:ext uri="{BB962C8B-B14F-4D97-AF65-F5344CB8AC3E}">
        <p14:creationId xmlns:p14="http://schemas.microsoft.com/office/powerpoint/2010/main" val="1497043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7C871-3B1E-E821-F64B-28440A0A0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75D3084-0592-C992-ED72-4F86F3C8A96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對應流程圖中的位置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45C992-D9DE-699D-3B32-5B90949F3B1D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0" name="圖片 9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35652684-2B86-13ED-EED7-7222F931D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1569"/>
            <a:ext cx="12192000" cy="159486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35DA74D-1461-7C61-2019-3836B1054872}"/>
              </a:ext>
            </a:extLst>
          </p:cNvPr>
          <p:cNvSpPr>
            <a:spLocks noGrp="1"/>
          </p:cNvSpPr>
          <p:nvPr/>
        </p:nvSpPr>
        <p:spPr>
          <a:xfrm>
            <a:off x="1511228" y="3511957"/>
            <a:ext cx="3081780" cy="824368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2FD4C8-2C00-5F46-1613-7970A22D1FB4}"/>
              </a:ext>
            </a:extLst>
          </p:cNvPr>
          <p:cNvSpPr>
            <a:spLocks noGrp="1"/>
          </p:cNvSpPr>
          <p:nvPr/>
        </p:nvSpPr>
        <p:spPr>
          <a:xfrm>
            <a:off x="1342634" y="4647417"/>
            <a:ext cx="3896768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DF(Document Frequency)</a:t>
            </a:r>
            <a:endParaRPr lang="zh-TW" sz="200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863698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BF05F-9EF1-8DE4-B6A9-89D13B60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B1A2A8D-3800-F85D-EE05-117CACD3F69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對應流程圖中的位置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E70B42-043A-96BF-31D9-FA092B616CF9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0" name="圖片 9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A27804AE-6FCE-2B60-0CE3-04CB9CE0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1569"/>
            <a:ext cx="12192000" cy="159486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F87E771-352C-68A9-B41F-577BBCC5C803}"/>
              </a:ext>
            </a:extLst>
          </p:cNvPr>
          <p:cNvSpPr>
            <a:spLocks noGrp="1"/>
          </p:cNvSpPr>
          <p:nvPr/>
        </p:nvSpPr>
        <p:spPr>
          <a:xfrm>
            <a:off x="1511228" y="3511957"/>
            <a:ext cx="3081780" cy="824368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212AE2-4690-3D5D-7425-89FFE307777E}"/>
              </a:ext>
            </a:extLst>
          </p:cNvPr>
          <p:cNvSpPr>
            <a:spLocks noGrp="1"/>
          </p:cNvSpPr>
          <p:nvPr/>
        </p:nvSpPr>
        <p:spPr>
          <a:xfrm>
            <a:off x="1342634" y="4647417"/>
            <a:ext cx="3896768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DF(Document Frequency)</a:t>
            </a:r>
            <a:endParaRPr lang="zh-TW" sz="200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CEBBCB-46D6-07E2-479A-77F78858DF82}"/>
              </a:ext>
            </a:extLst>
          </p:cNvPr>
          <p:cNvSpPr>
            <a:spLocks noGrp="1"/>
          </p:cNvSpPr>
          <p:nvPr/>
        </p:nvSpPr>
        <p:spPr>
          <a:xfrm>
            <a:off x="6739263" y="4647417"/>
            <a:ext cx="4293425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IDF(Inverse Document Frequency)</a:t>
            </a:r>
            <a:endParaRPr lang="zh-TW" sz="200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FEA9055-92B7-E888-DDE1-418C4F6F16EC}"/>
              </a:ext>
            </a:extLst>
          </p:cNvPr>
          <p:cNvCxnSpPr/>
          <p:nvPr/>
        </p:nvCxnSpPr>
        <p:spPr>
          <a:xfrm flipV="1">
            <a:off x="4467616" y="4791205"/>
            <a:ext cx="2160739" cy="1043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86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BF05F-9EF1-8DE4-B6A9-89D13B60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B1A2A8D-3800-F85D-EE05-117CACD3F69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對應流程圖中的位置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E70B42-043A-96BF-31D9-FA092B616CF9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0" name="圖片 9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A27804AE-6FCE-2B60-0CE3-04CB9CE0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1569"/>
            <a:ext cx="12192000" cy="159486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F87E771-352C-68A9-B41F-577BBCC5C803}"/>
              </a:ext>
            </a:extLst>
          </p:cNvPr>
          <p:cNvSpPr>
            <a:spLocks noGrp="1"/>
          </p:cNvSpPr>
          <p:nvPr/>
        </p:nvSpPr>
        <p:spPr>
          <a:xfrm>
            <a:off x="1511228" y="3511957"/>
            <a:ext cx="3081780" cy="824368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212AE2-4690-3D5D-7425-89FFE307777E}"/>
              </a:ext>
            </a:extLst>
          </p:cNvPr>
          <p:cNvSpPr>
            <a:spLocks noGrp="1"/>
          </p:cNvSpPr>
          <p:nvPr/>
        </p:nvSpPr>
        <p:spPr>
          <a:xfrm>
            <a:off x="1342634" y="4647417"/>
            <a:ext cx="3896768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DF(Document Frequency)</a:t>
            </a:r>
            <a:endParaRPr lang="zh-TW" sz="200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CEBBCB-46D6-07E2-479A-77F78858DF82}"/>
              </a:ext>
            </a:extLst>
          </p:cNvPr>
          <p:cNvSpPr>
            <a:spLocks noGrp="1"/>
          </p:cNvSpPr>
          <p:nvPr/>
        </p:nvSpPr>
        <p:spPr>
          <a:xfrm>
            <a:off x="6739263" y="4647417"/>
            <a:ext cx="4293425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IDF(Inverse Document Frequency)</a:t>
            </a:r>
            <a:endParaRPr lang="zh-TW" sz="200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FEA9055-92B7-E888-DDE1-418C4F6F16EC}"/>
              </a:ext>
            </a:extLst>
          </p:cNvPr>
          <p:cNvCxnSpPr/>
          <p:nvPr/>
        </p:nvCxnSpPr>
        <p:spPr>
          <a:xfrm flipV="1">
            <a:off x="4467616" y="4791205"/>
            <a:ext cx="2160739" cy="1043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7A1D9075-C90A-01BE-9D96-BA916AB7F41C}"/>
              </a:ext>
            </a:extLst>
          </p:cNvPr>
          <p:cNvSpPr>
            <a:spLocks noGrp="1"/>
          </p:cNvSpPr>
          <p:nvPr/>
        </p:nvSpPr>
        <p:spPr>
          <a:xfrm>
            <a:off x="1645344" y="5054513"/>
            <a:ext cx="4293425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altLang="zh-TW" sz="2000"/>
              <a:t>越高=出現越多份文件</a:t>
            </a:r>
            <a:endParaRPr lang="af-ZA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592502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97A2A-D08C-15A4-6186-BFAFDE7F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DE1AAF1-24A9-937C-83E5-8B9625A1E31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對應流程圖中的位置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46C577-4F40-7401-F898-58FD8D4B6B1E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0" name="圖片 9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05B0F6ED-E507-53C9-CC23-21244F454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1569"/>
            <a:ext cx="12192000" cy="159486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B84CA49-97D7-401F-ED5C-24B7C56C8787}"/>
              </a:ext>
            </a:extLst>
          </p:cNvPr>
          <p:cNvSpPr>
            <a:spLocks noGrp="1"/>
          </p:cNvSpPr>
          <p:nvPr/>
        </p:nvSpPr>
        <p:spPr>
          <a:xfrm>
            <a:off x="1511228" y="3511957"/>
            <a:ext cx="3081780" cy="824368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9AA562-78CF-5F0B-75F6-874B17114A7A}"/>
              </a:ext>
            </a:extLst>
          </p:cNvPr>
          <p:cNvSpPr>
            <a:spLocks noGrp="1"/>
          </p:cNvSpPr>
          <p:nvPr/>
        </p:nvSpPr>
        <p:spPr>
          <a:xfrm>
            <a:off x="1342634" y="4647417"/>
            <a:ext cx="3896768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DF(Document Frequency)</a:t>
            </a:r>
            <a:endParaRPr lang="zh-TW" sz="200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72470C-8009-E6BC-91F0-9E8EC666D3A5}"/>
              </a:ext>
            </a:extLst>
          </p:cNvPr>
          <p:cNvSpPr>
            <a:spLocks noGrp="1"/>
          </p:cNvSpPr>
          <p:nvPr/>
        </p:nvSpPr>
        <p:spPr>
          <a:xfrm>
            <a:off x="6739263" y="4647417"/>
            <a:ext cx="4293425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IDF(Inverse Document Frequency)</a:t>
            </a:r>
            <a:endParaRPr lang="zh-TW" sz="200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DE1462B6-D244-BB18-8159-663D31938286}"/>
              </a:ext>
            </a:extLst>
          </p:cNvPr>
          <p:cNvCxnSpPr/>
          <p:nvPr/>
        </p:nvCxnSpPr>
        <p:spPr>
          <a:xfrm flipV="1">
            <a:off x="4467616" y="4791205"/>
            <a:ext cx="2160739" cy="1043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DF31BDD-54D6-E1BC-67A1-D7F368AA5D81}"/>
              </a:ext>
            </a:extLst>
          </p:cNvPr>
          <p:cNvSpPr>
            <a:spLocks noGrp="1"/>
          </p:cNvSpPr>
          <p:nvPr/>
        </p:nvSpPr>
        <p:spPr>
          <a:xfrm>
            <a:off x="1645344" y="5054513"/>
            <a:ext cx="4293425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altLang="zh-TW" sz="2000"/>
              <a:t>越高=出現越多份文件</a:t>
            </a:r>
            <a:endParaRPr lang="af-ZA" altLang="zh-TW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A6BF24-63EC-2528-0695-95ED1EC4CD56}"/>
              </a:ext>
            </a:extLst>
          </p:cNvPr>
          <p:cNvSpPr>
            <a:spLocks noGrp="1"/>
          </p:cNvSpPr>
          <p:nvPr/>
        </p:nvSpPr>
        <p:spPr>
          <a:xfrm>
            <a:off x="7323809" y="5054513"/>
            <a:ext cx="4293425" cy="3301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altLang="zh-TW" sz="2000"/>
              <a:t>越低</a:t>
            </a:r>
            <a:endParaRPr lang="af-ZA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135848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01F90-758F-6443-4968-00AF790B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8157F37-F989-828B-8D15-7B459C01F57B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133BC49-5584-C786-7454-51A3F25E09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00" r="32000" b="32500"/>
          <a:stretch/>
        </p:blipFill>
        <p:spPr>
          <a:xfrm>
            <a:off x="590550" y="1714500"/>
            <a:ext cx="7572375" cy="43434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97CF463-3D48-1966-9DDB-B7BBBC2550A1}"/>
              </a:ext>
            </a:extLst>
          </p:cNvPr>
          <p:cNvSpPr>
            <a:spLocks noGrp="1"/>
          </p:cNvSpPr>
          <p:nvPr/>
        </p:nvSpPr>
        <p:spPr>
          <a:xfrm>
            <a:off x="647700" y="2695575"/>
            <a:ext cx="7362825" cy="44767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BF59B4-878C-C646-CB13-C5239049792D}"/>
              </a:ext>
            </a:extLst>
          </p:cNvPr>
          <p:cNvSpPr>
            <a:spLocks noGrp="1"/>
          </p:cNvSpPr>
          <p:nvPr/>
        </p:nvSpPr>
        <p:spPr>
          <a:xfrm>
            <a:off x="2464756" y="1186057"/>
            <a:ext cx="3058438" cy="39013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查詢(Q):私訊辱罵</a:t>
            </a:r>
            <a:endParaRPr lang="zh-TW" altLang="en-US" sz="215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178349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BAFF3-2974-3816-110C-8FCB6BE7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9A75221-2D95-47FA-D001-36F1B3AC65F3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9A8465F-F2CA-E3EA-3408-39D5388979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00" r="32000" b="32500"/>
          <a:stretch/>
        </p:blipFill>
        <p:spPr>
          <a:xfrm>
            <a:off x="590550" y="1714500"/>
            <a:ext cx="7572375" cy="43434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018891E-4D85-7160-13B3-62A6AA82D64C}"/>
              </a:ext>
            </a:extLst>
          </p:cNvPr>
          <p:cNvSpPr>
            <a:spLocks noGrp="1"/>
          </p:cNvSpPr>
          <p:nvPr/>
        </p:nvSpPr>
        <p:spPr>
          <a:xfrm>
            <a:off x="647700" y="2695575"/>
            <a:ext cx="7362825" cy="44767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8BF167-B906-17E5-D751-FD2EBE81F79C}"/>
              </a:ext>
            </a:extLst>
          </p:cNvPr>
          <p:cNvSpPr>
            <a:spLocks noGrp="1"/>
          </p:cNvSpPr>
          <p:nvPr/>
        </p:nvSpPr>
        <p:spPr>
          <a:xfrm>
            <a:off x="2516948" y="1332194"/>
            <a:ext cx="3058438" cy="39013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查詢(Q):私訊辱罵</a:t>
            </a:r>
            <a:endParaRPr lang="zh-TW" altLang="en-US" sz="215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87113C-3F6F-D6AB-A302-4120D3BC6C76}"/>
              </a:ext>
            </a:extLst>
          </p:cNvPr>
          <p:cNvSpPr>
            <a:spLocks noGrp="1"/>
          </p:cNvSpPr>
          <p:nvPr/>
        </p:nvSpPr>
        <p:spPr>
          <a:xfrm>
            <a:off x="8477250" y="2762250"/>
            <a:ext cx="3048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D1、D2 都有</a:t>
            </a:r>
          </a:p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IDF 比較低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EF0198-50E7-4C16-FEF4-3A6D9A122395}"/>
              </a:ext>
            </a:extLst>
          </p:cNvPr>
          <p:cNvSpPr>
            <a:spLocks noGrp="1"/>
          </p:cNvSpPr>
          <p:nvPr/>
        </p:nvSpPr>
        <p:spPr>
          <a:xfrm>
            <a:off x="5323822" y="1332716"/>
            <a:ext cx="3062613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zh-TW"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af-ZA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D1 </a:t>
            </a:r>
            <a:r>
              <a:rPr lang="zh-TW" altLang="af-ZA" sz="200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私訊辱罵 D2 私訊道歉</a:t>
            </a:r>
          </a:p>
        </p:txBody>
      </p:sp>
    </p:spTree>
    <p:extLst>
      <p:ext uri="{BB962C8B-B14F-4D97-AF65-F5344CB8AC3E}">
        <p14:creationId xmlns:p14="http://schemas.microsoft.com/office/powerpoint/2010/main" val="1812791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9263895-A0B3-4E28-98BB-D74066059A2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TF、DF、IDF 的差別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A64348-CE1A-4F64-BBCB-FEA7031CC6A1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教學例子：D1 重複「私訊」三次；D2 一次；D3 沒有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4DD97B-18FB-45F7-9EDC-ED4499E148F3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7D5C033-8467-498F-A969-1D8F6BAA5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6082901"/>
              </p:ext>
            </p:extLst>
          </p:nvPr>
        </p:nvGraphicFramePr>
        <p:xfrm>
          <a:off x="590550" y="1952625"/>
          <a:ext cx="11010900" cy="32385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名稱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問什麼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「</a:t>
                      </a:r>
                      <a:r>
                        <a:rPr lang="zh-TW" altLang="en-US" sz="2000" b="1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私訊」的結果</a:t>
                      </a:r>
                      <a:endParaRPr dirty="0" err="1"/>
                    </a:p>
                  </a:txBody>
                  <a:tcPr>
                    <a:solidFill>
                      <a:srgbClr val="EA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在這一段出現多少</a:t>
                      </a:r>
                      <a:r>
                        <a:rPr sz="2000" b="0" dirty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D1</a:t>
                      </a:r>
                      <a:r>
                        <a:rPr lang="zh-TW" altLang="en-US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：</a:t>
                      </a:r>
                      <a:r>
                        <a:rPr lang="en-US" altLang="zh-TW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  <a:r>
                        <a:rPr lang="zh-TW" altLang="en-US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＋</a:t>
                      </a:r>
                      <a:r>
                        <a:rPr lang="en-US" altLang="zh-TW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ln(3)</a:t>
                      </a:r>
                      <a:r>
                        <a:rPr lang="zh-TW" altLang="en-US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 ≈ </a:t>
                      </a:r>
                      <a:r>
                        <a:rPr lang="en-US" altLang="zh-TW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2.10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幾個段落包含它</a:t>
                      </a:r>
                      <a:r>
                        <a:rPr sz="2000" b="0" dirty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  <a:r>
                        <a:rPr lang="zh-TW" altLang="en-US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 段；每段最多算一次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在整批段落有多稀有</a:t>
                      </a:r>
                      <a:r>
                        <a:rPr sz="2000" b="0" dirty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ln(4/3)</a:t>
                      </a:r>
                      <a:r>
                        <a:rPr lang="zh-TW" altLang="en-US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＋</a:t>
                      </a:r>
                      <a:r>
                        <a:rPr lang="en-US" altLang="zh-TW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  <a:r>
                        <a:rPr lang="zh-TW" altLang="en-US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 ≈ </a:t>
                      </a:r>
                      <a:r>
                        <a:rPr lang="en-US" altLang="zh-TW" sz="200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</a:rPr>
                        <a:t>1.2877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852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C2C761A-AB60-4B35-BC0D-24216372FC3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TF-IDF＋cosine 與 BM25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613520-0A7F-4D66-A06C-60E3DC02DABE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用途相近：找出與查詢相關的文件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0E2257-AC40-43FC-AF11-EEDB1C81A136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3EAC520-1F69-410E-9474-2D6C482FCC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2040905"/>
              </p:ext>
            </p:extLst>
          </p:nvPr>
        </p:nvGraphicFramePr>
        <p:xfrm>
          <a:off x="590550" y="1809750"/>
          <a:ext cx="11010900" cy="225742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950" b="1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TF-IDF＋cosine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BM25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計算方式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建立向量，</a:t>
                      </a:r>
                      <a:r>
                        <a:rPr lang="zh-TW" sz="195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再計算匹配程度</a:t>
                      </a:r>
                      <a:endParaRPr lang="zh-TW" altLang="en-US" sz="1950" b="0">
                        <a:solidFill>
                          <a:srgbClr val="17334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依匹配詞累計分數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重複次數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95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</a:t>
                      </a:r>
                      <a:r>
                        <a:rPr sz="195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TF</a:t>
                      </a:r>
                      <a:r>
                        <a:rPr lang="en-US" sz="195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</a:t>
                      </a:r>
                      <a:r>
                        <a:rPr lang="zh-TW" altLang="en-US" sz="1950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詞頻飽和)</a:t>
                      </a:r>
                      <a:endParaRPr lang="en-US" sz="1950" b="0">
                        <a:solidFill>
                          <a:srgbClr val="17334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詞頻飽和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741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6444B-34C8-0A9C-070D-71A994E5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FB9218C-9E54-1340-C786-C0A0C1F5202C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E2742C23-E9AE-78AD-658C-085913E6E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379" y="0"/>
            <a:ext cx="68391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61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738763-4587-4E86-A7F6-9FA7C7F2B7D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切段與字元特徵是兩件事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A8C01B-3CD0-4FDA-AB64-1A511A1CEBA2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53F179-A592-4ADF-84C8-5E8E2B4D48D5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切段 chunking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E6BD3D-EF27-4066-9CF8-CF5DB1956681}"/>
              </a:ext>
            </a:extLst>
          </p:cNvPr>
          <p:cNvSpPr>
            <a:spLocks noGrp="1"/>
          </p:cNvSpPr>
          <p:nvPr/>
        </p:nvSpPr>
        <p:spPr>
          <a:xfrm>
            <a:off x="3048000" y="1857375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全文 → 每段 800 字元，重疊 160 字元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0157DC-FB1C-46D4-9E3C-420881978AAF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抽取字元片段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D8614A-8F7E-4EB3-B146-E7A52DAD5EDF}"/>
              </a:ext>
            </a:extLst>
          </p:cNvPr>
          <p:cNvSpPr>
            <a:spLocks noGrp="1"/>
          </p:cNvSpPr>
          <p:nvPr/>
        </p:nvSpPr>
        <p:spPr>
          <a:xfrm>
            <a:off x="3048000" y="3076575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私訊辱罵 → 私訊、訊辱、辱罵</a:t>
            </a:r>
          </a:p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再加 3 字元、4 字元片段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5D784E-3B85-462D-81AF-C61740DA31DB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設定可以改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F53CC8-CAF3-4040-8422-081535FE66AF}"/>
              </a:ext>
            </a:extLst>
          </p:cNvPr>
          <p:cNvSpPr>
            <a:spLocks noGrp="1"/>
          </p:cNvSpPr>
          <p:nvPr/>
        </p:nvSpPr>
        <p:spPr>
          <a:xfrm>
            <a:off x="3048000" y="4295775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1 字元較容易誤配；長片段較容易漏掉改寫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C79940-C013-4501-872B-F7412A54B11C}"/>
              </a:ext>
            </a:extLst>
          </p:cNvPr>
          <p:cNvSpPr>
            <a:spLocks noGrp="1"/>
          </p:cNvSpPr>
          <p:nvPr/>
        </p:nvSpPr>
        <p:spPr>
          <a:xfrm>
            <a:off x="590550" y="605790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TF-IDF 不負責決定段落邊界；2～4 是這份程式的特徵設定。</a:t>
            </a:r>
          </a:p>
        </p:txBody>
      </p:sp>
    </p:spTree>
    <p:extLst>
      <p:ext uri="{BB962C8B-B14F-4D97-AF65-F5344CB8AC3E}">
        <p14:creationId xmlns:p14="http://schemas.microsoft.com/office/powerpoint/2010/main" val="20534403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2BB4D-77B5-29EB-7A1D-AB2DFC240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8D2FA6B-98A2-0077-502A-EA39A86CC81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切段與字元特徵是兩件事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F17817-5B68-A63D-5251-12A6CE6653EF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B28B56-77BF-7652-6B87-5F34AD315A56}"/>
              </a:ext>
            </a:extLst>
          </p:cNvPr>
          <p:cNvSpPr>
            <a:spLocks noGrp="1"/>
          </p:cNvSpPr>
          <p:nvPr/>
        </p:nvSpPr>
        <p:spPr>
          <a:xfrm>
            <a:off x="590550" y="605790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TF-IDF 不負責決定段落邊界；2～4 是這份程式的特徵設定。</a:t>
            </a:r>
          </a:p>
        </p:txBody>
      </p:sp>
      <p:pic>
        <p:nvPicPr>
          <p:cNvPr id="11" name="圖片 10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C1D9A42B-2830-66D0-B328-5125BE603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2290763"/>
            <a:ext cx="6591300" cy="227647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B8D5DAD-0C13-8212-1A13-6F58D5B136BB}"/>
              </a:ext>
            </a:extLst>
          </p:cNvPr>
          <p:cNvSpPr>
            <a:spLocks noGrp="1"/>
          </p:cNvSpPr>
          <p:nvPr/>
        </p:nvSpPr>
        <p:spPr>
          <a:xfrm>
            <a:off x="1465545" y="1780131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設定可以改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E71006-A9DA-FE1B-2C60-D93088877715}"/>
              </a:ext>
            </a:extLst>
          </p:cNvPr>
          <p:cNvSpPr>
            <a:spLocks noGrp="1"/>
          </p:cNvSpPr>
          <p:nvPr/>
        </p:nvSpPr>
        <p:spPr>
          <a:xfrm>
            <a:off x="3903945" y="1780131"/>
            <a:ext cx="828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1 字元較容易誤配；長片段較容易漏掉改寫</a:t>
            </a:r>
          </a:p>
        </p:txBody>
      </p:sp>
    </p:spTree>
    <p:extLst>
      <p:ext uri="{BB962C8B-B14F-4D97-AF65-F5344CB8AC3E}">
        <p14:creationId xmlns:p14="http://schemas.microsoft.com/office/powerpoint/2010/main" val="3850532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7474CE5-010E-48EC-8688-DB7EB1D387C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從向量算出文件排名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A72530-CF3A-4E48-93C4-B004186D5D55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B4AEE12-9096-4B63-B5FB-70975D99C912}"/>
              </a:ext>
            </a:extLst>
          </p:cNvPr>
          <p:cNvGraphicFramePr/>
          <p:nvPr/>
        </p:nvGraphicFramePr>
        <p:xfrm>
          <a:off x="590550" y="2667000"/>
          <a:ext cx="11010900" cy="28575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 Q 的共同特徵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Cosine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D1 私訊辱罵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全部相同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1.000000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D2 私訊道歉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只有「私訊」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0.103686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D3 租金押金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683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7937166-62A1-49B0-95FB-BE886293B16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IDEAL-RAG 原文使用的檢索器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B1AB3F-2FAD-40EC-8520-2202B4B4FC63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依 Table 4.1；方法重點仍在生成端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09559-BFDB-41EE-B763-A83B8A6F5583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BE092CF-CEFA-4B74-8D0C-2F3818556254}"/>
              </a:ext>
            </a:extLst>
          </p:cNvPr>
          <p:cNvGraphicFramePr/>
          <p:nvPr/>
        </p:nvGraphicFramePr>
        <p:xfrm>
          <a:off x="590550" y="1666875"/>
          <a:ext cx="11010900" cy="3429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資料集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檢索器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top-k</a:t>
                      </a:r>
                    </a:p>
                  </a:txBody>
                  <a:tcPr>
                    <a:solidFill>
                      <a:srgbClr val="EA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PopQA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Contriever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Natural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TriviaQA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Contriever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2WikiMultiHopQA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BM25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34DCC10-703D-4143-8D6F-DFCAFB946728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75" b="0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rPr>
              <a:t>原文前文另稱 hybrid retriever；融合細節尚未確認。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A250F3-E66F-434B-90C0-649B1550C5D4}"/>
              </a:ext>
            </a:extLst>
          </p:cNvPr>
          <p:cNvSpPr>
            <a:spLocks noGrp="1"/>
          </p:cNvSpPr>
          <p:nvPr/>
        </p:nvSpPr>
        <p:spPr>
          <a:xfrm>
            <a:off x="590550" y="605790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我們的 PopQA 試跑讀取已附段落，沒有重跑這些檢索器。</a:t>
            </a:r>
          </a:p>
        </p:txBody>
      </p:sp>
    </p:spTree>
    <p:extLst>
      <p:ext uri="{BB962C8B-B14F-4D97-AF65-F5344CB8AC3E}">
        <p14:creationId xmlns:p14="http://schemas.microsoft.com/office/powerpoint/2010/main" val="2839381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寬螢幕</PresentationFormat>
  <Slides>34</Slides>
  <Notes>34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5" baseType="lpstr"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201</cp:revision>
  <dcterms:created xsi:type="dcterms:W3CDTF">2026-10-11T23:33:38Z</dcterms:created>
  <dcterms:modified xsi:type="dcterms:W3CDTF">2026-10-12T05:05:04Z</dcterms:modified>
</cp:coreProperties>
</file>